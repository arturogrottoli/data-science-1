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1.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6"/>
  </p:notesMasterIdLst>
  <p:sldIdLst>
    <p:sldId id="290" r:id="rId2"/>
    <p:sldId id="291" r:id="rId3"/>
    <p:sldId id="292" r:id="rId4"/>
    <p:sldId id="264" r:id="rId5"/>
    <p:sldId id="265" r:id="rId6"/>
    <p:sldId id="267" r:id="rId7"/>
    <p:sldId id="268" r:id="rId8"/>
    <p:sldId id="260" r:id="rId9"/>
    <p:sldId id="269" r:id="rId10"/>
    <p:sldId id="270" r:id="rId11"/>
    <p:sldId id="286" r:id="rId12"/>
    <p:sldId id="288" r:id="rId13"/>
    <p:sldId id="289" r:id="rId14"/>
    <p:sldId id="262" r:id="rId15"/>
    <p:sldId id="281" r:id="rId16"/>
    <p:sldId id="273" r:id="rId17"/>
    <p:sldId id="274" r:id="rId18"/>
    <p:sldId id="278" r:id="rId19"/>
    <p:sldId id="279" r:id="rId20"/>
    <p:sldId id="280" r:id="rId21"/>
    <p:sldId id="283" r:id="rId22"/>
    <p:sldId id="285" r:id="rId23"/>
    <p:sldId id="284" r:id="rId24"/>
    <p:sldId id="25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72" d="100"/>
          <a:sy n="72" d="100"/>
        </p:scale>
        <p:origin x="61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6/9/2026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‹Nº›</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28520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3bb91f55cac_0_3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3bb91f55cac_0_3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635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9847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b53643a157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b53643a157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b53643a157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b53643a15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bb91f55cac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bb91f55ca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b53643a157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3b53643a157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b53643a157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3b53643a157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3b53643a157_0_3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3b53643a157_0_3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t>6/9/2026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6/9/2026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‹Nº›</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Atardecer">
  <p:cSld name="BLANK_4">
    <p:bg>
      <p:bgPr>
        <a:solidFill>
          <a:srgbClr val="F8F2E8"/>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pic>
        <p:nvPicPr>
          <p:cNvPr id="52" name="Google Shape;52;p13" title="Group 1321318181.png"/>
          <p:cNvPicPr preferRelativeResize="0"/>
          <p:nvPr/>
        </p:nvPicPr>
        <p:blipFill>
          <a:blip r:embed="rId2"/>
          <a:stretch>
            <a:fillRect/>
          </a:stretch>
        </p:blipFill>
        <p:spPr>
          <a:xfrm>
            <a:off x="0" y="2768216"/>
            <a:ext cx="12191996" cy="4089784"/>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ranja">
  <p:cSld name="BLANK_2_1_1">
    <p:bg>
      <p:bgPr>
        <a:solidFill>
          <a:srgbClr val="FF632B"/>
        </a:solidFill>
        <a:effectLst/>
      </p:bgPr>
    </p:bg>
    <p:spTree>
      <p:nvGrpSpPr>
        <p:cNvPr id="1" name="Shape 81"/>
        <p:cNvGrpSpPr/>
        <p:nvPr/>
      </p:nvGrpSpPr>
      <p:grpSpPr>
        <a:xfrm>
          <a:off x="0" y="0"/>
          <a:ext cx="0" cy="0"/>
          <a:chOff x="0" y="0"/>
          <a:chExt cx="0" cy="0"/>
        </a:xfrm>
      </p:grpSpPr>
      <p:sp>
        <p:nvSpPr>
          <p:cNvPr id="82" name="Google Shape;82;p2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Rosa">
  <p:cSld name="BLANK_2_1_1_1">
    <p:bg>
      <p:bgPr>
        <a:solidFill>
          <a:srgbClr val="FE64A3"/>
        </a:solidFill>
        <a:effectLst/>
      </p:bgPr>
    </p:bg>
    <p:spTree>
      <p:nvGrpSpPr>
        <p:cNvPr id="1" name="Shape 83"/>
        <p:cNvGrpSpPr/>
        <p:nvPr/>
      </p:nvGrpSpPr>
      <p:grpSpPr>
        <a:xfrm>
          <a:off x="0" y="0"/>
          <a:ext cx="0" cy="0"/>
          <a:chOff x="0" y="0"/>
          <a:chExt cx="0" cy="0"/>
        </a:xfrm>
      </p:grpSpPr>
      <p:sp>
        <p:nvSpPr>
          <p:cNvPr id="84" name="Google Shape;84;p2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rrón">
  <p:cSld name="BLANK_2_1">
    <p:bg>
      <p:bgPr>
        <a:solidFill>
          <a:srgbClr val="260700"/>
        </a:solidFill>
        <a:effectLst/>
      </p:bgPr>
    </p:bg>
    <p:spTree>
      <p:nvGrpSpPr>
        <p:cNvPr id="1" name="Shape 79"/>
        <p:cNvGrpSpPr/>
        <p:nvPr/>
      </p:nvGrpSpPr>
      <p:grpSpPr>
        <a:xfrm>
          <a:off x="0" y="0"/>
          <a:ext cx="0" cy="0"/>
          <a:chOff x="0" y="0"/>
          <a:chExt cx="0" cy="0"/>
        </a:xfrm>
      </p:grpSpPr>
      <p:sp>
        <p:nvSpPr>
          <p:cNvPr id="80" name="Google Shape;80;p1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co 1">
  <p:cSld name="BLANK_3">
    <p:bg>
      <p:bgPr>
        <a:solidFill>
          <a:schemeClr val="lt1"/>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t>‹Nº›</a:t>
            </a:fld>
            <a:endParaRPr lang="en-US"/>
          </a:p>
        </p:txBody>
      </p:sp>
      <p:sp>
        <p:nvSpPr>
          <p:cNvPr id="55" name="Google Shape;55;p14"/>
          <p:cNvSpPr txBox="1"/>
          <p:nvPr/>
        </p:nvSpPr>
        <p:spPr>
          <a:xfrm>
            <a:off x="634833" y="220035"/>
            <a:ext cx="859200" cy="2512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None/>
            </a:pPr>
            <a:r>
              <a:rPr lang="en-US" sz="665">
                <a:solidFill>
                  <a:srgbClr val="222224"/>
                </a:solidFill>
                <a:latin typeface="Plus Jakarta Sans"/>
                <a:ea typeface="Plus Jakarta Sans"/>
                <a:cs typeface="Plus Jakarta Sans"/>
                <a:sym typeface="Plus Jakarta Sans"/>
              </a:rPr>
              <a:t>Coderhouse</a:t>
            </a:r>
            <a:endParaRPr sz="665">
              <a:solidFill>
                <a:srgbClr val="222224"/>
              </a:solidFill>
              <a:latin typeface="Plus Jakarta Sans"/>
              <a:ea typeface="Plus Jakarta Sans"/>
              <a:cs typeface="Plus Jakarta Sans"/>
              <a:sym typeface="Plus Jakarta Sans"/>
            </a:endParaRPr>
          </a:p>
        </p:txBody>
      </p:sp>
      <p:sp>
        <p:nvSpPr>
          <p:cNvPr id="56" name="Google Shape;56;p14"/>
          <p:cNvSpPr txBox="1"/>
          <p:nvPr/>
        </p:nvSpPr>
        <p:spPr>
          <a:xfrm>
            <a:off x="9230685" y="220035"/>
            <a:ext cx="1584800" cy="251200"/>
          </a:xfrm>
          <a:prstGeom prst="rect">
            <a:avLst/>
          </a:prstGeom>
          <a:noFill/>
          <a:ln>
            <a:noFill/>
          </a:ln>
        </p:spPr>
        <p:txBody>
          <a:bodyPr spcFirstLastPara="1" wrap="square" lIns="121900" tIns="121900" rIns="121900" bIns="121900" anchor="ctr" anchorCtr="0">
            <a:noAutofit/>
          </a:bodyPr>
          <a:lstStyle/>
          <a:p>
            <a:pPr marL="0" lvl="0" indent="0" algn="r" rtl="0">
              <a:lnSpc>
                <a:spcPct val="100000"/>
              </a:lnSpc>
              <a:spcBef>
                <a:spcPts val="0"/>
              </a:spcBef>
              <a:spcAft>
                <a:spcPts val="0"/>
              </a:spcAft>
              <a:buNone/>
            </a:pPr>
            <a:r>
              <a:rPr lang="en-US" sz="665">
                <a:solidFill>
                  <a:srgbClr val="222224"/>
                </a:solidFill>
                <a:latin typeface="Plus Jakarta Sans"/>
                <a:ea typeface="Plus Jakarta Sans"/>
                <a:cs typeface="Plus Jakarta Sans"/>
                <a:sym typeface="Plus Jakarta Sans"/>
              </a:rPr>
              <a:t>Internal  Presentation</a:t>
            </a:r>
            <a:endParaRPr sz="665">
              <a:solidFill>
                <a:srgbClr val="222224"/>
              </a:solidFill>
              <a:latin typeface="Plus Jakarta Sans"/>
              <a:ea typeface="Plus Jakarta Sans"/>
              <a:cs typeface="Plus Jakarta Sans"/>
              <a:sym typeface="Plus Jakarta Sans"/>
            </a:endParaRPr>
          </a:p>
        </p:txBody>
      </p:sp>
      <p:sp>
        <p:nvSpPr>
          <p:cNvPr id="57" name="Google Shape;57;p14"/>
          <p:cNvSpPr txBox="1"/>
          <p:nvPr/>
        </p:nvSpPr>
        <p:spPr>
          <a:xfrm>
            <a:off x="2928743" y="220035"/>
            <a:ext cx="1656000" cy="251200"/>
          </a:xfrm>
          <a:prstGeom prst="rect">
            <a:avLst/>
          </a:prstGeom>
          <a:noFill/>
          <a:ln>
            <a:noFill/>
          </a:ln>
        </p:spPr>
        <p:txBody>
          <a:bodyPr spcFirstLastPara="1" wrap="square" lIns="121900" tIns="121900" rIns="121900" bIns="121900" anchor="ctr" anchorCtr="0">
            <a:noAutofit/>
          </a:bodyPr>
          <a:lstStyle/>
          <a:p>
            <a:pPr marL="0" lvl="0" indent="0" algn="l" rtl="0">
              <a:lnSpc>
                <a:spcPct val="100000"/>
              </a:lnSpc>
              <a:spcBef>
                <a:spcPts val="0"/>
              </a:spcBef>
              <a:spcAft>
                <a:spcPts val="0"/>
              </a:spcAft>
              <a:buNone/>
            </a:pPr>
            <a:r>
              <a:rPr lang="en-US" sz="665">
                <a:solidFill>
                  <a:srgbClr val="222224"/>
                </a:solidFill>
                <a:latin typeface="Plus Jakarta Sans"/>
                <a:ea typeface="Plus Jakarta Sans"/>
                <a:cs typeface="Plus Jakarta Sans"/>
                <a:sym typeface="Plus Jakarta Sans"/>
              </a:rPr>
              <a:t>2026</a:t>
            </a:r>
            <a:endParaRPr sz="665">
              <a:solidFill>
                <a:srgbClr val="222224"/>
              </a:solidFill>
              <a:latin typeface="Plus Jakarta Sans"/>
              <a:ea typeface="Plus Jakarta Sans"/>
              <a:cs typeface="Plus Jakarta Sans"/>
              <a:sym typeface="Plus Jakarta Sans"/>
            </a:endParaRPr>
          </a:p>
        </p:txBody>
      </p:sp>
      <p:sp>
        <p:nvSpPr>
          <p:cNvPr id="58" name="Google Shape;58;p14"/>
          <p:cNvSpPr txBox="1"/>
          <p:nvPr/>
        </p:nvSpPr>
        <p:spPr>
          <a:xfrm>
            <a:off x="11164700" y="120865"/>
            <a:ext cx="492800" cy="449600"/>
          </a:xfrm>
          <a:prstGeom prst="rect">
            <a:avLst/>
          </a:prstGeom>
          <a:noFill/>
          <a:ln>
            <a:noFill/>
          </a:ln>
        </p:spPr>
        <p:txBody>
          <a:bodyPr spcFirstLastPara="1" wrap="square" lIns="117966" tIns="117966" rIns="117966" bIns="117966" anchor="ctr" anchorCtr="0">
            <a:noAutofit/>
          </a:bodyPr>
          <a:lstStyle/>
          <a:p>
            <a:pPr marL="0" lvl="0" indent="0" algn="ctr" rtl="0">
              <a:lnSpc>
                <a:spcPct val="100000"/>
              </a:lnSpc>
              <a:spcBef>
                <a:spcPts val="0"/>
              </a:spcBef>
              <a:spcAft>
                <a:spcPts val="0"/>
              </a:spcAft>
              <a:buNone/>
            </a:pPr>
            <a:fld id="{00000000-1234-1234-1234-123412341234}" type="slidenum">
              <a:rPr lang="en-US" sz="665">
                <a:solidFill>
                  <a:srgbClr val="222224"/>
                </a:solidFill>
                <a:latin typeface="Plus Jakarta Sans"/>
                <a:ea typeface="Plus Jakarta Sans"/>
                <a:cs typeface="Plus Jakarta Sans"/>
                <a:sym typeface="Plus Jakarta Sans"/>
              </a:rPr>
              <a:t>‹Nº›</a:t>
            </a:fld>
            <a:endParaRPr sz="665">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diente">
  <p:cSld name="Gradiente">
    <p:spTree>
      <p:nvGrpSpPr>
        <p:cNvPr id="1" name="Shape 85"/>
        <p:cNvGrpSpPr/>
        <p:nvPr/>
      </p:nvGrpSpPr>
      <p:grpSpPr>
        <a:xfrm>
          <a:off x="0" y="0"/>
          <a:ext cx="0" cy="0"/>
          <a:chOff x="0" y="0"/>
          <a:chExt cx="0" cy="0"/>
        </a:xfrm>
      </p:grpSpPr>
      <p:pic>
        <p:nvPicPr>
          <p:cNvPr id="86" name="Google Shape;86;p22" title="Coder Facebook (6).png"/>
          <p:cNvPicPr preferRelativeResize="0"/>
          <p:nvPr/>
        </p:nvPicPr>
        <p:blipFill>
          <a:blip r:embed="rId2">
            <a:alphaModFix/>
          </a:blip>
          <a:stretch>
            <a:fillRect/>
          </a:stretch>
        </p:blipFill>
        <p:spPr>
          <a:xfrm>
            <a:off x="-148966" y="1"/>
            <a:ext cx="12340967" cy="6941801"/>
          </a:xfrm>
          <a:prstGeom prst="rect">
            <a:avLst/>
          </a:prstGeom>
          <a:noFill/>
          <a:ln>
            <a:noFill/>
          </a:ln>
        </p:spPr>
      </p:pic>
    </p:spTree>
    <p:extLst>
      <p:ext uri="{BB962C8B-B14F-4D97-AF65-F5344CB8AC3E}">
        <p14:creationId xmlns:p14="http://schemas.microsoft.com/office/powerpoint/2010/main" val="28244540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6/9/2026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6.xml"/><Relationship Id="rId5" Type="http://schemas.openxmlformats.org/officeDocument/2006/relationships/image" Target="../media/image9.jpe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6.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6.xml"/><Relationship Id="rId1" Type="http://schemas.openxmlformats.org/officeDocument/2006/relationships/tags" Target="../tags/tag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5107738" y="6030867"/>
            <a:ext cx="2063933" cy="603000"/>
          </a:xfrm>
          <a:prstGeom prst="rect">
            <a:avLst/>
          </a:prstGeom>
          <a:noFill/>
          <a:ln>
            <a:noFill/>
          </a:ln>
        </p:spPr>
      </p:pic>
      <p:sp>
        <p:nvSpPr>
          <p:cNvPr id="6" name="Google Shape;118;p41"/>
          <p:cNvSpPr txBox="1"/>
          <p:nvPr/>
        </p:nvSpPr>
        <p:spPr>
          <a:xfrm>
            <a:off x="1992100" y="1534533"/>
            <a:ext cx="8295200" cy="615513"/>
          </a:xfrm>
          <a:prstGeom prst="rect">
            <a:avLst/>
          </a:prstGeom>
          <a:noFill/>
          <a:ln>
            <a:noFill/>
          </a:ln>
        </p:spPr>
        <p:txBody>
          <a:bodyPr spcFirstLastPara="1" wrap="square" lIns="121900" tIns="121900" rIns="121900" bIns="121900" anchor="t" anchorCtr="0">
            <a:spAutoFit/>
          </a:bodyPr>
          <a:lstStyle/>
          <a:p>
            <a:pPr algn="ctr">
              <a:buClr>
                <a:srgbClr val="000000"/>
              </a:buClr>
              <a:buSzPts val="1800"/>
            </a:pPr>
            <a:r>
              <a:rPr lang="es" sz="2400" b="1" dirty="0">
                <a:solidFill>
                  <a:schemeClr val="lt1"/>
                </a:solidFill>
                <a:latin typeface="Plus Jakarta Sans"/>
                <a:ea typeface="Plus Jakarta Sans"/>
                <a:cs typeface="Plus Jakarta Sans"/>
                <a:sym typeface="Plus Jakarta Sans"/>
              </a:rPr>
              <a:t>UNIDAD </a:t>
            </a:r>
            <a:r>
              <a:rPr lang="es" sz="2400" b="1" dirty="0" smtClean="0">
                <a:solidFill>
                  <a:schemeClr val="lt1"/>
                </a:solidFill>
                <a:latin typeface="Plus Jakarta Sans"/>
                <a:ea typeface="Plus Jakarta Sans"/>
                <a:cs typeface="Plus Jakarta Sans"/>
                <a:sym typeface="Plus Jakarta Sans"/>
              </a:rPr>
              <a:t>1 </a:t>
            </a:r>
            <a:r>
              <a:rPr lang="es" sz="2400" b="1" dirty="0">
                <a:solidFill>
                  <a:schemeClr val="lt1"/>
                </a:solidFill>
                <a:latin typeface="Plus Jakarta Sans"/>
                <a:ea typeface="Plus Jakarta Sans"/>
                <a:cs typeface="Plus Jakarta Sans"/>
                <a:sym typeface="Plus Jakarta Sans"/>
              </a:rPr>
              <a:t>-  DATA SCIENCE I</a:t>
            </a:r>
            <a:endParaRPr sz="2133" b="1" dirty="0">
              <a:solidFill>
                <a:schemeClr val="lt1"/>
              </a:solidFill>
              <a:latin typeface="Plus Jakarta Sans"/>
              <a:ea typeface="Plus Jakarta Sans"/>
              <a:cs typeface="Plus Jakarta Sans"/>
              <a:sym typeface="Plus Jakarta Sans"/>
            </a:endParaRPr>
          </a:p>
        </p:txBody>
      </p:sp>
      <p:sp>
        <p:nvSpPr>
          <p:cNvPr id="7" name="Google Shape;117;p41"/>
          <p:cNvSpPr txBox="1"/>
          <p:nvPr/>
        </p:nvSpPr>
        <p:spPr>
          <a:xfrm>
            <a:off x="1948400" y="3003967"/>
            <a:ext cx="8295200" cy="3200579"/>
          </a:xfrm>
          <a:prstGeom prst="rect">
            <a:avLst/>
          </a:prstGeom>
          <a:noFill/>
          <a:ln>
            <a:noFill/>
          </a:ln>
        </p:spPr>
        <p:txBody>
          <a:bodyPr spcFirstLastPara="1" wrap="square" lIns="121900" tIns="121900" rIns="121900" bIns="121900" anchor="t" anchorCtr="0">
            <a:spAutoFit/>
          </a:bodyPr>
          <a:lstStyle/>
          <a:p>
            <a:pPr algn="ctr">
              <a:lnSpc>
                <a:spcPct val="90000"/>
              </a:lnSpc>
              <a:buClr>
                <a:schemeClr val="dk1"/>
              </a:buClr>
              <a:buSzPts val="1100"/>
            </a:pPr>
            <a:r>
              <a:rPr lang="es-MX" sz="5333" b="1" dirty="0" smtClean="0">
                <a:solidFill>
                  <a:schemeClr val="bg1"/>
                </a:solidFill>
                <a:latin typeface="Plus Jakarta Sans"/>
                <a:ea typeface="Plus Jakarta Sans"/>
                <a:cs typeface="Plus Jakarta Sans"/>
                <a:sym typeface="Plus Jakarta Sans"/>
              </a:rPr>
              <a:t>Transformación digital en la industria 4.0</a:t>
            </a:r>
            <a:endParaRPr sz="5333" b="1" dirty="0">
              <a:solidFill>
                <a:schemeClr val="bg1"/>
              </a:solidFill>
              <a:latin typeface="Plus Jakarta Sans"/>
              <a:ea typeface="Plus Jakarta Sans"/>
              <a:cs typeface="Plus Jakarta Sans"/>
              <a:sym typeface="Plus Jakarta Sans"/>
            </a:endParaRPr>
          </a:p>
          <a:p>
            <a:pPr algn="ctr">
              <a:lnSpc>
                <a:spcPct val="90000"/>
              </a:lnSpc>
              <a:buClr>
                <a:schemeClr val="dk1"/>
              </a:buClr>
              <a:buSzPts val="1100"/>
            </a:pPr>
            <a:endParaRPr sz="5333" b="1" dirty="0">
              <a:solidFill>
                <a:srgbClr val="FF632B"/>
              </a:solidFill>
              <a:latin typeface="Plus Jakarta Sans"/>
              <a:ea typeface="Plus Jakarta Sans"/>
              <a:cs typeface="Plus Jakarta Sans"/>
              <a:sym typeface="Plus Jakarta Sans"/>
            </a:endParaRPr>
          </a:p>
          <a:p>
            <a:pPr algn="ctr">
              <a:lnSpc>
                <a:spcPct val="90000"/>
              </a:lnSpc>
              <a:buClr>
                <a:srgbClr val="000000"/>
              </a:buClr>
              <a:buSzPts val="4000"/>
            </a:pPr>
            <a:endParaRPr sz="5333" b="1" dirty="0">
              <a:solidFill>
                <a:srgbClr val="FF632B"/>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3935225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61"/>
          <p:cNvSpPr txBox="1"/>
          <p:nvPr/>
        </p:nvSpPr>
        <p:spPr>
          <a:xfrm>
            <a:off x="870033" y="1782033"/>
            <a:ext cx="5164400" cy="2283600"/>
          </a:xfrm>
          <a:prstGeom prst="rect">
            <a:avLst/>
          </a:prstGeom>
          <a:noFill/>
          <a:ln>
            <a:noFill/>
          </a:ln>
        </p:spPr>
        <p:txBody>
          <a:bodyPr spcFirstLastPara="1" wrap="square" lIns="121900" tIns="121900" rIns="121900" bIns="121900" anchor="t" anchorCtr="0">
            <a:noAutofit/>
          </a:bodyPr>
          <a:lstStyle/>
          <a:p>
            <a:r>
              <a:rPr lang="es" sz="6400">
                <a:solidFill>
                  <a:srgbClr val="260700"/>
                </a:solidFill>
                <a:latin typeface="Plus Jakarta Sans ExtraBold"/>
                <a:ea typeface="Plus Jakarta Sans ExtraBold"/>
                <a:cs typeface="Plus Jakarta Sans ExtraBold"/>
                <a:sym typeface="Plus Jakarta Sans ExtraBold"/>
              </a:rPr>
              <a:t>¡Esta clase va a ser     grabada!	</a:t>
            </a:r>
            <a:endParaRPr sz="6400">
              <a:solidFill>
                <a:srgbClr val="260700"/>
              </a:solidFill>
              <a:latin typeface="Plus Jakarta Sans ExtraBold"/>
              <a:ea typeface="Plus Jakarta Sans ExtraBold"/>
              <a:cs typeface="Plus Jakarta Sans ExtraBold"/>
              <a:sym typeface="Plus Jakarta Sans ExtraBold"/>
            </a:endParaRPr>
          </a:p>
        </p:txBody>
      </p:sp>
      <p:sp>
        <p:nvSpPr>
          <p:cNvPr id="473" name="Google Shape;473;p61"/>
          <p:cNvSpPr/>
          <p:nvPr/>
        </p:nvSpPr>
        <p:spPr>
          <a:xfrm>
            <a:off x="5338500" y="1977667"/>
            <a:ext cx="304400" cy="304400"/>
          </a:xfrm>
          <a:prstGeom prst="ellipse">
            <a:avLst/>
          </a:prstGeom>
          <a:solidFill>
            <a:srgbClr val="FDAB2E"/>
          </a:solidFill>
          <a:ln>
            <a:noFill/>
          </a:ln>
        </p:spPr>
        <p:txBody>
          <a:bodyPr spcFirstLastPara="1" wrap="square" lIns="121900" tIns="121900" rIns="121900" bIns="121900" anchor="ctr" anchorCtr="0">
            <a:noAutofit/>
          </a:bodyPr>
          <a:lstStyle/>
          <a:p>
            <a:pPr algn="ctr"/>
            <a:endParaRPr sz="2400"/>
          </a:p>
        </p:txBody>
      </p:sp>
      <p:pic>
        <p:nvPicPr>
          <p:cNvPr id="4" name="Google Shape;93;p23" title="logo gradient 1.png"/>
          <p:cNvPicPr preferRelativeResize="0"/>
          <p:nvPr/>
        </p:nvPicPr>
        <p:blipFill>
          <a:blip r:embed="rId3">
            <a:alphaModFix/>
          </a:blip>
          <a:stretch>
            <a:fillRect/>
          </a:stretch>
        </p:blipFill>
        <p:spPr>
          <a:xfrm>
            <a:off x="5107738" y="6030867"/>
            <a:ext cx="2063933" cy="603000"/>
          </a:xfrm>
          <a:prstGeom prst="rect">
            <a:avLst/>
          </a:prstGeom>
          <a:noFill/>
          <a:ln>
            <a:noFill/>
          </a:ln>
        </p:spPr>
      </p:pic>
      <p:pic>
        <p:nvPicPr>
          <p:cNvPr id="7" name="Google Shape;179;p62"/>
          <p:cNvPicPr preferRelativeResize="0"/>
          <p:nvPr/>
        </p:nvPicPr>
        <p:blipFill>
          <a:blip r:embed="rId4">
            <a:alphaModFix/>
          </a:blip>
          <a:stretch>
            <a:fillRect/>
          </a:stretch>
        </p:blipFill>
        <p:spPr>
          <a:xfrm>
            <a:off x="6725781" y="1317567"/>
            <a:ext cx="4234633" cy="4222800"/>
          </a:xfrm>
          <a:prstGeom prst="rect">
            <a:avLst/>
          </a:prstGeom>
          <a:noFill/>
          <a:ln>
            <a:noFill/>
          </a:ln>
        </p:spPr>
      </p:pic>
    </p:spTree>
    <p:extLst>
      <p:ext uri="{BB962C8B-B14F-4D97-AF65-F5344CB8AC3E}">
        <p14:creationId xmlns:p14="http://schemas.microsoft.com/office/powerpoint/2010/main" val="1450151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3" name="Google Shape;93;p23" title="logo gradient 1.png"/>
          <p:cNvPicPr preferRelativeResize="0"/>
          <p:nvPr/>
        </p:nvPicPr>
        <p:blipFill>
          <a:blip r:embed="rId3">
            <a:alphaModFix/>
          </a:blip>
          <a:stretch>
            <a:fillRect/>
          </a:stretch>
        </p:blipFill>
        <p:spPr>
          <a:xfrm>
            <a:off x="5107738" y="6030867"/>
            <a:ext cx="2063933" cy="603000"/>
          </a:xfrm>
          <a:prstGeom prst="rect">
            <a:avLst/>
          </a:prstGeom>
          <a:noFill/>
          <a:ln>
            <a:noFill/>
          </a:ln>
        </p:spPr>
      </p:pic>
      <p:sp>
        <p:nvSpPr>
          <p:cNvPr id="7" name="Google Shape;117;p41"/>
          <p:cNvSpPr txBox="1"/>
          <p:nvPr/>
        </p:nvSpPr>
        <p:spPr>
          <a:xfrm>
            <a:off x="2189405" y="2091367"/>
            <a:ext cx="8295200" cy="3200579"/>
          </a:xfrm>
          <a:prstGeom prst="rect">
            <a:avLst/>
          </a:prstGeom>
          <a:noFill/>
          <a:ln>
            <a:noFill/>
          </a:ln>
        </p:spPr>
        <p:txBody>
          <a:bodyPr spcFirstLastPara="1" wrap="square" lIns="121900" tIns="121900" rIns="121900" bIns="121900" anchor="t" anchorCtr="0">
            <a:spAutoFit/>
          </a:bodyPr>
          <a:lstStyle/>
          <a:p>
            <a:pPr lvl="0" algn="ctr">
              <a:lnSpc>
                <a:spcPct val="90000"/>
              </a:lnSpc>
              <a:buSzPts val="4000"/>
            </a:pPr>
            <a:r>
              <a:rPr lang="es-MX" sz="5333" b="1" dirty="0">
                <a:solidFill>
                  <a:schemeClr val="bg1"/>
                </a:solidFill>
                <a:latin typeface="Plus Jakarta Sans"/>
                <a:ea typeface="Plus Jakarta Sans"/>
                <a:cs typeface="Plus Jakarta Sans"/>
                <a:sym typeface="Plus Jakarta Sans"/>
              </a:rPr>
              <a:t>¿Preguntas </a:t>
            </a:r>
            <a:r>
              <a:rPr lang="es-MX" sz="5333" b="1" dirty="0" smtClean="0">
                <a:solidFill>
                  <a:schemeClr val="bg1"/>
                </a:solidFill>
                <a:latin typeface="Plus Jakarta Sans"/>
                <a:ea typeface="Plus Jakarta Sans"/>
                <a:cs typeface="Plus Jakarta Sans"/>
                <a:sym typeface="Plus Jakarta Sans"/>
              </a:rPr>
              <a:t>varias antes de comenzar?</a:t>
            </a:r>
            <a:endParaRPr lang="es-MX" sz="5333" b="1" dirty="0">
              <a:solidFill>
                <a:schemeClr val="bg1"/>
              </a:solidFill>
              <a:latin typeface="Plus Jakarta Sans"/>
              <a:ea typeface="Plus Jakarta Sans"/>
              <a:cs typeface="Plus Jakarta Sans"/>
              <a:sym typeface="Plus Jakarta Sans"/>
            </a:endParaRPr>
          </a:p>
          <a:p>
            <a:pPr algn="ctr">
              <a:lnSpc>
                <a:spcPct val="90000"/>
              </a:lnSpc>
              <a:buClr>
                <a:schemeClr val="dk1"/>
              </a:buClr>
              <a:buSzPts val="1100"/>
            </a:pPr>
            <a:endParaRPr sz="5333" b="1" dirty="0">
              <a:solidFill>
                <a:srgbClr val="FF632B"/>
              </a:solidFill>
              <a:latin typeface="Plus Jakarta Sans"/>
              <a:ea typeface="Plus Jakarta Sans"/>
              <a:cs typeface="Plus Jakarta Sans"/>
              <a:sym typeface="Plus Jakarta Sans"/>
            </a:endParaRPr>
          </a:p>
          <a:p>
            <a:pPr algn="ctr">
              <a:lnSpc>
                <a:spcPct val="90000"/>
              </a:lnSpc>
              <a:buClr>
                <a:srgbClr val="000000"/>
              </a:buClr>
              <a:buSzPts val="4000"/>
            </a:pPr>
            <a:endParaRPr sz="5333" b="1" dirty="0">
              <a:solidFill>
                <a:srgbClr val="FF632B"/>
              </a:solidFill>
              <a:latin typeface="Plus Jakarta Sans"/>
              <a:ea typeface="Plus Jakarta Sans"/>
              <a:cs typeface="Plus Jakarta Sans"/>
              <a:sym typeface="Plus Jakarta Sans"/>
            </a:endParaRPr>
          </a:p>
        </p:txBody>
      </p:sp>
    </p:spTree>
    <p:extLst>
      <p:ext uri="{BB962C8B-B14F-4D97-AF65-F5344CB8AC3E}">
        <p14:creationId xmlns:p14="http://schemas.microsoft.com/office/powerpoint/2010/main" val="80157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3"/>
          <p:cNvSpPr txBox="1"/>
          <p:nvPr/>
        </p:nvSpPr>
        <p:spPr>
          <a:xfrm>
            <a:off x="1787400" y="875300"/>
            <a:ext cx="8617200" cy="11204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US" sz="3735" dirty="0" err="1">
                <a:solidFill>
                  <a:srgbClr val="260700"/>
                </a:solidFill>
                <a:latin typeface="Plus Jakarta Sans ExtraBold"/>
                <a:ea typeface="Plus Jakarta Sans ExtraBold"/>
                <a:cs typeface="Plus Jakarta Sans ExtraBold"/>
                <a:sym typeface="Plus Jakarta Sans ExtraBold"/>
              </a:rPr>
              <a:t>Presentación</a:t>
            </a:r>
            <a:endParaRPr sz="3735" dirty="0">
              <a:solidFill>
                <a:srgbClr val="260700"/>
              </a:solidFill>
              <a:latin typeface="Plus Jakarta Sans ExtraBold"/>
              <a:ea typeface="Plus Jakarta Sans ExtraBold"/>
              <a:cs typeface="Plus Jakarta Sans ExtraBold"/>
              <a:sym typeface="Plus Jakarta Sans ExtraBold"/>
            </a:endParaRPr>
          </a:p>
          <a:p>
            <a:pPr marL="0" lvl="0" indent="0" algn="ctr" rtl="0">
              <a:spcBef>
                <a:spcPts val="0"/>
              </a:spcBef>
              <a:spcAft>
                <a:spcPts val="0"/>
              </a:spcAft>
              <a:buNone/>
            </a:pPr>
            <a:r>
              <a:rPr lang="en-US" sz="3735" dirty="0">
                <a:solidFill>
                  <a:srgbClr val="260700"/>
                </a:solidFill>
                <a:latin typeface="Plus Jakarta Sans ExtraBold"/>
                <a:ea typeface="Plus Jakarta Sans ExtraBold"/>
                <a:cs typeface="Plus Jakarta Sans ExtraBold"/>
                <a:sym typeface="Plus Jakarta Sans ExtraBold"/>
              </a:rPr>
              <a:t>del </a:t>
            </a:r>
            <a:r>
              <a:rPr lang="en-US" sz="3735" dirty="0" err="1">
                <a:solidFill>
                  <a:srgbClr val="260700"/>
                </a:solidFill>
                <a:highlight>
                  <a:srgbClr val="FDAB2E"/>
                </a:highlight>
                <a:latin typeface="Plus Jakarta Sans ExtraBold"/>
                <a:ea typeface="Plus Jakarta Sans ExtraBold"/>
                <a:cs typeface="Plus Jakarta Sans ExtraBold"/>
                <a:sym typeface="Plus Jakarta Sans ExtraBold"/>
              </a:rPr>
              <a:t>equipo</a:t>
            </a:r>
            <a:r>
              <a:rPr lang="en-US" sz="3735" dirty="0">
                <a:solidFill>
                  <a:srgbClr val="260700"/>
                </a:solidFill>
                <a:latin typeface="Plus Jakarta Sans ExtraBold"/>
                <a:ea typeface="Plus Jakarta Sans ExtraBold"/>
                <a:cs typeface="Plus Jakarta Sans ExtraBold"/>
                <a:sym typeface="Plus Jakarta Sans ExtraBold"/>
              </a:rPr>
              <a:t>:</a:t>
            </a:r>
            <a:endParaRPr sz="3735" dirty="0">
              <a:solidFill>
                <a:srgbClr val="260700"/>
              </a:solidFill>
              <a:latin typeface="Plus Jakarta Sans"/>
              <a:ea typeface="Plus Jakarta Sans"/>
              <a:cs typeface="Plus Jakarta Sans"/>
              <a:sym typeface="Plus Jakarta Sans"/>
            </a:endParaRPr>
          </a:p>
        </p:txBody>
      </p:sp>
      <p:sp>
        <p:nvSpPr>
          <p:cNvPr id="277" name="Google Shape;277;p43"/>
          <p:cNvSpPr/>
          <p:nvPr/>
        </p:nvSpPr>
        <p:spPr>
          <a:xfrm>
            <a:off x="426720" y="3387449"/>
            <a:ext cx="11338560" cy="984250"/>
          </a:xfrm>
          <a:prstGeom prst="round2SameRect">
            <a:avLst>
              <a:gd name="adj1" fmla="val 0"/>
              <a:gd name="adj2" fmla="val 34038"/>
            </a:avLst>
          </a:prstGeom>
          <a:solidFill>
            <a:srgbClr val="FF632B"/>
          </a:solidFill>
          <a:ln>
            <a:noFill/>
          </a:ln>
        </p:spPr>
        <p:txBody>
          <a:bodyPr spcFirstLastPara="1" wrap="square" lIns="121900" tIns="121900" rIns="121900" bIns="121900" anchor="ctr" anchorCtr="0">
            <a:noAutofit/>
          </a:bodyPr>
          <a:lstStyle/>
          <a:p>
            <a:pPr marL="165100" lvl="0"/>
            <a:r>
              <a:rPr lang="en-US" sz="2800" b="1" dirty="0" err="1">
                <a:solidFill>
                  <a:srgbClr val="F8F2E8"/>
                </a:solidFill>
                <a:latin typeface="Plus Jakarta Sans"/>
                <a:ea typeface="Plus Jakarta Sans"/>
                <a:cs typeface="Plus Jakarta Sans"/>
                <a:sym typeface="Plus Jakarta Sans"/>
              </a:rPr>
              <a:t>Profesor</a:t>
            </a:r>
            <a:r>
              <a:rPr lang="en-US" sz="2800" b="1" dirty="0" smtClean="0">
                <a:solidFill>
                  <a:srgbClr val="F8F2E8"/>
                </a:solidFill>
                <a:latin typeface="Plus Jakarta Sans"/>
                <a:ea typeface="Plus Jakarta Sans"/>
                <a:cs typeface="Plus Jakarta Sans"/>
                <a:sym typeface="Plus Jakarta Sans"/>
              </a:rPr>
              <a:t>: </a:t>
            </a:r>
            <a:r>
              <a:rPr lang="es-AR" altLang="en-US" b="1" dirty="0">
                <a:solidFill>
                  <a:srgbClr val="F8F2E8"/>
                </a:solidFill>
                <a:latin typeface="Plus Jakarta Sans"/>
                <a:ea typeface="Plus Jakarta Sans"/>
                <a:cs typeface="Plus Jakarta Sans"/>
                <a:sym typeface="Plus Jakarta Sans"/>
              </a:rPr>
              <a:t>Arturo </a:t>
            </a:r>
            <a:r>
              <a:rPr lang="es-AR" altLang="en-US" b="1" dirty="0" err="1">
                <a:solidFill>
                  <a:srgbClr val="F8F2E8"/>
                </a:solidFill>
                <a:latin typeface="Plus Jakarta Sans"/>
                <a:ea typeface="Plus Jakarta Sans"/>
                <a:cs typeface="Plus Jakarta Sans"/>
                <a:sym typeface="Plus Jakarta Sans"/>
              </a:rPr>
              <a:t>Grottoli</a:t>
            </a:r>
            <a:r>
              <a:rPr lang="en-US" b="1" dirty="0">
                <a:solidFill>
                  <a:srgbClr val="F8F2E8"/>
                </a:solidFill>
                <a:latin typeface="Plus Jakarta Sans"/>
                <a:ea typeface="Plus Jakarta Sans"/>
                <a:cs typeface="Plus Jakarta Sans"/>
                <a:sym typeface="Plus Jakarta Sans"/>
              </a:rPr>
              <a:t>  </a:t>
            </a:r>
            <a:endParaRPr lang="es-AR" altLang="en-US" b="1" dirty="0">
              <a:solidFill>
                <a:srgbClr val="F8F2E8"/>
              </a:solidFill>
              <a:latin typeface="Plus Jakarta Sans"/>
              <a:ea typeface="Plus Jakarta Sans"/>
              <a:cs typeface="Plus Jakarta Sans"/>
              <a:sym typeface="Plus Jakarta Sans"/>
            </a:endParaRPr>
          </a:p>
        </p:txBody>
      </p:sp>
      <p:sp>
        <p:nvSpPr>
          <p:cNvPr id="284" name="Google Shape;284;p43"/>
          <p:cNvSpPr/>
          <p:nvPr/>
        </p:nvSpPr>
        <p:spPr>
          <a:xfrm>
            <a:off x="8832733" y="1600700"/>
            <a:ext cx="1489600" cy="565600"/>
          </a:xfrm>
          <a:prstGeom prst="wedgeRectCallout">
            <a:avLst>
              <a:gd name="adj1" fmla="val -33452"/>
              <a:gd name="adj2" fmla="val 98680"/>
            </a:avLst>
          </a:prstGeom>
          <a:solidFill>
            <a:srgbClr val="FF632B"/>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935">
                <a:solidFill>
                  <a:srgbClr val="F8F2E8"/>
                </a:solidFill>
                <a:latin typeface="Plus Jakarta Sans"/>
                <a:ea typeface="Plus Jakarta Sans"/>
                <a:cs typeface="Plus Jakarta Sans"/>
                <a:sym typeface="Plus Jakarta Sans"/>
              </a:rPr>
              <a:t>COMISIÓN N° </a:t>
            </a:r>
            <a:r>
              <a:rPr lang="es-AR" altLang="en-US" sz="935">
                <a:solidFill>
                  <a:srgbClr val="F8F2E8"/>
                </a:solidFill>
                <a:latin typeface="Plus Jakarta Sans"/>
                <a:ea typeface="Plus Jakarta Sans"/>
                <a:cs typeface="Plus Jakarta Sans"/>
                <a:sym typeface="Plus Jakarta Sans"/>
              </a:rPr>
              <a:t>95315</a:t>
            </a:r>
          </a:p>
        </p:txBody>
      </p:sp>
      <p:sp>
        <p:nvSpPr>
          <p:cNvPr id="2" name="Google Shape;277;p43"/>
          <p:cNvSpPr/>
          <p:nvPr/>
        </p:nvSpPr>
        <p:spPr>
          <a:xfrm>
            <a:off x="426720" y="4840605"/>
            <a:ext cx="11338560" cy="984250"/>
          </a:xfrm>
          <a:prstGeom prst="round2SameRect">
            <a:avLst>
              <a:gd name="adj1" fmla="val 0"/>
              <a:gd name="adj2" fmla="val 34038"/>
            </a:avLst>
          </a:prstGeom>
          <a:solidFill>
            <a:srgbClr val="FF632B"/>
          </a:solidFill>
          <a:ln>
            <a:noFill/>
          </a:ln>
        </p:spPr>
        <p:txBody>
          <a:bodyPr spcFirstLastPara="1" wrap="square" lIns="121900" tIns="121900" rIns="121900" bIns="121900" anchor="ctr" anchorCtr="0">
            <a:noAutofit/>
          </a:bodyPr>
          <a:lstStyle/>
          <a:p>
            <a:pPr marL="165100" lvl="0" indent="0" algn="l" rtl="0">
              <a:spcBef>
                <a:spcPts val="0"/>
              </a:spcBef>
              <a:spcAft>
                <a:spcPts val="0"/>
              </a:spcAft>
              <a:buNone/>
            </a:pPr>
            <a:r>
              <a:rPr lang="en-US" sz="2800" b="1" dirty="0" err="1">
                <a:solidFill>
                  <a:srgbClr val="F8F2E8"/>
                </a:solidFill>
                <a:latin typeface="Plus Jakarta Sans"/>
                <a:ea typeface="Plus Jakarta Sans"/>
                <a:cs typeface="Plus Jakarta Sans"/>
                <a:sym typeface="Plus Jakarta Sans"/>
              </a:rPr>
              <a:t>Profesor</a:t>
            </a:r>
            <a:r>
              <a:rPr lang="en-US" sz="2800" b="1" dirty="0">
                <a:solidFill>
                  <a:srgbClr val="F8F2E8"/>
                </a:solidFill>
                <a:latin typeface="Plus Jakarta Sans"/>
                <a:ea typeface="Plus Jakarta Sans"/>
                <a:cs typeface="Plus Jakarta Sans"/>
                <a:sym typeface="Plus Jakarta Sans"/>
              </a:rPr>
              <a:t>:</a:t>
            </a:r>
            <a:r>
              <a:rPr lang="es-AR" altLang="en-US" sz="2800" b="1" dirty="0">
                <a:solidFill>
                  <a:srgbClr val="F8F2E8"/>
                </a:solidFill>
                <a:latin typeface="Plus Jakarta Sans"/>
                <a:ea typeface="Plus Jakarta Sans"/>
                <a:cs typeface="Plus Jakarta Sans"/>
                <a:sym typeface="Plus Jakarta Sans"/>
              </a:rPr>
              <a:t> </a:t>
            </a:r>
            <a:r>
              <a:rPr lang="es-AR" altLang="en-US" b="1" dirty="0" smtClean="0">
                <a:solidFill>
                  <a:srgbClr val="F8F2E8"/>
                </a:solidFill>
                <a:latin typeface="Plus Jakarta Sans"/>
                <a:ea typeface="Plus Jakarta Sans"/>
                <a:cs typeface="Plus Jakarta Sans"/>
                <a:sym typeface="Plus Jakarta Sans"/>
              </a:rPr>
              <a:t>Arturo</a:t>
            </a:r>
            <a:endParaRPr lang="es-AR" altLang="en-US" b="1" dirty="0">
              <a:solidFill>
                <a:srgbClr val="F8F2E8"/>
              </a:solidFill>
              <a:latin typeface="Plus Jakarta Sans"/>
              <a:ea typeface="Plus Jakarta Sans"/>
              <a:cs typeface="Plus Jakarta Sans"/>
              <a:sym typeface="Plus Jakart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4"/>
          <p:cNvSpPr txBox="1"/>
          <p:nvPr/>
        </p:nvSpPr>
        <p:spPr>
          <a:xfrm>
            <a:off x="3776747" y="0"/>
            <a:ext cx="8617200" cy="1853200"/>
          </a:xfrm>
          <a:prstGeom prst="rect">
            <a:avLst/>
          </a:prstGeom>
          <a:noFill/>
          <a:ln>
            <a:noFill/>
          </a:ln>
        </p:spPr>
        <p:txBody>
          <a:bodyPr spcFirstLastPara="1" wrap="square" lIns="121900" tIns="121900" rIns="121900" bIns="121900" anchor="t" anchorCtr="0">
            <a:noAutofit/>
          </a:bodyPr>
          <a:lstStyle/>
          <a:p>
            <a:pPr marL="0" lvl="0" indent="0" algn="r" rtl="0">
              <a:spcBef>
                <a:spcPts val="0"/>
              </a:spcBef>
              <a:spcAft>
                <a:spcPts val="0"/>
              </a:spcAft>
              <a:buNone/>
            </a:pPr>
            <a:r>
              <a:rPr lang="en-US" sz="12800">
                <a:solidFill>
                  <a:srgbClr val="FF632B"/>
                </a:solidFill>
                <a:latin typeface="Plus Jakarta Sans ExtraBold"/>
                <a:ea typeface="Plus Jakarta Sans ExtraBold"/>
                <a:cs typeface="Plus Jakarta Sans ExtraBold"/>
                <a:sym typeface="Plus Jakarta Sans ExtraBold"/>
              </a:rPr>
              <a:t>Agenda</a:t>
            </a:r>
            <a:endParaRPr sz="12800">
              <a:solidFill>
                <a:srgbClr val="FF632B"/>
              </a:solidFill>
              <a:latin typeface="Plus Jakarta Sans ExtraBold"/>
              <a:ea typeface="Plus Jakarta Sans ExtraBold"/>
              <a:cs typeface="Plus Jakarta Sans ExtraBold"/>
              <a:sym typeface="Plus Jakarta Sans ExtraBold"/>
            </a:endParaRPr>
          </a:p>
        </p:txBody>
      </p:sp>
      <p:sp>
        <p:nvSpPr>
          <p:cNvPr id="193" name="Google Shape;193;p34"/>
          <p:cNvSpPr txBox="1"/>
          <p:nvPr/>
        </p:nvSpPr>
        <p:spPr>
          <a:xfrm>
            <a:off x="962025" y="2336800"/>
            <a:ext cx="8616950" cy="3629025"/>
          </a:xfrm>
          <a:prstGeom prst="rect">
            <a:avLst/>
          </a:prstGeom>
          <a:noFill/>
          <a:ln>
            <a:noFill/>
          </a:ln>
        </p:spPr>
        <p:txBody>
          <a:bodyPr spcFirstLastPara="1" wrap="square" lIns="121900" tIns="121900" rIns="121900" bIns="121900" anchor="t" anchorCtr="0">
            <a:noAutofit/>
          </a:bodyPr>
          <a:lstStyle/>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1: La Transformación Digital en la Industria 4.0</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2: Fundamentos de Python</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3: NumPy y Pandas</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4: Manipulación de Datos: Pandas</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5: Visualizaciones Avanzadas en Data Science</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6: Estadística y Preprocesamiento</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7: Aplicaciones Prácticas de ML</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8: Aprendizaje Supervisado en Ciencia de Datos</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9: Aprendizaje No Supervisado</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10: Fundamentos de IA y Machine Learning</a:t>
            </a:r>
          </a:p>
          <a:p>
            <a:pPr marL="457200" lvl="0" indent="-304800" algn="l" rtl="0">
              <a:lnSpc>
                <a:spcPct val="115000"/>
              </a:lnSpc>
              <a:spcBef>
                <a:spcPts val="0"/>
              </a:spcBef>
              <a:spcAft>
                <a:spcPts val="0"/>
              </a:spcAft>
              <a:buClr>
                <a:srgbClr val="171717"/>
              </a:buClr>
              <a:buSzPts val="1200"/>
              <a:buFont typeface="Plus Jakarta Sans Light"/>
              <a:buAutoNum type="arabicPeriod"/>
            </a:pPr>
            <a:r>
              <a:rPr lang="en-US" altLang="en-US" sz="1600">
                <a:solidFill>
                  <a:srgbClr val="171717"/>
                </a:solidFill>
                <a:latin typeface="Plus Jakarta Sans Light"/>
                <a:ea typeface="Plus Jakarta Sans Light"/>
                <a:cs typeface="Plus Jakarta Sans Light"/>
                <a:sym typeface="Plus Jakarta Sans Light"/>
              </a:rPr>
              <a:t>Semana 11: Entrega de Proyecto Final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38"/>
          <p:cNvSpPr txBox="1"/>
          <p:nvPr/>
        </p:nvSpPr>
        <p:spPr>
          <a:xfrm>
            <a:off x="803275" y="879475"/>
            <a:ext cx="10429875" cy="2273935"/>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Evolución Industrial y Fundamentos de Industria 4.0</a:t>
            </a:r>
          </a:p>
        </p:txBody>
      </p:sp>
      <p:sp>
        <p:nvSpPr>
          <p:cNvPr id="243" name="Google Shape;243;p38"/>
          <p:cNvSpPr txBox="1"/>
          <p:nvPr/>
        </p:nvSpPr>
        <p:spPr>
          <a:xfrm>
            <a:off x="803275" y="2680970"/>
            <a:ext cx="11102975"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2400">
                <a:solidFill>
                  <a:srgbClr val="171717"/>
                </a:solidFill>
                <a:latin typeface="Plus Jakarta Sans"/>
                <a:ea typeface="Plus Jakarta Sans"/>
                <a:cs typeface="Plus Jakarta Sans"/>
                <a:sym typeface="Plus Jakarta Sans"/>
              </a:rPr>
              <a:t>De la mecanización a la toma de decisiones basada en datos.</a:t>
            </a:r>
          </a:p>
        </p:txBody>
      </p:sp>
      <p:pic>
        <p:nvPicPr>
          <p:cNvPr id="2" name="Picture 1"/>
          <p:cNvPicPr/>
          <p:nvPr/>
        </p:nvPicPr>
        <p:blipFill>
          <a:blip r:embed="rId3"/>
          <a:stretch>
            <a:fillRect/>
          </a:stretch>
        </p:blipFill>
        <p:spPr>
          <a:xfrm>
            <a:off x="3629025" y="3429000"/>
            <a:ext cx="4114165" cy="27559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433" y="2565617"/>
            <a:ext cx="10420800" cy="30260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2400">
                <a:solidFill>
                  <a:srgbClr val="171717"/>
                </a:solidFill>
                <a:latin typeface="Plus Jakarta Sans Light"/>
                <a:ea typeface="Plus Jakarta Sans Light"/>
                <a:cs typeface="Plus Jakarta Sans Light"/>
                <a:sym typeface="Plus Jakarta Sans Light"/>
              </a:rPr>
              <a:t>Puntos clave:</a:t>
            </a:r>
          </a:p>
          <a:p>
            <a:pPr marL="0" lvl="0" indent="0" algn="l" rtl="0">
              <a:lnSpc>
                <a:spcPct val="115000"/>
              </a:lnSpc>
              <a:spcBef>
                <a:spcPts val="0"/>
              </a:spcBef>
              <a:spcAft>
                <a:spcPts val="0"/>
              </a:spcAft>
              <a:buNone/>
            </a:pPr>
            <a:endParaRPr lang="en-US" altLang="en-US" sz="2400">
              <a:solidFill>
                <a:srgbClr val="171717"/>
              </a:solidFill>
              <a:latin typeface="Plus Jakarta Sans Light"/>
              <a:ea typeface="Plus Jakarta Sans Light"/>
              <a:cs typeface="Plus Jakarta Sans Light"/>
              <a:sym typeface="Plus Jakarta Sans Light"/>
            </a:endParaRPr>
          </a:p>
          <a:p>
            <a:pPr marL="285750" lvl="0" indent="-285750" algn="l" rtl="0">
              <a:lnSpc>
                <a:spcPct val="115000"/>
              </a:lnSpc>
              <a:spcBef>
                <a:spcPts val="0"/>
              </a:spcBef>
              <a:spcAft>
                <a:spcPts val="0"/>
              </a:spcAft>
              <a:buFont typeface="Arial" panose="020B0604020202020204" pitchFamily="34" charset="0"/>
              <a:buChar char="•"/>
            </a:pPr>
            <a:r>
              <a:rPr lang="en-US" altLang="en-US" sz="1600">
                <a:solidFill>
                  <a:srgbClr val="171717"/>
                </a:solidFill>
                <a:latin typeface="Plus Jakarta Sans Light"/>
                <a:ea typeface="Plus Jakarta Sans Light"/>
                <a:cs typeface="Plus Jakarta Sans Light"/>
                <a:sym typeface="Plus Jakarta Sans Light"/>
              </a:rPr>
              <a:t>Comprender la evolución de las revoluciones industriales.</a:t>
            </a:r>
          </a:p>
          <a:p>
            <a:pPr marL="285750" lvl="0" indent="-285750" algn="l" rtl="0">
              <a:lnSpc>
                <a:spcPct val="115000"/>
              </a:lnSpc>
              <a:spcBef>
                <a:spcPts val="0"/>
              </a:spcBef>
              <a:spcAft>
                <a:spcPts val="0"/>
              </a:spcAft>
              <a:buFont typeface="Arial" panose="020B0604020202020204" pitchFamily="34" charset="0"/>
              <a:buChar char="•"/>
            </a:pPr>
            <a:endParaRPr lang="en-US" altLang="en-US" sz="1600">
              <a:solidFill>
                <a:srgbClr val="171717"/>
              </a:solidFill>
              <a:latin typeface="Plus Jakarta Sans Light"/>
              <a:ea typeface="Plus Jakarta Sans Light"/>
              <a:cs typeface="Plus Jakarta Sans Light"/>
              <a:sym typeface="Plus Jakarta Sans Light"/>
            </a:endParaRPr>
          </a:p>
          <a:p>
            <a:pPr marL="285750" lvl="0" indent="-285750" algn="l" rtl="0">
              <a:lnSpc>
                <a:spcPct val="115000"/>
              </a:lnSpc>
              <a:spcBef>
                <a:spcPts val="0"/>
              </a:spcBef>
              <a:spcAft>
                <a:spcPts val="0"/>
              </a:spcAft>
              <a:buFont typeface="Arial" panose="020B0604020202020204" pitchFamily="34" charset="0"/>
              <a:buChar char="•"/>
            </a:pPr>
            <a:r>
              <a:rPr lang="en-US" altLang="en-US" sz="1600">
                <a:solidFill>
                  <a:srgbClr val="171717"/>
                </a:solidFill>
                <a:latin typeface="Plus Jakarta Sans Light"/>
                <a:ea typeface="Plus Jakarta Sans Light"/>
                <a:cs typeface="Plus Jakarta Sans Light"/>
                <a:sym typeface="Plus Jakarta Sans Light"/>
              </a:rPr>
              <a:t>Identificar los 9 pilares de la Industria 4.0.</a:t>
            </a:r>
          </a:p>
          <a:p>
            <a:pPr marL="285750" lvl="0" indent="-285750" algn="l" rtl="0">
              <a:lnSpc>
                <a:spcPct val="115000"/>
              </a:lnSpc>
              <a:spcBef>
                <a:spcPts val="0"/>
              </a:spcBef>
              <a:spcAft>
                <a:spcPts val="0"/>
              </a:spcAft>
              <a:buFont typeface="Arial" panose="020B0604020202020204" pitchFamily="34" charset="0"/>
              <a:buChar char="•"/>
            </a:pPr>
            <a:endParaRPr lang="en-US" altLang="en-US" sz="1600">
              <a:solidFill>
                <a:srgbClr val="171717"/>
              </a:solidFill>
              <a:latin typeface="Plus Jakarta Sans Light"/>
              <a:ea typeface="Plus Jakarta Sans Light"/>
              <a:cs typeface="Plus Jakarta Sans Light"/>
              <a:sym typeface="Plus Jakarta Sans Light"/>
            </a:endParaRPr>
          </a:p>
          <a:p>
            <a:pPr marL="285750" lvl="0" indent="-285750" algn="l" rtl="0">
              <a:lnSpc>
                <a:spcPct val="115000"/>
              </a:lnSpc>
              <a:spcBef>
                <a:spcPts val="0"/>
              </a:spcBef>
              <a:spcAft>
                <a:spcPts val="0"/>
              </a:spcAft>
              <a:buFont typeface="Arial" panose="020B0604020202020204" pitchFamily="34" charset="0"/>
              <a:buChar char="•"/>
            </a:pPr>
            <a:r>
              <a:rPr lang="en-US" altLang="en-US" sz="1600">
                <a:solidFill>
                  <a:srgbClr val="171717"/>
                </a:solidFill>
                <a:latin typeface="Plus Jakarta Sans Light"/>
                <a:ea typeface="Plus Jakarta Sans Light"/>
                <a:cs typeface="Plus Jakarta Sans Light"/>
                <a:sym typeface="Plus Jakarta Sans Light"/>
              </a:rPr>
              <a:t>Analizar el impacto de IoT y Big Data.</a:t>
            </a:r>
          </a:p>
          <a:p>
            <a:pPr marL="285750" lvl="0" indent="-285750" algn="l" rtl="0">
              <a:lnSpc>
                <a:spcPct val="115000"/>
              </a:lnSpc>
              <a:spcBef>
                <a:spcPts val="0"/>
              </a:spcBef>
              <a:spcAft>
                <a:spcPts val="0"/>
              </a:spcAft>
              <a:buFont typeface="Arial" panose="020B0604020202020204" pitchFamily="34" charset="0"/>
              <a:buChar char="•"/>
            </a:pPr>
            <a:endParaRPr lang="en-US" altLang="en-US" sz="1600">
              <a:solidFill>
                <a:srgbClr val="171717"/>
              </a:solidFill>
              <a:latin typeface="Plus Jakarta Sans Light"/>
              <a:ea typeface="Plus Jakarta Sans Light"/>
              <a:cs typeface="Plus Jakarta Sans Light"/>
              <a:sym typeface="Plus Jakarta Sans Light"/>
            </a:endParaRPr>
          </a:p>
          <a:p>
            <a:pPr marL="285750" lvl="0" indent="-285750" algn="l" rtl="0">
              <a:lnSpc>
                <a:spcPct val="115000"/>
              </a:lnSpc>
              <a:spcBef>
                <a:spcPts val="0"/>
              </a:spcBef>
              <a:spcAft>
                <a:spcPts val="0"/>
              </a:spcAft>
              <a:buFont typeface="Arial" panose="020B0604020202020204" pitchFamily="34" charset="0"/>
              <a:buChar char="•"/>
            </a:pPr>
            <a:r>
              <a:rPr lang="en-US" altLang="en-US" sz="1600">
                <a:solidFill>
                  <a:srgbClr val="171717"/>
                </a:solidFill>
                <a:latin typeface="Plus Jakarta Sans Light"/>
                <a:ea typeface="Plus Jakarta Sans Light"/>
                <a:cs typeface="Plus Jakarta Sans Light"/>
                <a:sym typeface="Plus Jakarta Sans Light"/>
              </a:rPr>
              <a:t>Diseñar un plan ejecutivo data-driven.</a:t>
            </a:r>
          </a:p>
          <a:p>
            <a:pPr marL="285750" lvl="0" indent="-285750" algn="l" rtl="0">
              <a:lnSpc>
                <a:spcPct val="115000"/>
              </a:lnSpc>
              <a:spcBef>
                <a:spcPts val="0"/>
              </a:spcBef>
              <a:spcAft>
                <a:spcPts val="0"/>
              </a:spcAft>
              <a:buFont typeface="Arial" panose="020B0604020202020204" pitchFamily="34" charset="0"/>
              <a:buChar char="•"/>
            </a:pPr>
            <a:endParaRPr lang="es-AR" altLang="en-US" sz="1600">
              <a:solidFill>
                <a:srgbClr val="171717"/>
              </a:solidFill>
              <a:latin typeface="Plus Jakarta Sans Light"/>
              <a:ea typeface="Plus Jakarta Sans Light"/>
              <a:cs typeface="Plus Jakarta Sans Light"/>
              <a:sym typeface="Plus Jakarta Sans Light"/>
            </a:endParaRPr>
          </a:p>
          <a:p>
            <a:pPr marL="285750" lvl="0" indent="-285750" algn="l" rtl="0">
              <a:lnSpc>
                <a:spcPct val="115000"/>
              </a:lnSpc>
              <a:spcBef>
                <a:spcPts val="0"/>
              </a:spcBef>
              <a:spcAft>
                <a:spcPts val="0"/>
              </a:spcAft>
              <a:buFont typeface="Arial" panose="020B0604020202020204" pitchFamily="34" charset="0"/>
              <a:buChar char="•"/>
            </a:pPr>
            <a:r>
              <a:rPr lang="es-AR" altLang="en-US" sz="1600">
                <a:solidFill>
                  <a:srgbClr val="171717"/>
                </a:solidFill>
                <a:latin typeface="Plus Jakarta Sans Light"/>
                <a:ea typeface="Plus Jakarta Sans Light"/>
                <a:cs typeface="Plus Jakarta Sans Light"/>
                <a:sym typeface="Plus Jakarta Sans Light"/>
              </a:rPr>
              <a:t>Desarrollar algunas actividades grupales</a:t>
            </a:r>
          </a:p>
        </p:txBody>
      </p:sp>
      <p:sp>
        <p:nvSpPr>
          <p:cNvPr id="242" name="Google Shape;242;p38"/>
          <p:cNvSpPr txBox="1"/>
          <p:nvPr/>
        </p:nvSpPr>
        <p:spPr>
          <a:xfrm>
            <a:off x="803275" y="879475"/>
            <a:ext cx="9618980"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6400">
                <a:solidFill>
                  <a:srgbClr val="FF632B"/>
                </a:solidFill>
                <a:latin typeface="Plus Jakarta Sans ExtraBold"/>
                <a:ea typeface="Plus Jakarta Sans ExtraBold"/>
                <a:cs typeface="Plus Jakarta Sans ExtraBold"/>
                <a:sym typeface="Plus Jakarta Sans ExtraBold"/>
              </a:rPr>
              <a:t>Objetivos de la Sesión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30" name="Google Shape;230;p36"/>
          <p:cNvSpPr txBox="1"/>
          <p:nvPr/>
        </p:nvSpPr>
        <p:spPr>
          <a:xfrm>
            <a:off x="855345" y="4450080"/>
            <a:ext cx="10272395"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8F2E8"/>
                </a:solidFill>
                <a:latin typeface="Plus Jakarta Sans ExtraBold"/>
                <a:ea typeface="Plus Jakarta Sans ExtraBold"/>
                <a:cs typeface="Plus Jakarta Sans ExtraBold"/>
                <a:sym typeface="Plus Jakarta Sans ExtraBold"/>
              </a:rPr>
              <a:t>La Línea del Tiempo (Evolución)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38"/>
          <p:cNvSpPr txBox="1"/>
          <p:nvPr/>
        </p:nvSpPr>
        <p:spPr>
          <a:xfrm>
            <a:off x="803200" y="61403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AR" altLang="en-US" sz="6400">
                <a:solidFill>
                  <a:srgbClr val="FF632B"/>
                </a:solidFill>
                <a:latin typeface="Plus Jakarta Sans ExtraBold"/>
                <a:ea typeface="Plus Jakarta Sans ExtraBold"/>
                <a:cs typeface="Plus Jakarta Sans ExtraBold"/>
                <a:sym typeface="Plus Jakarta Sans ExtraBold"/>
              </a:rPr>
              <a:t>Linea del tiempo</a:t>
            </a:r>
          </a:p>
        </p:txBody>
      </p:sp>
      <p:pic>
        <p:nvPicPr>
          <p:cNvPr id="2" name="Picture 1"/>
          <p:cNvPicPr/>
          <p:nvPr/>
        </p:nvPicPr>
        <p:blipFill>
          <a:blip r:embed="rId3"/>
          <a:stretch>
            <a:fillRect/>
          </a:stretch>
        </p:blipFill>
        <p:spPr>
          <a:xfrm>
            <a:off x="1506855" y="1734185"/>
            <a:ext cx="9178290" cy="4661535"/>
          </a:xfrm>
          <a:prstGeom prst="rect">
            <a:avLst/>
          </a:prstGeom>
        </p:spPr>
      </p:pic>
      <p:sp>
        <p:nvSpPr>
          <p:cNvPr id="3" name="Text Box 0"/>
          <p:cNvSpPr txBox="1"/>
          <p:nvPr/>
        </p:nvSpPr>
        <p:spPr>
          <a:xfrm>
            <a:off x="3048000" y="6395720"/>
            <a:ext cx="6096000" cy="368300"/>
          </a:xfrm>
          <a:prstGeom prst="rect">
            <a:avLst/>
          </a:prstGeom>
          <a:noFill/>
        </p:spPr>
        <p:txBody>
          <a:bodyPr wrap="square" rtlCol="0" anchor="t">
            <a:spAutoFit/>
          </a:bodyPr>
          <a:lstStyle/>
          <a:p>
            <a:r>
              <a:rPr lang="en-US" altLang="en-US"/>
              <a:t>https://www.youtube.com/watch?v=iMHQZPXLbyg</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38"/>
          <p:cNvSpPr txBox="1"/>
          <p:nvPr/>
        </p:nvSpPr>
        <p:spPr>
          <a:xfrm>
            <a:off x="803200" y="61403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6400">
                <a:solidFill>
                  <a:srgbClr val="FF632B"/>
                </a:solidFill>
                <a:latin typeface="Plus Jakarta Sans ExtraBold"/>
                <a:ea typeface="Plus Jakarta Sans ExtraBold"/>
                <a:cs typeface="Plus Jakarta Sans ExtraBold"/>
                <a:sym typeface="Plus Jakarta Sans ExtraBold"/>
              </a:rPr>
              <a:t>¿Qué es realmente Industria 4.0?</a:t>
            </a:r>
          </a:p>
        </p:txBody>
      </p:sp>
      <p:sp>
        <p:nvSpPr>
          <p:cNvPr id="241" name="Google Shape;241;p38"/>
          <p:cNvSpPr txBox="1"/>
          <p:nvPr/>
        </p:nvSpPr>
        <p:spPr>
          <a:xfrm>
            <a:off x="985433" y="3308567"/>
            <a:ext cx="10420800" cy="30260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1600" b="1">
                <a:solidFill>
                  <a:srgbClr val="171717"/>
                </a:solidFill>
                <a:latin typeface="Plus Jakarta Sans Light"/>
                <a:ea typeface="Plus Jakarta Sans Light"/>
                <a:cs typeface="Plus Jakarta Sans Light"/>
                <a:sym typeface="Plus Jakarta Sans Light"/>
              </a:rPr>
              <a:t>Concepto Central:</a:t>
            </a: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No es solo tecnología, es la integración de datos para crear valor.</a:t>
            </a:r>
          </a:p>
          <a:p>
            <a:pPr marL="0" lvl="0" indent="0" algn="l" rtl="0">
              <a:lnSpc>
                <a:spcPct val="115000"/>
              </a:lnSpc>
              <a:spcBef>
                <a:spcPts val="0"/>
              </a:spcBef>
              <a:spcAft>
                <a:spcPts val="0"/>
              </a:spcAft>
              <a:buNone/>
            </a:pPr>
            <a:endParaRPr lang="en-US" altLang="en-US" sz="16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1600" b="1">
                <a:solidFill>
                  <a:srgbClr val="171717"/>
                </a:solidFill>
                <a:latin typeface="Plus Jakarta Sans Light"/>
                <a:ea typeface="Plus Jakarta Sans Light"/>
                <a:cs typeface="Plus Jakarta Sans Light"/>
                <a:sym typeface="Plus Jakarta Sans Light"/>
              </a:rPr>
              <a:t>Definición: </a:t>
            </a: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Sistemas donde el mundo físico y el digital convergen (Sistemas Ciberfísicos).</a:t>
            </a:r>
          </a:p>
        </p:txBody>
      </p:sp>
      <p:pic>
        <p:nvPicPr>
          <p:cNvPr id="2" name="Picture 1"/>
          <p:cNvPicPr/>
          <p:nvPr/>
        </p:nvPicPr>
        <p:blipFill>
          <a:blip r:embed="rId3"/>
          <a:stretch>
            <a:fillRect/>
          </a:stretch>
        </p:blipFill>
        <p:spPr>
          <a:xfrm>
            <a:off x="9051925" y="4335780"/>
            <a:ext cx="2354580" cy="1242060"/>
          </a:xfrm>
          <a:prstGeom prst="rect">
            <a:avLst/>
          </a:prstGeom>
        </p:spPr>
      </p:pic>
      <p:pic>
        <p:nvPicPr>
          <p:cNvPr id="3" name="Picture 2"/>
          <p:cNvPicPr/>
          <p:nvPr/>
        </p:nvPicPr>
        <p:blipFill>
          <a:blip r:embed="rId4"/>
          <a:stretch>
            <a:fillRect/>
          </a:stretch>
        </p:blipFill>
        <p:spPr>
          <a:xfrm>
            <a:off x="4623435" y="5172710"/>
            <a:ext cx="2095499" cy="1394460"/>
          </a:xfrm>
          <a:prstGeom prst="rect">
            <a:avLst/>
          </a:prstGeom>
        </p:spPr>
      </p:pic>
      <p:pic>
        <p:nvPicPr>
          <p:cNvPr id="4" name="Picture 3"/>
          <p:cNvPicPr/>
          <p:nvPr/>
        </p:nvPicPr>
        <p:blipFill>
          <a:blip r:embed="rId5"/>
          <a:stretch>
            <a:fillRect/>
          </a:stretch>
        </p:blipFill>
        <p:spPr>
          <a:xfrm>
            <a:off x="8899525" y="1965960"/>
            <a:ext cx="2658745" cy="21602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378460" y="1927225"/>
            <a:ext cx="4148455" cy="3003550"/>
          </a:xfrm>
          <a:prstGeom prst="rect">
            <a:avLst/>
          </a:prstGeom>
        </p:spPr>
      </p:pic>
      <p:sp>
        <p:nvSpPr>
          <p:cNvPr id="242" name="Google Shape;242;p38"/>
          <p:cNvSpPr txBox="1"/>
          <p:nvPr/>
        </p:nvSpPr>
        <p:spPr>
          <a:xfrm>
            <a:off x="803200" y="61403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AR" altLang="en-US" sz="6400">
                <a:solidFill>
                  <a:srgbClr val="FF632B"/>
                </a:solidFill>
                <a:latin typeface="Plus Jakarta Sans ExtraBold"/>
                <a:ea typeface="Plus Jakarta Sans ExtraBold"/>
                <a:cs typeface="Plus Jakarta Sans ExtraBold"/>
                <a:sym typeface="Plus Jakarta Sans ExtraBold"/>
              </a:rPr>
              <a:t>Ejemplos Peajes </a:t>
            </a:r>
          </a:p>
        </p:txBody>
      </p:sp>
      <p:pic>
        <p:nvPicPr>
          <p:cNvPr id="3" name="Picture 2"/>
          <p:cNvPicPr/>
          <p:nvPr/>
        </p:nvPicPr>
        <p:blipFill>
          <a:blip r:embed="rId3"/>
          <a:stretch>
            <a:fillRect/>
          </a:stretch>
        </p:blipFill>
        <p:spPr>
          <a:xfrm>
            <a:off x="5893435" y="1864995"/>
            <a:ext cx="4728845" cy="30657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Google Shape;242;p38"/>
          <p:cNvSpPr txBox="1"/>
          <p:nvPr/>
        </p:nvSpPr>
        <p:spPr>
          <a:xfrm>
            <a:off x="803200" y="61403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AR" altLang="en-US" sz="6400">
                <a:solidFill>
                  <a:srgbClr val="FF632B"/>
                </a:solidFill>
                <a:latin typeface="Plus Jakarta Sans ExtraBold"/>
                <a:ea typeface="Plus Jakarta Sans ExtraBold"/>
                <a:cs typeface="Plus Jakarta Sans ExtraBold"/>
                <a:sym typeface="Plus Jakarta Sans ExtraBold"/>
              </a:rPr>
              <a:t>Ejemplos Salud</a:t>
            </a:r>
          </a:p>
        </p:txBody>
      </p:sp>
      <p:pic>
        <p:nvPicPr>
          <p:cNvPr id="4" name="Picture 3"/>
          <p:cNvPicPr/>
          <p:nvPr/>
        </p:nvPicPr>
        <p:blipFill>
          <a:blip r:embed="rId2"/>
          <a:stretch>
            <a:fillRect/>
          </a:stretch>
        </p:blipFill>
        <p:spPr>
          <a:xfrm>
            <a:off x="353695" y="1906270"/>
            <a:ext cx="5681980" cy="3545840"/>
          </a:xfrm>
          <a:prstGeom prst="rect">
            <a:avLst/>
          </a:prstGeom>
        </p:spPr>
      </p:pic>
      <p:pic>
        <p:nvPicPr>
          <p:cNvPr id="7" name="Picture 6"/>
          <p:cNvPicPr/>
          <p:nvPr/>
        </p:nvPicPr>
        <p:blipFill>
          <a:blip r:embed="rId3"/>
          <a:stretch>
            <a:fillRect/>
          </a:stretch>
        </p:blipFill>
        <p:spPr>
          <a:xfrm>
            <a:off x="6475095" y="2010410"/>
            <a:ext cx="5332730" cy="33369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Google Shape;242;p38"/>
          <p:cNvSpPr txBox="1"/>
          <p:nvPr/>
        </p:nvSpPr>
        <p:spPr>
          <a:xfrm>
            <a:off x="803200" y="61403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AR" altLang="en-US" sz="6400">
                <a:solidFill>
                  <a:srgbClr val="FF632B"/>
                </a:solidFill>
                <a:latin typeface="Plus Jakarta Sans ExtraBold"/>
                <a:ea typeface="Plus Jakarta Sans ExtraBold"/>
                <a:cs typeface="Plus Jakarta Sans ExtraBold"/>
                <a:sym typeface="Plus Jakarta Sans ExtraBold"/>
              </a:rPr>
              <a:t>Ejemplos industria</a:t>
            </a:r>
          </a:p>
        </p:txBody>
      </p:sp>
      <p:sp>
        <p:nvSpPr>
          <p:cNvPr id="2" name="Text Box 1"/>
          <p:cNvSpPr txBox="1"/>
          <p:nvPr/>
        </p:nvSpPr>
        <p:spPr>
          <a:xfrm>
            <a:off x="1132205" y="2468880"/>
            <a:ext cx="6096000" cy="1476375"/>
          </a:xfrm>
          <a:prstGeom prst="rect">
            <a:avLst/>
          </a:prstGeom>
          <a:noFill/>
        </p:spPr>
        <p:txBody>
          <a:bodyPr wrap="square" rtlCol="0" anchor="t">
            <a:spAutoFit/>
          </a:bodyPr>
          <a:lstStyle/>
          <a:p>
            <a:r>
              <a:rPr lang="es-AR" altLang="en-US"/>
              <a:t>Correo Argentino</a:t>
            </a:r>
            <a:endParaRPr lang="en-US" altLang="en-US"/>
          </a:p>
          <a:p>
            <a:r>
              <a:rPr lang="en-US" altLang="en-US"/>
              <a:t>https://www.youtube.com/watch?v=JIqs3uQlg3w</a:t>
            </a:r>
          </a:p>
          <a:p>
            <a:endParaRPr lang="en-US"/>
          </a:p>
          <a:p>
            <a:r>
              <a:rPr lang="es-AR" altLang="en-US"/>
              <a:t>Granjas Robotizadas	</a:t>
            </a:r>
            <a:endParaRPr lang="en-US"/>
          </a:p>
          <a:p>
            <a:r>
              <a:rPr lang="en-US" altLang="en-US"/>
              <a:t>https://www.youtube.com/watch?v=t2MuKqlnnpU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9"/>
          <p:cNvSpPr txBox="1"/>
          <p:nvPr/>
        </p:nvSpPr>
        <p:spPr>
          <a:xfrm>
            <a:off x="985520" y="1462405"/>
            <a:ext cx="5746750" cy="4966970"/>
          </a:xfrm>
          <a:prstGeom prst="rect">
            <a:avLst/>
          </a:prstGeom>
          <a:noFill/>
          <a:ln>
            <a:noFill/>
          </a:ln>
        </p:spPr>
        <p:txBody>
          <a:bodyPr spcFirstLastPara="1" wrap="square" lIns="121900" tIns="121900" rIns="121900" bIns="121900" anchor="t" anchorCtr="0">
            <a:noAutofit/>
          </a:bodyPr>
          <a:lstStyle/>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Big Data / Analítica.</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Robots Autónomos.</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Simulación (Digital Twins).</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Sistemas de Integración (Horizontal/Vertical).</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IoT (Internet de las Cosas).</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Ciberseguridad.</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Cloud Computing.</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Manufactura Aditiva (3D).</a:t>
            </a:r>
          </a:p>
          <a:p>
            <a:pPr marL="342900" lvl="0" indent="-342900" algn="l" rtl="0">
              <a:lnSpc>
                <a:spcPct val="115000"/>
              </a:lnSpc>
              <a:spcBef>
                <a:spcPts val="0"/>
              </a:spcBef>
              <a:spcAft>
                <a:spcPts val="0"/>
              </a:spcAft>
              <a:buAutoNum type="arabicPeriod"/>
            </a:pPr>
            <a:endParaRPr lang="en-US" altLang="en-US" sz="1600">
              <a:solidFill>
                <a:srgbClr val="171717"/>
              </a:solidFill>
              <a:latin typeface="Plus Jakarta Sans Light"/>
              <a:ea typeface="Plus Jakarta Sans Light"/>
              <a:cs typeface="Plus Jakarta Sans Light"/>
              <a:sym typeface="Plus Jakarta Sans Light"/>
            </a:endParaRPr>
          </a:p>
          <a:p>
            <a:pPr marL="342900" lvl="0" indent="-342900" algn="l" rtl="0">
              <a:lnSpc>
                <a:spcPct val="115000"/>
              </a:lnSpc>
              <a:spcBef>
                <a:spcPts val="0"/>
              </a:spcBef>
              <a:spcAft>
                <a:spcPts val="0"/>
              </a:spcAft>
              <a:buAutoNum type="arabicPeriod"/>
            </a:pPr>
            <a:r>
              <a:rPr lang="en-US" altLang="en-US" sz="1600">
                <a:solidFill>
                  <a:srgbClr val="171717"/>
                </a:solidFill>
                <a:latin typeface="Plus Jakarta Sans Light"/>
                <a:ea typeface="Plus Jakarta Sans Light"/>
                <a:cs typeface="Plus Jakarta Sans Light"/>
                <a:sym typeface="Plus Jakarta Sans Light"/>
              </a:rPr>
              <a:t>Realidad Aumentada.</a:t>
            </a:r>
            <a:endParaRPr sz="1600">
              <a:solidFill>
                <a:srgbClr val="171717"/>
              </a:solidFill>
              <a:latin typeface="Plus Jakarta Sans Light"/>
              <a:ea typeface="Plus Jakarta Sans Light"/>
              <a:cs typeface="Plus Jakarta Sans Light"/>
              <a:sym typeface="Plus Jakarta Sans Light"/>
            </a:endParaRPr>
          </a:p>
        </p:txBody>
      </p:sp>
      <p:sp>
        <p:nvSpPr>
          <p:cNvPr id="249" name="Google Shape;249;p39"/>
          <p:cNvSpPr txBox="1"/>
          <p:nvPr/>
        </p:nvSpPr>
        <p:spPr>
          <a:xfrm>
            <a:off x="230505" y="444500"/>
            <a:ext cx="9825990"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000">
                <a:solidFill>
                  <a:srgbClr val="FF632B"/>
                </a:solidFill>
                <a:latin typeface="Plus Jakarta Sans ExtraBold"/>
                <a:ea typeface="Plus Jakarta Sans ExtraBold"/>
                <a:cs typeface="Plus Jakarta Sans ExtraBold"/>
                <a:sym typeface="Plus Jakarta Sans ExtraBold"/>
              </a:rPr>
              <a:t>Los 9 Pilares Tecnológicos</a:t>
            </a:r>
          </a:p>
        </p:txBody>
      </p:sp>
      <p:sp>
        <p:nvSpPr>
          <p:cNvPr id="251" name="Google Shape;251;p39"/>
          <p:cNvSpPr/>
          <p:nvPr/>
        </p:nvSpPr>
        <p:spPr>
          <a:xfrm>
            <a:off x="7488555" y="0"/>
            <a:ext cx="4709160" cy="6878955"/>
          </a:xfrm>
          <a:prstGeom prst="rect">
            <a:avLst/>
          </a:prstGeom>
          <a:solidFill>
            <a:schemeClr val="lt2"/>
          </a:solidFill>
          <a:ln>
            <a:noFill/>
          </a:ln>
        </p:spPr>
        <p:txBody>
          <a:bodyPr spcFirstLastPara="1" wrap="square" lIns="121900" tIns="121900" rIns="121900" bIns="121900" anchor="ctr" anchorCtr="0">
            <a:noAutofit/>
          </a:bodyPr>
          <a:lstStyle/>
          <a:p>
            <a:pPr marL="0" lvl="0" indent="0" algn="ctr" rtl="0">
              <a:spcBef>
                <a:spcPts val="0"/>
              </a:spcBef>
              <a:spcAft>
                <a:spcPts val="0"/>
              </a:spcAft>
              <a:buNone/>
            </a:pPr>
            <a:r>
              <a:rPr lang="en-US" sz="2400"/>
              <a:t>ESPACIO PARA IMAGEN</a:t>
            </a:r>
          </a:p>
        </p:txBody>
      </p:sp>
      <p:pic>
        <p:nvPicPr>
          <p:cNvPr id="2" name="Picture 1"/>
          <p:cNvPicPr/>
          <p:nvPr/>
        </p:nvPicPr>
        <p:blipFill>
          <a:blip r:embed="rId3"/>
          <a:stretch>
            <a:fillRect/>
          </a:stretch>
        </p:blipFill>
        <p:spPr>
          <a:xfrm>
            <a:off x="7898130" y="1156335"/>
            <a:ext cx="3889375" cy="439737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38"/>
          <p:cNvSpPr txBox="1"/>
          <p:nvPr/>
        </p:nvSpPr>
        <p:spPr>
          <a:xfrm>
            <a:off x="803200" y="61403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400">
                <a:solidFill>
                  <a:srgbClr val="FF632B"/>
                </a:solidFill>
                <a:latin typeface="Plus Jakarta Sans ExtraBold"/>
                <a:ea typeface="Plus Jakarta Sans ExtraBold"/>
                <a:cs typeface="Plus Jakarta Sans ExtraBold"/>
                <a:sym typeface="Plus Jakarta Sans ExtraBold"/>
              </a:rPr>
              <a:t>Actividad 1: Discusión sobre Revoluciones Industriales</a:t>
            </a:r>
          </a:p>
          <a:p>
            <a:pPr marL="0" lvl="0" indent="0" algn="l" rtl="0">
              <a:spcBef>
                <a:spcPts val="0"/>
              </a:spcBef>
              <a:spcAft>
                <a:spcPts val="0"/>
              </a:spcAft>
              <a:buNone/>
            </a:pPr>
            <a:endParaRPr lang="en-US" altLang="en-US" sz="4400">
              <a:solidFill>
                <a:srgbClr val="FF632B"/>
              </a:solidFill>
              <a:latin typeface="Plus Jakarta Sans ExtraBold"/>
              <a:ea typeface="Plus Jakarta Sans ExtraBold"/>
              <a:cs typeface="Plus Jakarta Sans ExtraBold"/>
              <a:sym typeface="Plus Jakarta Sans ExtraBold"/>
            </a:endParaRPr>
          </a:p>
        </p:txBody>
      </p:sp>
      <p:sp>
        <p:nvSpPr>
          <p:cNvPr id="241" name="Google Shape;241;p38"/>
          <p:cNvSpPr txBox="1"/>
          <p:nvPr/>
        </p:nvSpPr>
        <p:spPr>
          <a:xfrm>
            <a:off x="803188" y="2077937"/>
            <a:ext cx="10420800" cy="302600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Actividad 1: Discusión sobre Revoluciones Industriales</a:t>
            </a: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Objetivo: Identificar el cambio de paradigma.</a:t>
            </a:r>
          </a:p>
          <a:p>
            <a:pPr marL="0" lvl="0" indent="0" algn="l" rtl="0">
              <a:lnSpc>
                <a:spcPct val="115000"/>
              </a:lnSpc>
              <a:spcBef>
                <a:spcPts val="0"/>
              </a:spcBef>
              <a:spcAft>
                <a:spcPts val="0"/>
              </a:spcAft>
              <a:buNone/>
            </a:pPr>
            <a:endParaRPr lang="en-US" altLang="en-US" sz="16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endParaRPr lang="en-US" altLang="en-US" sz="16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1ra (Vapor): </a:t>
            </a:r>
          </a:p>
          <a:p>
            <a:pPr marL="0" lvl="0" indent="0" algn="l" rtl="0">
              <a:lnSpc>
                <a:spcPct val="115000"/>
              </a:lnSpc>
              <a:spcBef>
                <a:spcPts val="0"/>
              </a:spcBef>
              <a:spcAft>
                <a:spcPts val="0"/>
              </a:spcAft>
              <a:buNone/>
            </a:pPr>
            <a:endParaRPr lang="en-US" altLang="en-US" sz="16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2da (Electricidad): </a:t>
            </a:r>
          </a:p>
          <a:p>
            <a:pPr marL="0" lvl="0" indent="0" algn="l" rtl="0">
              <a:lnSpc>
                <a:spcPct val="115000"/>
              </a:lnSpc>
              <a:spcBef>
                <a:spcPts val="0"/>
              </a:spcBef>
              <a:spcAft>
                <a:spcPts val="0"/>
              </a:spcAft>
              <a:buNone/>
            </a:pPr>
            <a:endParaRPr lang="en-US" altLang="en-US" sz="16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3ra (Informática):</a:t>
            </a: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 </a:t>
            </a:r>
          </a:p>
          <a:p>
            <a:pPr marL="0" lvl="0" indent="0" algn="l" rtl="0">
              <a:lnSpc>
                <a:spcPct val="115000"/>
              </a:lnSpc>
              <a:spcBef>
                <a:spcPts val="0"/>
              </a:spcBef>
              <a:spcAft>
                <a:spcPts val="0"/>
              </a:spcAft>
              <a:buNone/>
            </a:pPr>
            <a:r>
              <a:rPr lang="en-US" altLang="en-US" sz="1600">
                <a:solidFill>
                  <a:srgbClr val="171717"/>
                </a:solidFill>
                <a:latin typeface="Plus Jakarta Sans Light"/>
                <a:ea typeface="Plus Jakarta Sans Light"/>
                <a:cs typeface="Plus Jakarta Sans Light"/>
                <a:sym typeface="Plus Jakarta Sans Light"/>
              </a:rPr>
              <a:t>4ta (Digital):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5430520"/>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2000">
                <a:solidFill>
                  <a:srgbClr val="171717"/>
                </a:solidFill>
                <a:latin typeface="Plus Jakarta Sans Light"/>
                <a:ea typeface="Plus Jakarta Sans Light"/>
                <a:cs typeface="Plus Jakarta Sans Light"/>
                <a:sym typeface="Plus Jakarta Sans Light"/>
              </a:rPr>
              <a:t>"Los datos son el nuevo petróleo, pero la analítica es el motor que los procesa"</a:t>
            </a:r>
          </a:p>
        </p:txBody>
      </p:sp>
      <p:sp>
        <p:nvSpPr>
          <p:cNvPr id="242" name="Google Shape;242;p38"/>
          <p:cNvSpPr txBox="1"/>
          <p:nvPr/>
        </p:nvSpPr>
        <p:spPr>
          <a:xfrm>
            <a:off x="803200" y="87946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El Corazón del Cambio: Datos e IoT</a:t>
            </a:r>
          </a:p>
        </p:txBody>
      </p:sp>
      <p:pic>
        <p:nvPicPr>
          <p:cNvPr id="4" name="Picture 3"/>
          <p:cNvPicPr/>
          <p:nvPr/>
        </p:nvPicPr>
        <p:blipFill>
          <a:blip r:embed="rId3"/>
          <a:stretch>
            <a:fillRect/>
          </a:stretch>
        </p:blipFill>
        <p:spPr>
          <a:xfrm>
            <a:off x="2522855" y="2472055"/>
            <a:ext cx="6427470" cy="2958465"/>
          </a:xfrm>
          <a:prstGeom prst="rect">
            <a:avLst/>
          </a:prstGeom>
        </p:spPr>
      </p:pic>
      <p:sp>
        <p:nvSpPr>
          <p:cNvPr id="5" name="Rectangles 4"/>
          <p:cNvSpPr/>
          <p:nvPr/>
        </p:nvSpPr>
        <p:spPr>
          <a:xfrm>
            <a:off x="5336540" y="2534920"/>
            <a:ext cx="1273175" cy="573405"/>
          </a:xfrm>
          <a:prstGeom prst="rect">
            <a:avLst/>
          </a:prstGeom>
          <a:solidFill>
            <a:schemeClr val="bg1"/>
          </a:solidFill>
          <a:ln>
            <a:noFill/>
          </a:ln>
        </p:spPr>
        <p:style>
          <a:lnRef idx="2">
            <a:schemeClr val="accent1"/>
          </a:lnRef>
          <a:fillRef idx="0">
            <a:srgbClr val="FFFFFF"/>
          </a:fillRef>
          <a:effectRef idx="0">
            <a:srgbClr val="FFFFFF"/>
          </a:effectRef>
          <a:fontRef idx="minor">
            <a:schemeClr val="tx1"/>
          </a:fontRef>
        </p:style>
        <p:txBody>
          <a:bodyPr rtlCol="0" anchor="ctr"/>
          <a:lstStyle/>
          <a:p>
            <a:pPr algn="ct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2775585"/>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2400">
                <a:solidFill>
                  <a:srgbClr val="171717"/>
                </a:solidFill>
                <a:latin typeface="Plus Jakarta Sans Light"/>
                <a:ea typeface="Plus Jakarta Sans Light"/>
                <a:cs typeface="Plus Jakarta Sans Light"/>
                <a:sym typeface="Plus Jakarta Sans Light"/>
              </a:rPr>
              <a:t>¿Cómo impactan estas tecnologías en tu entorno laboral actual?</a:t>
            </a:r>
          </a:p>
        </p:txBody>
      </p:sp>
      <p:sp>
        <p:nvSpPr>
          <p:cNvPr id="242" name="Google Shape;242;p38"/>
          <p:cNvSpPr txBox="1"/>
          <p:nvPr/>
        </p:nvSpPr>
        <p:spPr>
          <a:xfrm>
            <a:off x="803200" y="87946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Pausa Activa y Reflexión</a:t>
            </a:r>
          </a:p>
        </p:txBody>
      </p:sp>
      <p:pic>
        <p:nvPicPr>
          <p:cNvPr id="2" name="Picture 1"/>
          <p:cNvPicPr>
            <a:picLocks noChangeAspect="1"/>
          </p:cNvPicPr>
          <p:nvPr/>
        </p:nvPicPr>
        <p:blipFill>
          <a:blip r:embed="rId3"/>
          <a:stretch>
            <a:fillRect/>
          </a:stretch>
        </p:blipFill>
        <p:spPr>
          <a:xfrm>
            <a:off x="3925570" y="4655820"/>
            <a:ext cx="824230" cy="824230"/>
          </a:xfrm>
          <a:prstGeom prst="rect">
            <a:avLst/>
          </a:prstGeom>
        </p:spPr>
      </p:pic>
      <p:pic>
        <p:nvPicPr>
          <p:cNvPr id="3" name="Picture 2"/>
          <p:cNvPicPr>
            <a:picLocks noChangeAspect="1"/>
          </p:cNvPicPr>
          <p:nvPr/>
        </p:nvPicPr>
        <p:blipFill>
          <a:blip r:embed="rId4"/>
          <a:stretch>
            <a:fillRect/>
          </a:stretch>
        </p:blipFill>
        <p:spPr>
          <a:xfrm>
            <a:off x="6669405" y="4581525"/>
            <a:ext cx="898525" cy="898525"/>
          </a:xfrm>
          <a:prstGeom prst="rect">
            <a:avLst/>
          </a:prstGeom>
        </p:spPr>
      </p:pic>
      <p:cxnSp>
        <p:nvCxnSpPr>
          <p:cNvPr id="6" name="Straight Connector 5"/>
          <p:cNvCxnSpPr/>
          <p:nvPr/>
        </p:nvCxnSpPr>
        <p:spPr>
          <a:xfrm>
            <a:off x="5728970" y="4155440"/>
            <a:ext cx="0" cy="1612900"/>
          </a:xfrm>
          <a:prstGeom prst="line">
            <a:avLst/>
          </a:prstGeom>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2775585"/>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2400">
                <a:solidFill>
                  <a:srgbClr val="171717"/>
                </a:solidFill>
                <a:latin typeface="Plus Jakarta Sans Light"/>
                <a:ea typeface="Plus Jakarta Sans Light"/>
                <a:cs typeface="Plus Jakarta Sans Light"/>
                <a:sym typeface="Plus Jakarta Sans Light"/>
              </a:rPr>
              <a:t>Título del Caso: Optimización mediante IoT y Mantenimiento Predictivo.</a:t>
            </a:r>
          </a:p>
          <a:p>
            <a:pPr marL="0" lvl="0" indent="0" algn="l" rtl="0">
              <a:lnSpc>
                <a:spcPct val="115000"/>
              </a:lnSpc>
              <a:spcBef>
                <a:spcPts val="0"/>
              </a:spcBef>
              <a:spcAft>
                <a:spcPts val="0"/>
              </a:spcAft>
              <a:buNone/>
            </a:pPr>
            <a:endParaRPr lang="en-US" altLang="en-US" sz="24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2400">
                <a:solidFill>
                  <a:srgbClr val="171717"/>
                </a:solidFill>
                <a:latin typeface="Plus Jakarta Sans Light"/>
                <a:ea typeface="Plus Jakarta Sans Light"/>
                <a:cs typeface="Plus Jakarta Sans Light"/>
                <a:sym typeface="Plus Jakarta Sans Light"/>
              </a:rPr>
              <a:t>Problema: Tiempos muertos en producción.</a:t>
            </a:r>
          </a:p>
          <a:p>
            <a:pPr marL="0" lvl="0" indent="0" algn="l" rtl="0">
              <a:lnSpc>
                <a:spcPct val="115000"/>
              </a:lnSpc>
              <a:spcBef>
                <a:spcPts val="0"/>
              </a:spcBef>
              <a:spcAft>
                <a:spcPts val="0"/>
              </a:spcAft>
              <a:buNone/>
            </a:pPr>
            <a:endParaRPr lang="en-US" altLang="en-US" sz="24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2400">
                <a:solidFill>
                  <a:srgbClr val="171717"/>
                </a:solidFill>
                <a:latin typeface="Plus Jakarta Sans Light"/>
                <a:ea typeface="Plus Jakarta Sans Light"/>
                <a:cs typeface="Plus Jakarta Sans Light"/>
                <a:sym typeface="Plus Jakarta Sans Light"/>
              </a:rPr>
              <a:t>Solución: Sensores en tiempo real y modelos de predicción.</a:t>
            </a:r>
          </a:p>
          <a:p>
            <a:pPr marL="0" lvl="0" indent="0" algn="l" rtl="0">
              <a:lnSpc>
                <a:spcPct val="115000"/>
              </a:lnSpc>
              <a:spcBef>
                <a:spcPts val="0"/>
              </a:spcBef>
              <a:spcAft>
                <a:spcPts val="0"/>
              </a:spcAft>
              <a:buNone/>
            </a:pPr>
            <a:endParaRPr lang="en-US" altLang="en-US" sz="24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2400">
                <a:solidFill>
                  <a:srgbClr val="171717"/>
                </a:solidFill>
                <a:latin typeface="Plus Jakarta Sans Light"/>
                <a:ea typeface="Plus Jakarta Sans Light"/>
                <a:cs typeface="Plus Jakarta Sans Light"/>
                <a:sym typeface="Plus Jakarta Sans Light"/>
              </a:rPr>
              <a:t>Resultado: Reducción de costos operativos y eficiencia energética.</a:t>
            </a:r>
          </a:p>
        </p:txBody>
      </p:sp>
      <p:sp>
        <p:nvSpPr>
          <p:cNvPr id="242" name="Google Shape;242;p38"/>
          <p:cNvSpPr txBox="1"/>
          <p:nvPr/>
        </p:nvSpPr>
        <p:spPr>
          <a:xfrm>
            <a:off x="803200" y="879467"/>
            <a:ext cx="8617200" cy="112040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Análisis de Caso Real (Práctica)</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2160270"/>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sz="2000">
                <a:solidFill>
                  <a:srgbClr val="171717"/>
                </a:solidFill>
                <a:latin typeface="Plus Jakarta Sans Light"/>
                <a:ea typeface="Plus Jakarta Sans Light"/>
                <a:cs typeface="Plus Jakarta Sans Light"/>
                <a:sym typeface="Plus Jakarta Sans Light"/>
              </a:rPr>
              <a:t>Escenario: Una planta embotelladora pierde 15% de su producción por paradas inesperadas en la cinta transportadora.</a:t>
            </a:r>
          </a:p>
          <a:p>
            <a:pPr marL="0" lvl="0" indent="0" algn="l" rtl="0">
              <a:lnSpc>
                <a:spcPct val="115000"/>
              </a:lnSpc>
              <a:spcBef>
                <a:spcPts val="0"/>
              </a:spcBef>
              <a:spcAft>
                <a:spcPts val="0"/>
              </a:spcAft>
              <a:buNone/>
            </a:pPr>
            <a:endParaRPr lang="en-US" altLang="en-US" sz="20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2000">
                <a:solidFill>
                  <a:srgbClr val="171717"/>
                </a:solidFill>
                <a:latin typeface="Plus Jakarta Sans Light"/>
                <a:ea typeface="Plus Jakarta Sans Light"/>
                <a:cs typeface="Plus Jakarta Sans Light"/>
                <a:sym typeface="Plus Jakarta Sans Light"/>
              </a:rPr>
              <a:t>Solución IoT: Instalación de sensores de vibración y temperatura en los motores.</a:t>
            </a:r>
          </a:p>
          <a:p>
            <a:pPr marL="0" lvl="0" indent="0" algn="l" rtl="0">
              <a:lnSpc>
                <a:spcPct val="115000"/>
              </a:lnSpc>
              <a:spcBef>
                <a:spcPts val="0"/>
              </a:spcBef>
              <a:spcAft>
                <a:spcPts val="0"/>
              </a:spcAft>
              <a:buNone/>
            </a:pPr>
            <a:endParaRPr lang="en-US" altLang="en-US" sz="20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2000">
                <a:solidFill>
                  <a:srgbClr val="171717"/>
                </a:solidFill>
                <a:latin typeface="Plus Jakarta Sans Light"/>
                <a:ea typeface="Plus Jakarta Sans Light"/>
                <a:cs typeface="Plus Jakarta Sans Light"/>
                <a:sym typeface="Plus Jakarta Sans Light"/>
              </a:rPr>
              <a:t>Uso de Datos: Los datos se envían a la nube (Cloud) y un algoritmo de IA predice fallos 48 horas antes de que ocurran.</a:t>
            </a:r>
          </a:p>
          <a:p>
            <a:pPr marL="0" lvl="0" indent="0" algn="l" rtl="0">
              <a:lnSpc>
                <a:spcPct val="115000"/>
              </a:lnSpc>
              <a:spcBef>
                <a:spcPts val="0"/>
              </a:spcBef>
              <a:spcAft>
                <a:spcPts val="0"/>
              </a:spcAft>
              <a:buNone/>
            </a:pPr>
            <a:endParaRPr lang="en-US" altLang="en-US" sz="2000">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sz="2000">
                <a:solidFill>
                  <a:srgbClr val="171717"/>
                </a:solidFill>
                <a:latin typeface="Plus Jakarta Sans Light"/>
                <a:ea typeface="Plus Jakarta Sans Light"/>
                <a:cs typeface="Plus Jakarta Sans Light"/>
                <a:sym typeface="Plus Jakarta Sans Light"/>
              </a:rPr>
              <a:t>¿Qué es más barato: cambiar un rodamiento de $50 hoy o detener la planta 5 horas mañana?</a:t>
            </a:r>
          </a:p>
        </p:txBody>
      </p:sp>
      <p:sp>
        <p:nvSpPr>
          <p:cNvPr id="242" name="Google Shape;242;p38"/>
          <p:cNvSpPr txBox="1"/>
          <p:nvPr/>
        </p:nvSpPr>
        <p:spPr>
          <a:xfrm>
            <a:off x="538480" y="879475"/>
            <a:ext cx="8881745"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s-AR" altLang="en-US" sz="4800">
                <a:solidFill>
                  <a:srgbClr val="FF632B"/>
                </a:solidFill>
                <a:latin typeface="Plus Jakarta Sans ExtraBold"/>
                <a:ea typeface="Plus Jakarta Sans ExtraBold"/>
                <a:cs typeface="Plus Jakarta Sans ExtraBold"/>
                <a:sym typeface="Plus Jakarta Sans ExtraBold"/>
              </a:rPr>
              <a:t>Otro</a:t>
            </a:r>
            <a:r>
              <a:rPr lang="en-US" altLang="en-US" sz="4800">
                <a:solidFill>
                  <a:srgbClr val="FF632B"/>
                </a:solidFill>
                <a:latin typeface="Plus Jakarta Sans ExtraBold"/>
                <a:ea typeface="Plus Jakarta Sans ExtraBold"/>
                <a:cs typeface="Plus Jakarta Sans ExtraBold"/>
                <a:sym typeface="Plus Jakarta Sans ExtraBold"/>
              </a:rPr>
              <a:t> Caso Real (Práctica)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2171065"/>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Instrucciones:</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Identificar un proceso ineficiente.</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Seleccionar 1 o 2 tecnologías </a:t>
            </a:r>
            <a:r>
              <a:rPr lang="es-AR" altLang="en-US">
                <a:solidFill>
                  <a:srgbClr val="171717"/>
                </a:solidFill>
                <a:latin typeface="Plus Jakarta Sans Light"/>
                <a:ea typeface="Plus Jakarta Sans Light"/>
                <a:cs typeface="Plus Jakarta Sans Light"/>
                <a:sym typeface="Plus Jakarta Sans Light"/>
              </a:rPr>
              <a:t>pilares tecnologicos</a:t>
            </a:r>
            <a:r>
              <a:rPr lang="en-US" altLang="en-US">
                <a:solidFill>
                  <a:srgbClr val="171717"/>
                </a:solidFill>
                <a:latin typeface="Plus Jakarta Sans Light"/>
                <a:ea typeface="Plus Jakarta Sans Light"/>
                <a:cs typeface="Plus Jakarta Sans Light"/>
                <a:sym typeface="Plus Jakarta Sans Light"/>
              </a:rPr>
              <a:t>.</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Definir el KPI (métrica) que se va a mejorar con datos.</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Recurso: "Utilicen la plantilla proporcionada".</a:t>
            </a:r>
          </a:p>
        </p:txBody>
      </p:sp>
      <p:sp>
        <p:nvSpPr>
          <p:cNvPr id="242" name="Google Shape;242;p38"/>
          <p:cNvSpPr txBox="1"/>
          <p:nvPr/>
        </p:nvSpPr>
        <p:spPr>
          <a:xfrm>
            <a:off x="538480" y="550545"/>
            <a:ext cx="8881745"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Actividad Grupal: </a:t>
            </a:r>
          </a:p>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Diseño de Plan Ejecutivo</a:t>
            </a:r>
          </a:p>
        </p:txBody>
      </p:sp>
      <p:graphicFrame>
        <p:nvGraphicFramePr>
          <p:cNvPr id="2" name="Table 1"/>
          <p:cNvGraphicFramePr/>
          <p:nvPr>
            <p:custDataLst>
              <p:tags r:id="rId1"/>
            </p:custDataLst>
          </p:nvPr>
        </p:nvGraphicFramePr>
        <p:xfrm>
          <a:off x="1334770" y="5177155"/>
          <a:ext cx="9222740" cy="1376680"/>
        </p:xfrm>
        <a:graphic>
          <a:graphicData uri="http://schemas.openxmlformats.org/drawingml/2006/table">
            <a:tbl>
              <a:tblPr/>
              <a:tblGrid>
                <a:gridCol w="2263140">
                  <a:extLst>
                    <a:ext uri="{9D8B030D-6E8A-4147-A177-3AD203B41FA5}">
                      <a16:colId xmlns:a16="http://schemas.microsoft.com/office/drawing/2014/main" val="20000"/>
                    </a:ext>
                  </a:extLst>
                </a:gridCol>
                <a:gridCol w="6959600">
                  <a:extLst>
                    <a:ext uri="{9D8B030D-6E8A-4147-A177-3AD203B41FA5}">
                      <a16:colId xmlns:a16="http://schemas.microsoft.com/office/drawing/2014/main" val="20001"/>
                    </a:ext>
                  </a:extLst>
                </a:gridCol>
              </a:tblGrid>
              <a:tr h="247015">
                <a:tc>
                  <a:txBody>
                    <a:bodyPr/>
                    <a:lstStyle/>
                    <a:p>
                      <a:pPr>
                        <a:spcBef>
                          <a:spcPct val="0"/>
                        </a:spcBef>
                        <a:spcAft>
                          <a:spcPct val="0"/>
                        </a:spcAft>
                      </a:pPr>
                      <a:r>
                        <a:rPr sz="1100">
                          <a:latin typeface="Google Sans Text"/>
                          <a:ea typeface="Google Sans Text"/>
                        </a:rPr>
                        <a:t>Sección</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lstStyle/>
                    <a:p>
                      <a:pPr>
                        <a:spcBef>
                          <a:spcPct val="0"/>
                        </a:spcBef>
                        <a:spcAft>
                          <a:spcPct val="0"/>
                        </a:spcAft>
                      </a:pPr>
                      <a:r>
                        <a:rPr sz="1100">
                          <a:latin typeface="Google Sans Text"/>
                          <a:ea typeface="Google Sans Text"/>
                        </a:rPr>
                        <a:t>Contenido Sugerido</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extLst>
                  <a:ext uri="{0D108BD9-81ED-4DB2-BD59-A6C34878D82A}">
                    <a16:rowId xmlns:a16="http://schemas.microsoft.com/office/drawing/2014/main" val="10000"/>
                  </a:ext>
                </a:extLst>
              </a:tr>
              <a:tr h="247015">
                <a:tc>
                  <a:txBody>
                    <a:bodyPr/>
                    <a:lstStyle/>
                    <a:p>
                      <a:pPr>
                        <a:spcBef>
                          <a:spcPct val="0"/>
                        </a:spcBef>
                      </a:pPr>
                      <a:r>
                        <a:rPr sz="1100" b="1">
                          <a:latin typeface="Google Sans Text"/>
                          <a:ea typeface="Google Sans Text"/>
                        </a:rPr>
                        <a:t>Problema</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lstStyle/>
                    <a:p>
                      <a:pPr>
                        <a:spcBef>
                          <a:spcPct val="0"/>
                        </a:spcBef>
                      </a:pPr>
                      <a:r>
                        <a:rPr sz="1100">
                          <a:latin typeface="Google Sans Text"/>
                          <a:ea typeface="Google Sans Text"/>
                        </a:rPr>
                        <a:t>¿Qué proceso es ineficiente hoy? (ej. Logística, Calidad).</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extLst>
                  <a:ext uri="{0D108BD9-81ED-4DB2-BD59-A6C34878D82A}">
                    <a16:rowId xmlns:a16="http://schemas.microsoft.com/office/drawing/2014/main" val="10001"/>
                  </a:ext>
                </a:extLst>
              </a:tr>
              <a:tr h="246380">
                <a:tc>
                  <a:txBody>
                    <a:bodyPr/>
                    <a:lstStyle/>
                    <a:p>
                      <a:pPr>
                        <a:spcBef>
                          <a:spcPct val="0"/>
                        </a:spcBef>
                      </a:pPr>
                      <a:r>
                        <a:rPr sz="1100" b="1">
                          <a:latin typeface="Google Sans Text"/>
                          <a:ea typeface="Google Sans Text"/>
                        </a:rPr>
                        <a:t>Tecnología 4.0</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lstStyle/>
                    <a:p>
                      <a:pPr>
                        <a:spcBef>
                          <a:spcPct val="0"/>
                        </a:spcBef>
                      </a:pPr>
                      <a:r>
                        <a:rPr sz="1100">
                          <a:latin typeface="Google Sans Text"/>
                          <a:ea typeface="Google Sans Text"/>
                        </a:rPr>
                        <a:t>¿Qué usaremos? (ej. Sensores IoT + Dashboard en Power BI).</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extLst>
                  <a:ext uri="{0D108BD9-81ED-4DB2-BD59-A6C34878D82A}">
                    <a16:rowId xmlns:a16="http://schemas.microsoft.com/office/drawing/2014/main" val="10002"/>
                  </a:ext>
                </a:extLst>
              </a:tr>
              <a:tr h="389255">
                <a:tc>
                  <a:txBody>
                    <a:bodyPr/>
                    <a:lstStyle/>
                    <a:p>
                      <a:pPr>
                        <a:spcBef>
                          <a:spcPct val="0"/>
                        </a:spcBef>
                      </a:pPr>
                      <a:r>
                        <a:rPr sz="1100" b="1">
                          <a:latin typeface="Google Sans Text"/>
                          <a:ea typeface="Google Sans Text"/>
                        </a:rPr>
                        <a:t>Dato Crítico</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lstStyle/>
                    <a:p>
                      <a:pPr>
                        <a:spcBef>
                          <a:spcPct val="0"/>
                        </a:spcBef>
                      </a:pPr>
                      <a:r>
                        <a:rPr sz="1100">
                          <a:latin typeface="Google Sans Text"/>
                          <a:ea typeface="Google Sans Text"/>
                        </a:rPr>
                        <a:t>¿Qué métrica específica queremos mejorar? (ej. Reducir scrap en 10%).</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extLst>
                  <a:ext uri="{0D108BD9-81ED-4DB2-BD59-A6C34878D82A}">
                    <a16:rowId xmlns:a16="http://schemas.microsoft.com/office/drawing/2014/main" val="10003"/>
                  </a:ext>
                </a:extLst>
              </a:tr>
              <a:tr h="247015">
                <a:tc>
                  <a:txBody>
                    <a:bodyPr/>
                    <a:lstStyle/>
                    <a:p>
                      <a:pPr>
                        <a:spcBef>
                          <a:spcPct val="0"/>
                        </a:spcBef>
                      </a:pPr>
                      <a:r>
                        <a:rPr sz="1100" b="1">
                          <a:latin typeface="Google Sans Text"/>
                          <a:ea typeface="Google Sans Text"/>
                        </a:rPr>
                        <a:t>Impacto</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tc>
                  <a:txBody>
                    <a:bodyPr/>
                    <a:lstStyle/>
                    <a:p>
                      <a:pPr>
                        <a:spcBef>
                          <a:spcPct val="0"/>
                        </a:spcBef>
                      </a:pPr>
                      <a:r>
                        <a:rPr sz="1100">
                          <a:latin typeface="Google Sans Text"/>
                          <a:ea typeface="Google Sans Text"/>
                        </a:rPr>
                        <a:t>¿Cómo ayuda esto al negocio?</a:t>
                      </a:r>
                    </a:p>
                  </a:txBody>
                  <a:tcPr marL="0" marR="0" marT="0" marB="0" anchor="ctr">
                    <a:lnL w="7620" cap="flat" cmpd="sng">
                      <a:solidFill>
                        <a:srgbClr val="000000"/>
                      </a:solidFill>
                      <a:prstDash val="solid"/>
                      <a:headEnd type="none" w="med" len="med"/>
                      <a:tailEnd type="none" w="med" len="med"/>
                    </a:lnL>
                    <a:lnR w="7620" cap="flat" cmpd="sng">
                      <a:solidFill>
                        <a:srgbClr val="000000"/>
                      </a:solidFill>
                      <a:prstDash val="solid"/>
                      <a:headEnd type="none" w="med" len="med"/>
                      <a:tailEnd type="none" w="med" len="med"/>
                    </a:lnR>
                    <a:lnT w="7620" cap="flat" cmpd="sng">
                      <a:solidFill>
                        <a:srgbClr val="000000"/>
                      </a:solidFill>
                      <a:prstDash val="solid"/>
                      <a:headEnd type="none" w="med" len="med"/>
                      <a:tailEnd type="none" w="med" len="med"/>
                    </a:lnT>
                    <a:lnB w="7620" cap="flat" cmpd="sng">
                      <a:solidFill>
                        <a:srgbClr val="000000"/>
                      </a:solidFill>
                      <a:prstDash val="soli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2171065"/>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Proyecto: Control de calidad inteligente.</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Tecnología: Visión artificial + IA.</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Dato: </a:t>
            </a:r>
            <a:r>
              <a:rPr lang="es-AR" altLang="en-US">
                <a:solidFill>
                  <a:srgbClr val="171717"/>
                </a:solidFill>
                <a:latin typeface="Plus Jakarta Sans Light"/>
                <a:ea typeface="Plus Jakarta Sans Light"/>
                <a:cs typeface="Plus Jakarta Sans Light"/>
                <a:sym typeface="Plus Jakarta Sans Light"/>
              </a:rPr>
              <a:t>Precision basada en historicos aprendizaje</a:t>
            </a: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Valor: Reducción de devoluciones en un 20%.</a:t>
            </a:r>
          </a:p>
        </p:txBody>
      </p:sp>
      <p:sp>
        <p:nvSpPr>
          <p:cNvPr id="242" name="Google Shape;242;p38"/>
          <p:cNvSpPr txBox="1"/>
          <p:nvPr/>
        </p:nvSpPr>
        <p:spPr>
          <a:xfrm>
            <a:off x="538480" y="550545"/>
            <a:ext cx="8881745"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Ejemplo de Plan Data-Driven (Guía)</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350645" y="883920"/>
            <a:ext cx="6096000" cy="829945"/>
          </a:xfrm>
          <a:prstGeom prst="rect">
            <a:avLst/>
          </a:prstGeom>
          <a:noFill/>
        </p:spPr>
        <p:txBody>
          <a:bodyPr wrap="square" rtlCol="0" anchor="t">
            <a:spAutoFit/>
          </a:bodyPr>
          <a:lstStyle/>
          <a:p>
            <a:pPr marL="0" lvl="0" indent="0" algn="l" rtl="0">
              <a:spcBef>
                <a:spcPts val="0"/>
              </a:spcBef>
              <a:spcAft>
                <a:spcPts val="0"/>
              </a:spcAft>
              <a:buNone/>
            </a:pPr>
            <a:r>
              <a:rPr lang="es-AR" sz="4800">
                <a:solidFill>
                  <a:srgbClr val="FF632B"/>
                </a:solidFill>
                <a:latin typeface="Plus Jakarta Sans ExtraBold"/>
                <a:ea typeface="Plus Jakarta Sans ExtraBold"/>
                <a:cs typeface="Plus Jakarta Sans ExtraBold"/>
                <a:sym typeface="Plus Jakarta Sans ExtraBold"/>
              </a:rPr>
              <a:t>Fallo sensor</a:t>
            </a:r>
          </a:p>
        </p:txBody>
      </p:sp>
      <p:pic>
        <p:nvPicPr>
          <p:cNvPr id="4" name="Picture 3"/>
          <p:cNvPicPr>
            <a:picLocks noChangeAspect="1"/>
          </p:cNvPicPr>
          <p:nvPr/>
        </p:nvPicPr>
        <p:blipFill>
          <a:blip r:embed="rId2"/>
          <a:stretch>
            <a:fillRect/>
          </a:stretch>
        </p:blipFill>
        <p:spPr>
          <a:xfrm>
            <a:off x="2397760" y="2375535"/>
            <a:ext cx="8181975" cy="39528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8"/>
          <p:cNvSpPr txBox="1"/>
          <p:nvPr/>
        </p:nvSpPr>
        <p:spPr>
          <a:xfrm>
            <a:off x="985520" y="2171065"/>
            <a:ext cx="10420985" cy="1455420"/>
          </a:xfrm>
          <a:prstGeom prst="rect">
            <a:avLst/>
          </a:prstGeom>
          <a:noFill/>
          <a:ln>
            <a:noFill/>
          </a:ln>
        </p:spPr>
        <p:txBody>
          <a:bodyPr spcFirstLastPara="1" wrap="square" lIns="121900" tIns="121900" rIns="121900" bIns="121900" anchor="t" anchorCtr="0">
            <a:noAutofit/>
          </a:bodyPr>
          <a:lstStyle/>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La evolución es constante.</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La conectividad es la base de la 4.0.</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La cultura data-driven es necesaria para la transformación digital.</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r>
              <a:rPr lang="es-AR" altLang="en-US">
                <a:solidFill>
                  <a:srgbClr val="171717"/>
                </a:solidFill>
                <a:latin typeface="Plus Jakarta Sans Light"/>
                <a:ea typeface="Plus Jakarta Sans Light"/>
                <a:cs typeface="Plus Jakarta Sans Light"/>
                <a:sym typeface="Plus Jakarta Sans Light"/>
              </a:rPr>
              <a:t>Algo Mas de IA:</a:t>
            </a:r>
          </a:p>
          <a:p>
            <a:pPr marL="0" lvl="0" indent="0" algn="l" rtl="0">
              <a:lnSpc>
                <a:spcPct val="115000"/>
              </a:lnSpc>
              <a:spcBef>
                <a:spcPts val="0"/>
              </a:spcBef>
              <a:spcAft>
                <a:spcPts val="0"/>
              </a:spcAft>
              <a:buNone/>
            </a:pPr>
            <a:r>
              <a:rPr lang="en-US" altLang="en-US">
                <a:solidFill>
                  <a:srgbClr val="171717"/>
                </a:solidFill>
                <a:latin typeface="Plus Jakarta Sans Light"/>
                <a:ea typeface="Plus Jakarta Sans Light"/>
                <a:cs typeface="Plus Jakarta Sans Light"/>
                <a:sym typeface="Plus Jakarta Sans Light"/>
              </a:rPr>
              <a:t>https://www.youtube.com/shorts/pv_I4k4y8Z4</a:t>
            </a: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a:p>
            <a:pPr marL="0" lvl="0" indent="0" algn="l" rtl="0">
              <a:lnSpc>
                <a:spcPct val="115000"/>
              </a:lnSpc>
              <a:spcBef>
                <a:spcPts val="0"/>
              </a:spcBef>
              <a:spcAft>
                <a:spcPts val="0"/>
              </a:spcAft>
              <a:buNone/>
            </a:pPr>
            <a:endParaRPr lang="en-US" altLang="en-US">
              <a:solidFill>
                <a:srgbClr val="171717"/>
              </a:solidFill>
              <a:latin typeface="Plus Jakarta Sans Light"/>
              <a:ea typeface="Plus Jakarta Sans Light"/>
              <a:cs typeface="Plus Jakarta Sans Light"/>
              <a:sym typeface="Plus Jakarta Sans Light"/>
            </a:endParaRPr>
          </a:p>
        </p:txBody>
      </p:sp>
      <p:sp>
        <p:nvSpPr>
          <p:cNvPr id="242" name="Google Shape;242;p38"/>
          <p:cNvSpPr txBox="1"/>
          <p:nvPr/>
        </p:nvSpPr>
        <p:spPr>
          <a:xfrm>
            <a:off x="538480" y="550545"/>
            <a:ext cx="8881745" cy="1120140"/>
          </a:xfrm>
          <a:prstGeom prst="rect">
            <a:avLst/>
          </a:prstGeom>
          <a:noFill/>
          <a:ln>
            <a:noFill/>
          </a:ln>
        </p:spPr>
        <p:txBody>
          <a:bodyPr spcFirstLastPara="1" wrap="square" lIns="121900" tIns="121900" rIns="121900" bIns="121900" anchor="t" anchorCtr="0">
            <a:noAutofit/>
          </a:bodyPr>
          <a:lstStyle/>
          <a:p>
            <a:pPr marL="0" lvl="0" indent="0" algn="l" rtl="0">
              <a:spcBef>
                <a:spcPts val="0"/>
              </a:spcBef>
              <a:spcAft>
                <a:spcPts val="0"/>
              </a:spcAft>
              <a:buNone/>
            </a:pPr>
            <a:r>
              <a:rPr lang="en-US" altLang="en-US" sz="4800">
                <a:solidFill>
                  <a:srgbClr val="FF632B"/>
                </a:solidFill>
                <a:latin typeface="Plus Jakarta Sans ExtraBold"/>
                <a:ea typeface="Plus Jakarta Sans ExtraBold"/>
                <a:cs typeface="Plus Jakarta Sans ExtraBold"/>
                <a:sym typeface="Plus Jakarta Sans ExtraBold"/>
              </a:rPr>
              <a:t>Resumen:</a:t>
            </a:r>
          </a:p>
          <a:p>
            <a:pPr marL="0" lvl="0" indent="0" algn="l" rtl="0">
              <a:spcBef>
                <a:spcPts val="0"/>
              </a:spcBef>
              <a:spcAft>
                <a:spcPts val="0"/>
              </a:spcAft>
              <a:buNone/>
            </a:pPr>
            <a:endParaRPr lang="en-US" altLang="en-US" sz="4800">
              <a:solidFill>
                <a:srgbClr val="FF632B"/>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3"/>
          <p:cNvSpPr txBox="1"/>
          <p:nvPr/>
        </p:nvSpPr>
        <p:spPr>
          <a:xfrm>
            <a:off x="762000" y="2900233"/>
            <a:ext cx="8617200" cy="2000000"/>
          </a:xfrm>
          <a:prstGeom prst="rect">
            <a:avLst/>
          </a:prstGeom>
          <a:noFill/>
          <a:ln>
            <a:noFill/>
          </a:ln>
        </p:spPr>
        <p:txBody>
          <a:bodyPr spcFirstLastPara="1" wrap="square" lIns="121900" tIns="121900" rIns="121900" bIns="121900" anchor="t" anchorCtr="0">
            <a:noAutofit/>
          </a:bodyPr>
          <a:lstStyle/>
          <a:p>
            <a:pPr marL="0" lvl="0" indent="0" algn="l" rtl="0">
              <a:lnSpc>
                <a:spcPct val="70000"/>
              </a:lnSpc>
              <a:spcBef>
                <a:spcPts val="0"/>
              </a:spcBef>
              <a:spcAft>
                <a:spcPts val="0"/>
              </a:spcAft>
              <a:buNone/>
            </a:pPr>
            <a:r>
              <a:rPr lang="en-US" sz="8135">
                <a:solidFill>
                  <a:srgbClr val="260700"/>
                </a:solidFill>
                <a:latin typeface="Plus Jakarta Sans ExtraBold"/>
                <a:ea typeface="Plus Jakarta Sans ExtraBold"/>
                <a:cs typeface="Plus Jakarta Sans ExtraBold"/>
                <a:sym typeface="Plus Jakarta Sans ExtraBold"/>
              </a:rPr>
              <a:t>¡Muchas</a:t>
            </a:r>
            <a:endParaRPr sz="8135">
              <a:solidFill>
                <a:srgbClr val="260700"/>
              </a:solidFill>
              <a:latin typeface="Plus Jakarta Sans ExtraBold"/>
              <a:ea typeface="Plus Jakarta Sans ExtraBold"/>
              <a:cs typeface="Plus Jakarta Sans ExtraBold"/>
              <a:sym typeface="Plus Jakarta Sans ExtraBold"/>
            </a:endParaRPr>
          </a:p>
          <a:p>
            <a:pPr marL="0" lvl="0" indent="0" algn="l" rtl="0">
              <a:lnSpc>
                <a:spcPct val="70000"/>
              </a:lnSpc>
              <a:spcBef>
                <a:spcPts val="0"/>
              </a:spcBef>
              <a:spcAft>
                <a:spcPts val="0"/>
              </a:spcAft>
              <a:buNone/>
            </a:pPr>
            <a:r>
              <a:rPr lang="en-US" sz="8135">
                <a:solidFill>
                  <a:srgbClr val="260700"/>
                </a:solidFill>
                <a:latin typeface="Plus Jakarta Sans ExtraBold"/>
                <a:ea typeface="Plus Jakarta Sans ExtraBold"/>
                <a:cs typeface="Plus Jakarta Sans ExtraBold"/>
                <a:sym typeface="Plus Jakarta Sans ExtraBold"/>
              </a:rPr>
              <a:t>gracias!</a:t>
            </a:r>
            <a:endParaRPr sz="8135">
              <a:solidFill>
                <a:srgbClr val="260700"/>
              </a:solidFill>
              <a:latin typeface="Plus Jakarta Sans ExtraBold"/>
              <a:ea typeface="Plus Jakarta Sans ExtraBold"/>
              <a:cs typeface="Plus Jakarta Sans ExtraBold"/>
              <a:sym typeface="Plus Jakarta Sans ExtraBold"/>
            </a:endParaRPr>
          </a:p>
        </p:txBody>
      </p:sp>
      <p:sp>
        <p:nvSpPr>
          <p:cNvPr id="486" name="Google Shape;486;p63"/>
          <p:cNvSpPr txBox="1"/>
          <p:nvPr/>
        </p:nvSpPr>
        <p:spPr>
          <a:xfrm>
            <a:off x="762000" y="5056200"/>
            <a:ext cx="10668000" cy="1208400"/>
          </a:xfrm>
          <a:prstGeom prst="rect">
            <a:avLst/>
          </a:prstGeom>
          <a:noFill/>
          <a:ln>
            <a:noFill/>
          </a:ln>
        </p:spPr>
        <p:txBody>
          <a:bodyPr spcFirstLastPara="1" wrap="square" lIns="0" tIns="0" rIns="0" bIns="0" anchor="b" anchorCtr="0">
            <a:noAutofit/>
          </a:bodyPr>
          <a:lstStyle/>
          <a:p>
            <a:pPr marL="0" lvl="0" indent="0" algn="just" rtl="0">
              <a:spcBef>
                <a:spcPts val="0"/>
              </a:spcBef>
              <a:spcAft>
                <a:spcPts val="0"/>
              </a:spcAft>
              <a:buNone/>
            </a:pPr>
            <a:r>
              <a:rPr lang="en-US" sz="800">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sz="8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endParaRPr sz="800">
              <a:solidFill>
                <a:srgbClr val="260700"/>
              </a:solidFill>
              <a:latin typeface="Plus Jakarta Sans"/>
              <a:ea typeface="Plus Jakarta Sans"/>
              <a:cs typeface="Plus Jakarta Sans"/>
              <a:sym typeface="Plus Jakarta Sans"/>
            </a:endParaRPr>
          </a:p>
          <a:p>
            <a:pPr marL="0" lvl="0" indent="0" algn="just" rtl="0">
              <a:spcBef>
                <a:spcPts val="0"/>
              </a:spcBef>
              <a:spcAft>
                <a:spcPts val="0"/>
              </a:spcAft>
              <a:buNone/>
            </a:pPr>
            <a:r>
              <a:rPr lang="en-US" sz="800">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sz="800">
              <a:solidFill>
                <a:srgbClr val="260700"/>
              </a:solidFill>
              <a:latin typeface="Plus Jakarta Sans"/>
              <a:ea typeface="Plus Jakarta Sans"/>
              <a:cs typeface="Plus Jakarta Sans"/>
              <a:sym typeface="Plus Jakarta Sans"/>
            </a:endParaRPr>
          </a:p>
        </p:txBody>
      </p:sp>
      <p:pic>
        <p:nvPicPr>
          <p:cNvPr id="487" name="Google Shape;487;p63" title="Group 1321320857.png"/>
          <p:cNvPicPr preferRelativeResize="0"/>
          <p:nvPr/>
        </p:nvPicPr>
        <p:blipFill>
          <a:blip r:embed="rId3"/>
          <a:stretch>
            <a:fillRect/>
          </a:stretch>
        </p:blipFill>
        <p:spPr>
          <a:xfrm>
            <a:off x="9678767" y="650767"/>
            <a:ext cx="1629101" cy="475733"/>
          </a:xfrm>
          <a:prstGeom prst="rect">
            <a:avLst/>
          </a:prstGeom>
          <a:noFill/>
          <a:ln>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726*108"/>
  <p:tag name="TABLE_ENDDRAG_RECT" val="105*407*726*10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915</Words>
  <Application>Microsoft Office PowerPoint</Application>
  <PresentationFormat>Panorámica</PresentationFormat>
  <Paragraphs>148</Paragraphs>
  <Slides>24</Slides>
  <Notes>20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24</vt:i4>
      </vt:variant>
    </vt:vector>
  </HeadingPairs>
  <TitlesOfParts>
    <vt:vector size="32" baseType="lpstr">
      <vt:lpstr>Arial</vt:lpstr>
      <vt:lpstr>Calibri</vt:lpstr>
      <vt:lpstr>Calibri Light</vt:lpstr>
      <vt:lpstr>Google Sans Text</vt:lpstr>
      <vt:lpstr>Plus Jakarta Sans</vt:lpstr>
      <vt:lpstr>Plus Jakarta Sans ExtraBold</vt:lpstr>
      <vt:lpstr>Plus Jakarta Sans Light</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Turi</cp:lastModifiedBy>
  <cp:revision>6</cp:revision>
  <dcterms:created xsi:type="dcterms:W3CDTF">2026-04-18T01:58:00Z</dcterms:created>
  <dcterms:modified xsi:type="dcterms:W3CDTF">2026-06-09T21:36:29Z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1A73B9B21D9E41648235B28E430E66D1_11</vt:lpwstr>
  </property>
  <property fmtid="{D5CDD505-2E9C-101B-9397-08002B2CF9AE}" pid="3" name="KSOProductBuildVer">
    <vt:lpwstr>1033-12.2.0.20782</vt:lpwstr>
  </property>
</Properties>
</file>