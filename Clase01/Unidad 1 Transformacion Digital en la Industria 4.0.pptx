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66" r:id="rId3"/>
    <p:sldId id="264" r:id="rId5"/>
    <p:sldId id="265" r:id="rId6"/>
    <p:sldId id="267" r:id="rId7"/>
    <p:sldId id="268" r:id="rId8"/>
    <p:sldId id="260" r:id="rId9"/>
    <p:sldId id="269" r:id="rId10"/>
    <p:sldId id="270" r:id="rId11"/>
    <p:sldId id="286" r:id="rId12"/>
    <p:sldId id="288" r:id="rId13"/>
    <p:sldId id="289" r:id="rId14"/>
    <p:sldId id="262" r:id="rId15"/>
    <p:sldId id="281" r:id="rId16"/>
    <p:sldId id="273" r:id="rId17"/>
    <p:sldId id="274" r:id="rId18"/>
    <p:sldId id="278" r:id="rId19"/>
    <p:sldId id="279" r:id="rId20"/>
    <p:sldId id="280" r:id="rId21"/>
    <p:sldId id="283" r:id="rId22"/>
    <p:sldId id="285" r:id="rId23"/>
    <p:sldId id="284" r:id="rId24"/>
    <p:sldId id="257"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4" name="Shape 264"/>
        <p:cNvGrpSpPr/>
        <p:nvPr/>
      </p:nvGrpSpPr>
      <p:grpSpPr>
        <a:xfrm>
          <a:off x="0" y="0"/>
          <a:ext cx="0" cy="0"/>
          <a:chOff x="0" y="0"/>
          <a:chExt cx="0" cy="0"/>
        </a:xfrm>
      </p:grpSpPr>
      <p:sp>
        <p:nvSpPr>
          <p:cNvPr id="265" name="Google Shape;265;g3b53643a157_0_2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3b53643a157_0_2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70" name="Shape 270"/>
        <p:cNvGrpSpPr/>
        <p:nvPr/>
      </p:nvGrpSpPr>
      <p:grpSpPr>
        <a:xfrm>
          <a:off x="0" y="0"/>
          <a:ext cx="0" cy="0"/>
          <a:chOff x="0" y="0"/>
          <a:chExt cx="0" cy="0"/>
        </a:xfrm>
      </p:grpSpPr>
      <p:sp>
        <p:nvSpPr>
          <p:cNvPr id="271" name="Google Shape;271;g3b53643a157_0_18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3b53643a157_0_18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8" name="Shape 188"/>
        <p:cNvGrpSpPr/>
        <p:nvPr/>
      </p:nvGrpSpPr>
      <p:grpSpPr>
        <a:xfrm>
          <a:off x="0" y="0"/>
          <a:ext cx="0" cy="0"/>
          <a:chOff x="0" y="0"/>
          <a:chExt cx="0" cy="0"/>
        </a:xfrm>
      </p:grpSpPr>
      <p:sp>
        <p:nvSpPr>
          <p:cNvPr id="189" name="Google Shape;189;g3b53643a157_0_1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 name="Google Shape;190;g3b53643a157_0_1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5" name="Shape 225"/>
        <p:cNvGrpSpPr/>
        <p:nvPr/>
      </p:nvGrpSpPr>
      <p:grpSpPr>
        <a:xfrm>
          <a:off x="0" y="0"/>
          <a:ext cx="0" cy="0"/>
          <a:chOff x="0" y="0"/>
          <a:chExt cx="0" cy="0"/>
        </a:xfrm>
      </p:grpSpPr>
      <p:sp>
        <p:nvSpPr>
          <p:cNvPr id="226" name="Google Shape;226;g3bb91f55cac_0_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bb91f55cac_0_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4" name="Shape 244"/>
        <p:cNvGrpSpPr/>
        <p:nvPr/>
      </p:nvGrpSpPr>
      <p:grpSpPr>
        <a:xfrm>
          <a:off x="0" y="0"/>
          <a:ext cx="0" cy="0"/>
          <a:chOff x="0" y="0"/>
          <a:chExt cx="0" cy="0"/>
        </a:xfrm>
      </p:grpSpPr>
      <p:sp>
        <p:nvSpPr>
          <p:cNvPr id="245" name="Google Shape;245;g3b53643a157_0_5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3b53643a157_0_5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b53643a157_0_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481" name="Shape 481"/>
        <p:cNvGrpSpPr/>
        <p:nvPr/>
      </p:nvGrpSpPr>
      <p:grpSpPr>
        <a:xfrm>
          <a:off x="0" y="0"/>
          <a:ext cx="0" cy="0"/>
          <a:chOff x="0" y="0"/>
          <a:chExt cx="0" cy="0"/>
        </a:xfrm>
      </p:grpSpPr>
      <p:sp>
        <p:nvSpPr>
          <p:cNvPr id="482" name="Google Shape;482;g3b53643a157_0_36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3" name="Google Shape;483;g3b53643a157_0_36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tardecer">
  <p:cSld name="BLANK_4">
    <p:bg>
      <p:bgPr>
        <a:solidFill>
          <a:srgbClr val="F8F2E8"/>
        </a:solidFill>
        <a:effectLst/>
      </p:bgPr>
    </p:bg>
    <p:spTree>
      <p:nvGrpSpPr>
        <p:cNvPr id="50" name="Shape 50"/>
        <p:cNvGrpSpPr/>
        <p:nvPr/>
      </p:nvGrpSpPr>
      <p:grpSpPr>
        <a:xfrm>
          <a:off x="0" y="0"/>
          <a:ext cx="0" cy="0"/>
          <a:chOff x="0" y="0"/>
          <a:chExt cx="0" cy="0"/>
        </a:xfrm>
      </p:grpSpPr>
      <p:sp>
        <p:nvSpPr>
          <p:cNvPr id="51" name="Google Shape;51;p13"/>
          <p:cNvSpPr txBox="1"/>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fld>
            <a:endParaRPr lang="en-US"/>
          </a:p>
        </p:txBody>
      </p:sp>
      <p:pic>
        <p:nvPicPr>
          <p:cNvPr id="52" name="Google Shape;52;p13" title="Group 1321318181.png"/>
          <p:cNvPicPr preferRelativeResize="0"/>
          <p:nvPr/>
        </p:nvPicPr>
        <p:blipFill>
          <a:blip r:embed="rId2"/>
          <a:stretch>
            <a:fillRect/>
          </a:stretch>
        </p:blipFill>
        <p:spPr>
          <a:xfrm>
            <a:off x="0" y="2768216"/>
            <a:ext cx="12191996" cy="4089784"/>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Naranja">
  <p:cSld name="BLANK_2_1_1">
    <p:bg>
      <p:bgPr>
        <a:solidFill>
          <a:srgbClr val="FF632B"/>
        </a:solidFill>
        <a:effectLst/>
      </p:bgPr>
    </p:bg>
    <p:spTree>
      <p:nvGrpSpPr>
        <p:cNvPr id="81" name="Shape 81"/>
        <p:cNvGrpSpPr/>
        <p:nvPr/>
      </p:nvGrpSpPr>
      <p:grpSpPr>
        <a:xfrm>
          <a:off x="0" y="0"/>
          <a:ext cx="0" cy="0"/>
          <a:chOff x="0" y="0"/>
          <a:chExt cx="0" cy="0"/>
        </a:xfrm>
      </p:grpSpPr>
      <p:sp>
        <p:nvSpPr>
          <p:cNvPr id="82" name="Google Shape;82;p20"/>
          <p:cNvSpPr txBox="1"/>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Rosa">
  <p:cSld name="BLANK_2_1_1_1">
    <p:bg>
      <p:bgPr>
        <a:solidFill>
          <a:srgbClr val="FE64A3"/>
        </a:solidFill>
        <a:effectLst/>
      </p:bgPr>
    </p:bg>
    <p:spTree>
      <p:nvGrpSpPr>
        <p:cNvPr id="83" name="Shape 83"/>
        <p:cNvGrpSpPr/>
        <p:nvPr/>
      </p:nvGrpSpPr>
      <p:grpSpPr>
        <a:xfrm>
          <a:off x="0" y="0"/>
          <a:ext cx="0" cy="0"/>
          <a:chOff x="0" y="0"/>
          <a:chExt cx="0" cy="0"/>
        </a:xfrm>
      </p:grpSpPr>
      <p:sp>
        <p:nvSpPr>
          <p:cNvPr id="84" name="Google Shape;84;p21"/>
          <p:cNvSpPr txBox="1"/>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Marrón">
  <p:cSld name="BLANK_2_1">
    <p:bg>
      <p:bgPr>
        <a:solidFill>
          <a:srgbClr val="260700"/>
        </a:solidFill>
        <a:effectLst/>
      </p:bgPr>
    </p:bg>
    <p:spTree>
      <p:nvGrpSpPr>
        <p:cNvPr id="79" name="Shape 79"/>
        <p:cNvGrpSpPr/>
        <p:nvPr/>
      </p:nvGrpSpPr>
      <p:grpSpPr>
        <a:xfrm>
          <a:off x="0" y="0"/>
          <a:ext cx="0" cy="0"/>
          <a:chOff x="0" y="0"/>
          <a:chExt cx="0" cy="0"/>
        </a:xfrm>
      </p:grpSpPr>
      <p:sp>
        <p:nvSpPr>
          <p:cNvPr id="80" name="Google Shape;80;p19"/>
          <p:cNvSpPr txBox="1"/>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co 1">
  <p:cSld name="BLANK_3">
    <p:bg>
      <p:bgPr>
        <a:solidFill>
          <a:schemeClr val="lt1"/>
        </a:solidFill>
        <a:effectLst/>
      </p:bgPr>
    </p:bg>
    <p:spTree>
      <p:nvGrpSpPr>
        <p:cNvPr id="53" name="Shape 53"/>
        <p:cNvGrpSpPr/>
        <p:nvPr/>
      </p:nvGrpSpPr>
      <p:grpSpPr>
        <a:xfrm>
          <a:off x="0" y="0"/>
          <a:ext cx="0" cy="0"/>
          <a:chOff x="0" y="0"/>
          <a:chExt cx="0" cy="0"/>
        </a:xfrm>
      </p:grpSpPr>
      <p:sp>
        <p:nvSpPr>
          <p:cNvPr id="54" name="Google Shape;54;p14"/>
          <p:cNvSpPr txBox="1"/>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fld>
            <a:endParaRPr lang="en-US"/>
          </a:p>
        </p:txBody>
      </p:sp>
      <p:sp>
        <p:nvSpPr>
          <p:cNvPr id="55" name="Google Shape;55;p14"/>
          <p:cNvSpPr txBox="1"/>
          <p:nvPr/>
        </p:nvSpPr>
        <p:spPr>
          <a:xfrm>
            <a:off x="634833" y="220035"/>
            <a:ext cx="859200" cy="251200"/>
          </a:xfrm>
          <a:prstGeom prst="rect">
            <a:avLst/>
          </a:prstGeom>
          <a:noFill/>
          <a:ln>
            <a:noFill/>
          </a:ln>
        </p:spPr>
        <p:txBody>
          <a:bodyPr spcFirstLastPara="1" wrap="square" lIns="121900" tIns="121900" rIns="121900" bIns="121900" anchor="ctr" anchorCtr="0">
            <a:noAutofit/>
          </a:bodyPr>
          <a:lstStyle/>
          <a:p>
            <a:pPr marL="0" lvl="0" indent="0" algn="l" rtl="0">
              <a:lnSpc>
                <a:spcPct val="100000"/>
              </a:lnSpc>
              <a:spcBef>
                <a:spcPts val="0"/>
              </a:spcBef>
              <a:spcAft>
                <a:spcPts val="0"/>
              </a:spcAft>
              <a:buNone/>
            </a:pPr>
            <a:r>
              <a:rPr lang="en-US" sz="665">
                <a:solidFill>
                  <a:srgbClr val="222224"/>
                </a:solidFill>
                <a:latin typeface="Plus Jakarta Sans"/>
                <a:ea typeface="Plus Jakarta Sans"/>
                <a:cs typeface="Plus Jakarta Sans"/>
                <a:sym typeface="Plus Jakarta Sans"/>
              </a:rPr>
              <a:t>Coderhouse</a:t>
            </a:r>
            <a:endParaRPr sz="665">
              <a:solidFill>
                <a:srgbClr val="222224"/>
              </a:solidFill>
              <a:latin typeface="Plus Jakarta Sans"/>
              <a:ea typeface="Plus Jakarta Sans"/>
              <a:cs typeface="Plus Jakarta Sans"/>
              <a:sym typeface="Plus Jakarta Sans"/>
            </a:endParaRPr>
          </a:p>
        </p:txBody>
      </p:sp>
      <p:sp>
        <p:nvSpPr>
          <p:cNvPr id="56" name="Google Shape;56;p14"/>
          <p:cNvSpPr txBox="1"/>
          <p:nvPr/>
        </p:nvSpPr>
        <p:spPr>
          <a:xfrm>
            <a:off x="9230685" y="220035"/>
            <a:ext cx="1584800" cy="251200"/>
          </a:xfrm>
          <a:prstGeom prst="rect">
            <a:avLst/>
          </a:prstGeom>
          <a:noFill/>
          <a:ln>
            <a:noFill/>
          </a:ln>
        </p:spPr>
        <p:txBody>
          <a:bodyPr spcFirstLastPara="1" wrap="square" lIns="121900" tIns="121900" rIns="121900" bIns="121900" anchor="ctr" anchorCtr="0">
            <a:noAutofit/>
          </a:bodyPr>
          <a:lstStyle/>
          <a:p>
            <a:pPr marL="0" lvl="0" indent="0" algn="r" rtl="0">
              <a:lnSpc>
                <a:spcPct val="100000"/>
              </a:lnSpc>
              <a:spcBef>
                <a:spcPts val="0"/>
              </a:spcBef>
              <a:spcAft>
                <a:spcPts val="0"/>
              </a:spcAft>
              <a:buNone/>
            </a:pPr>
            <a:r>
              <a:rPr lang="en-US" sz="665">
                <a:solidFill>
                  <a:srgbClr val="222224"/>
                </a:solidFill>
                <a:latin typeface="Plus Jakarta Sans"/>
                <a:ea typeface="Plus Jakarta Sans"/>
                <a:cs typeface="Plus Jakarta Sans"/>
                <a:sym typeface="Plus Jakarta Sans"/>
              </a:rPr>
              <a:t>Internal  Presentation</a:t>
            </a:r>
            <a:endParaRPr sz="665">
              <a:solidFill>
                <a:srgbClr val="222224"/>
              </a:solidFill>
              <a:latin typeface="Plus Jakarta Sans"/>
              <a:ea typeface="Plus Jakarta Sans"/>
              <a:cs typeface="Plus Jakarta Sans"/>
              <a:sym typeface="Plus Jakarta Sans"/>
            </a:endParaRPr>
          </a:p>
        </p:txBody>
      </p:sp>
      <p:sp>
        <p:nvSpPr>
          <p:cNvPr id="57" name="Google Shape;57;p14"/>
          <p:cNvSpPr txBox="1"/>
          <p:nvPr/>
        </p:nvSpPr>
        <p:spPr>
          <a:xfrm>
            <a:off x="2928743" y="220035"/>
            <a:ext cx="1656000" cy="251200"/>
          </a:xfrm>
          <a:prstGeom prst="rect">
            <a:avLst/>
          </a:prstGeom>
          <a:noFill/>
          <a:ln>
            <a:noFill/>
          </a:ln>
        </p:spPr>
        <p:txBody>
          <a:bodyPr spcFirstLastPara="1" wrap="square" lIns="121900" tIns="121900" rIns="121900" bIns="121900" anchor="ctr" anchorCtr="0">
            <a:noAutofit/>
          </a:bodyPr>
          <a:lstStyle/>
          <a:p>
            <a:pPr marL="0" lvl="0" indent="0" algn="l" rtl="0">
              <a:lnSpc>
                <a:spcPct val="100000"/>
              </a:lnSpc>
              <a:spcBef>
                <a:spcPts val="0"/>
              </a:spcBef>
              <a:spcAft>
                <a:spcPts val="0"/>
              </a:spcAft>
              <a:buNone/>
            </a:pPr>
            <a:r>
              <a:rPr lang="en-US" sz="665">
                <a:solidFill>
                  <a:srgbClr val="222224"/>
                </a:solidFill>
                <a:latin typeface="Plus Jakarta Sans"/>
                <a:ea typeface="Plus Jakarta Sans"/>
                <a:cs typeface="Plus Jakarta Sans"/>
                <a:sym typeface="Plus Jakarta Sans"/>
              </a:rPr>
              <a:t>2026</a:t>
            </a:r>
            <a:endParaRPr sz="665">
              <a:solidFill>
                <a:srgbClr val="222224"/>
              </a:solidFill>
              <a:latin typeface="Plus Jakarta Sans"/>
              <a:ea typeface="Plus Jakarta Sans"/>
              <a:cs typeface="Plus Jakarta Sans"/>
              <a:sym typeface="Plus Jakarta Sans"/>
            </a:endParaRPr>
          </a:p>
        </p:txBody>
      </p:sp>
      <p:sp>
        <p:nvSpPr>
          <p:cNvPr id="58" name="Google Shape;58;p14"/>
          <p:cNvSpPr txBox="1"/>
          <p:nvPr/>
        </p:nvSpPr>
        <p:spPr>
          <a:xfrm>
            <a:off x="11164700" y="120865"/>
            <a:ext cx="492800" cy="449600"/>
          </a:xfrm>
          <a:prstGeom prst="rect">
            <a:avLst/>
          </a:prstGeom>
          <a:noFill/>
          <a:ln>
            <a:noFill/>
          </a:ln>
        </p:spPr>
        <p:txBody>
          <a:bodyPr spcFirstLastPara="1" wrap="square" lIns="117966" tIns="117966" rIns="117966" bIns="117966" anchor="ctr" anchorCtr="0">
            <a:noAutofit/>
          </a:bodyPr>
          <a:lstStyle/>
          <a:p>
            <a:pPr marL="0" lvl="0" indent="0" algn="ctr" rtl="0">
              <a:lnSpc>
                <a:spcPct val="100000"/>
              </a:lnSpc>
              <a:spcBef>
                <a:spcPts val="0"/>
              </a:spcBef>
              <a:spcAft>
                <a:spcPts val="0"/>
              </a:spcAft>
              <a:buNone/>
            </a:pPr>
            <a:fld id="{00000000-1234-1234-1234-123412341234}" type="slidenum">
              <a:rPr lang="en-US" sz="665">
                <a:solidFill>
                  <a:srgbClr val="222224"/>
                </a:solidFill>
                <a:latin typeface="Plus Jakarta Sans"/>
                <a:ea typeface="Plus Jakarta Sans"/>
                <a:cs typeface="Plus Jakarta Sans"/>
                <a:sym typeface="Plus Jakarta Sans"/>
              </a:rPr>
            </a:fld>
            <a:endParaRPr sz="665">
              <a:solidFill>
                <a:srgbClr val="222224"/>
              </a:solidFill>
              <a:latin typeface="Plus Jakarta Sans"/>
              <a:ea typeface="Plus Jakarta Sans"/>
              <a:cs typeface="Plus Jakarta Sans"/>
              <a:sym typeface="Plus Jakarta Sans"/>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magen 1 1">
  <p:cSld name="BLANK_3_1_1_1">
    <p:bg>
      <p:bgPr>
        <a:solidFill>
          <a:schemeClr val="lt1"/>
        </a:solidFill>
        <a:effectLst/>
      </p:bgPr>
    </p:bg>
    <p:spTree>
      <p:nvGrpSpPr>
        <p:cNvPr id="71" name="Shape 71"/>
        <p:cNvGrpSpPr/>
        <p:nvPr/>
      </p:nvGrpSpPr>
      <p:grpSpPr>
        <a:xfrm>
          <a:off x="0" y="0"/>
          <a:ext cx="0" cy="0"/>
          <a:chOff x="0" y="0"/>
          <a:chExt cx="0" cy="0"/>
        </a:xfrm>
      </p:grpSpPr>
      <p:pic>
        <p:nvPicPr>
          <p:cNvPr id="72" name="Google Shape;72;p17" title="4d917f2d-7c08-49ef-b177-326a60a5c815.png"/>
          <p:cNvPicPr preferRelativeResize="0"/>
          <p:nvPr/>
        </p:nvPicPr>
        <p:blipFill rotWithShape="1">
          <a:blip r:embed="rId2"/>
          <a:srcRect t="34388" b="23542"/>
          <a:stretch>
            <a:fillRect/>
          </a:stretch>
        </p:blipFill>
        <p:spPr>
          <a:xfrm>
            <a:off x="-61167" y="-49467"/>
            <a:ext cx="12314337" cy="6907467"/>
          </a:xfrm>
          <a:prstGeom prst="rect">
            <a:avLst/>
          </a:prstGeom>
          <a:noFill/>
          <a:ln>
            <a:noFill/>
          </a:ln>
        </p:spPr>
      </p:pic>
      <p:sp>
        <p:nvSpPr>
          <p:cNvPr id="73" name="Google Shape;73;p17"/>
          <p:cNvSpPr txBox="1"/>
          <p:nvPr/>
        </p:nvSpPr>
        <p:spPr>
          <a:xfrm>
            <a:off x="634833" y="220035"/>
            <a:ext cx="859200" cy="251200"/>
          </a:xfrm>
          <a:prstGeom prst="rect">
            <a:avLst/>
          </a:prstGeom>
          <a:noFill/>
          <a:ln>
            <a:noFill/>
          </a:ln>
        </p:spPr>
        <p:txBody>
          <a:bodyPr spcFirstLastPara="1" wrap="square" lIns="121900" tIns="121900" rIns="121900" bIns="121900" anchor="ctr" anchorCtr="0">
            <a:noAutofit/>
          </a:bodyPr>
          <a:lstStyle/>
          <a:p>
            <a:pPr marL="0" lvl="0" indent="0" algn="l" rtl="0">
              <a:lnSpc>
                <a:spcPct val="100000"/>
              </a:lnSpc>
              <a:spcBef>
                <a:spcPts val="0"/>
              </a:spcBef>
              <a:spcAft>
                <a:spcPts val="0"/>
              </a:spcAft>
              <a:buNone/>
            </a:pPr>
            <a:r>
              <a:rPr lang="en-US" sz="665">
                <a:solidFill>
                  <a:srgbClr val="F8F2E8"/>
                </a:solidFill>
                <a:latin typeface="Plus Jakarta Sans"/>
                <a:ea typeface="Plus Jakarta Sans"/>
                <a:cs typeface="Plus Jakarta Sans"/>
                <a:sym typeface="Plus Jakarta Sans"/>
              </a:rPr>
              <a:t>Coderhouse</a:t>
            </a:r>
            <a:endParaRPr sz="665">
              <a:solidFill>
                <a:srgbClr val="F8F2E8"/>
              </a:solidFill>
              <a:latin typeface="Plus Jakarta Sans"/>
              <a:ea typeface="Plus Jakarta Sans"/>
              <a:cs typeface="Plus Jakarta Sans"/>
              <a:sym typeface="Plus Jakarta Sans"/>
            </a:endParaRPr>
          </a:p>
        </p:txBody>
      </p:sp>
      <p:sp>
        <p:nvSpPr>
          <p:cNvPr id="74" name="Google Shape;74;p17"/>
          <p:cNvSpPr txBox="1"/>
          <p:nvPr/>
        </p:nvSpPr>
        <p:spPr>
          <a:xfrm>
            <a:off x="9230685" y="220035"/>
            <a:ext cx="1584800" cy="251200"/>
          </a:xfrm>
          <a:prstGeom prst="rect">
            <a:avLst/>
          </a:prstGeom>
          <a:noFill/>
          <a:ln>
            <a:noFill/>
          </a:ln>
        </p:spPr>
        <p:txBody>
          <a:bodyPr spcFirstLastPara="1" wrap="square" lIns="121900" tIns="121900" rIns="121900" bIns="121900" anchor="ctr" anchorCtr="0">
            <a:noAutofit/>
          </a:bodyPr>
          <a:lstStyle/>
          <a:p>
            <a:pPr marL="0" lvl="0" indent="0" algn="r" rtl="0">
              <a:lnSpc>
                <a:spcPct val="100000"/>
              </a:lnSpc>
              <a:spcBef>
                <a:spcPts val="0"/>
              </a:spcBef>
              <a:spcAft>
                <a:spcPts val="0"/>
              </a:spcAft>
              <a:buNone/>
            </a:pPr>
            <a:r>
              <a:rPr lang="en-US" sz="665">
                <a:solidFill>
                  <a:srgbClr val="F8F2E8"/>
                </a:solidFill>
                <a:latin typeface="Plus Jakarta Sans"/>
                <a:ea typeface="Plus Jakarta Sans"/>
                <a:cs typeface="Plus Jakarta Sans"/>
                <a:sym typeface="Plus Jakarta Sans"/>
              </a:rPr>
              <a:t>Internal  Presentation</a:t>
            </a:r>
            <a:endParaRPr sz="665">
              <a:solidFill>
                <a:srgbClr val="F8F2E8"/>
              </a:solidFill>
              <a:latin typeface="Plus Jakarta Sans"/>
              <a:ea typeface="Plus Jakarta Sans"/>
              <a:cs typeface="Plus Jakarta Sans"/>
              <a:sym typeface="Plus Jakarta Sans"/>
            </a:endParaRPr>
          </a:p>
        </p:txBody>
      </p:sp>
      <p:sp>
        <p:nvSpPr>
          <p:cNvPr id="75" name="Google Shape;75;p17"/>
          <p:cNvSpPr txBox="1"/>
          <p:nvPr/>
        </p:nvSpPr>
        <p:spPr>
          <a:xfrm>
            <a:off x="2928743" y="220035"/>
            <a:ext cx="1656000" cy="251200"/>
          </a:xfrm>
          <a:prstGeom prst="rect">
            <a:avLst/>
          </a:prstGeom>
          <a:noFill/>
          <a:ln>
            <a:noFill/>
          </a:ln>
        </p:spPr>
        <p:txBody>
          <a:bodyPr spcFirstLastPara="1" wrap="square" lIns="121900" tIns="121900" rIns="121900" bIns="121900" anchor="ctr" anchorCtr="0">
            <a:noAutofit/>
          </a:bodyPr>
          <a:lstStyle/>
          <a:p>
            <a:pPr marL="0" lvl="0" indent="0" algn="l" rtl="0">
              <a:lnSpc>
                <a:spcPct val="100000"/>
              </a:lnSpc>
              <a:spcBef>
                <a:spcPts val="0"/>
              </a:spcBef>
              <a:spcAft>
                <a:spcPts val="0"/>
              </a:spcAft>
              <a:buNone/>
            </a:pPr>
            <a:r>
              <a:rPr lang="en-US" sz="665">
                <a:solidFill>
                  <a:srgbClr val="F8F2E8"/>
                </a:solidFill>
                <a:latin typeface="Plus Jakarta Sans"/>
                <a:ea typeface="Plus Jakarta Sans"/>
                <a:cs typeface="Plus Jakarta Sans"/>
                <a:sym typeface="Plus Jakarta Sans"/>
              </a:rPr>
              <a:t>2026</a:t>
            </a:r>
            <a:endParaRPr sz="665">
              <a:solidFill>
                <a:srgbClr val="F8F2E8"/>
              </a:solidFill>
              <a:latin typeface="Plus Jakarta Sans"/>
              <a:ea typeface="Plus Jakarta Sans"/>
              <a:cs typeface="Plus Jakarta Sans"/>
              <a:sym typeface="Plus Jakarta Sans"/>
            </a:endParaRPr>
          </a:p>
        </p:txBody>
      </p:sp>
      <p:sp>
        <p:nvSpPr>
          <p:cNvPr id="76" name="Google Shape;76;p17"/>
          <p:cNvSpPr txBox="1"/>
          <p:nvPr/>
        </p:nvSpPr>
        <p:spPr>
          <a:xfrm>
            <a:off x="11164700" y="120865"/>
            <a:ext cx="492800" cy="449600"/>
          </a:xfrm>
          <a:prstGeom prst="rect">
            <a:avLst/>
          </a:prstGeom>
          <a:noFill/>
          <a:ln>
            <a:noFill/>
          </a:ln>
        </p:spPr>
        <p:txBody>
          <a:bodyPr spcFirstLastPara="1" wrap="square" lIns="117966" tIns="117966" rIns="117966" bIns="117966" anchor="ctr" anchorCtr="0">
            <a:noAutofit/>
          </a:bodyPr>
          <a:lstStyle/>
          <a:p>
            <a:pPr marL="0" lvl="0" indent="0" algn="ctr" rtl="0">
              <a:lnSpc>
                <a:spcPct val="100000"/>
              </a:lnSpc>
              <a:spcBef>
                <a:spcPts val="0"/>
              </a:spcBef>
              <a:spcAft>
                <a:spcPts val="0"/>
              </a:spcAft>
              <a:buNone/>
            </a:pPr>
            <a:fld id="{00000000-1234-1234-1234-123412341234}" type="slidenum">
              <a:rPr lang="en-US" sz="665">
                <a:solidFill>
                  <a:srgbClr val="F8F2E8"/>
                </a:solidFill>
                <a:latin typeface="Plus Jakarta Sans"/>
                <a:ea typeface="Plus Jakarta Sans"/>
                <a:cs typeface="Plus Jakarta Sans"/>
                <a:sym typeface="Plus Jakarta Sans"/>
              </a:rPr>
            </a:fld>
            <a:endParaRPr sz="665">
              <a:solidFill>
                <a:srgbClr val="F8F2E8"/>
              </a:solidFill>
              <a:latin typeface="Plus Jakarta Sans"/>
              <a:ea typeface="Plus Jakarta Sans"/>
              <a:cs typeface="Plus Jakarta Sans"/>
              <a:sym typeface="Plus Jakarta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6.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6.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6.xml"/><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6.xml"/><Relationship Id="rId2" Type="http://schemas.openxmlformats.org/officeDocument/2006/relationships/image" Target="../media/image9.jpeg"/><Relationship Id="rId1" Type="http://schemas.openxmlformats.org/officeDocument/2006/relationships/image" Target="../media/image8.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6.xml"/><Relationship Id="rId2" Type="http://schemas.openxmlformats.org/officeDocument/2006/relationships/image" Target="../media/image11.jpeg"/><Relationship Id="rId1" Type="http://schemas.openxmlformats.org/officeDocument/2006/relationships/image" Target="../media/image10.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6.xml"/><Relationship Id="rId1" Type="http://schemas.openxmlformats.org/officeDocument/2006/relationships/image" Target="../media/image12.jpe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6.xml"/><Relationship Id="rId1" Type="http://schemas.openxmlformats.org/officeDocument/2006/relationships/image" Target="../media/image13.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6.xml"/><Relationship Id="rId2" Type="http://schemas.openxmlformats.org/officeDocument/2006/relationships/image" Target="../media/image15.png"/><Relationship Id="rId1"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6.xml"/><Relationship Id="rId1" Type="http://schemas.openxmlformats.org/officeDocument/2006/relationships/tags" Target="../tags/tag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6.xml"/><Relationship Id="rId1" Type="http://schemas.openxmlformats.org/officeDocument/2006/relationships/image" Target="../media/image16.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2.xml"/><Relationship Id="rId1"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267" name="Shape 267"/>
        <p:cNvGrpSpPr/>
        <p:nvPr/>
      </p:nvGrpSpPr>
      <p:grpSpPr>
        <a:xfrm>
          <a:off x="0" y="0"/>
          <a:ext cx="0" cy="0"/>
          <a:chOff x="0" y="0"/>
          <a:chExt cx="0" cy="0"/>
        </a:xfrm>
      </p:grpSpPr>
      <p:sp>
        <p:nvSpPr>
          <p:cNvPr id="268" name="Google Shape;268;p42"/>
          <p:cNvSpPr txBox="1"/>
          <p:nvPr/>
        </p:nvSpPr>
        <p:spPr>
          <a:xfrm>
            <a:off x="985433" y="4680301"/>
            <a:ext cx="10420800" cy="366400"/>
          </a:xfrm>
          <a:prstGeom prst="rect">
            <a:avLst/>
          </a:prstGeom>
          <a:noFill/>
          <a:ln>
            <a:noFill/>
          </a:ln>
        </p:spPr>
        <p:txBody>
          <a:bodyPr spcFirstLastPara="1" wrap="square" lIns="121900" tIns="121900" rIns="121900" bIns="121900" anchor="t" anchorCtr="0">
            <a:noAutofit/>
          </a:bodyPr>
          <a:lstStyle/>
          <a:p>
            <a:pPr marL="0" lvl="0" indent="0" algn="ctr" rtl="0">
              <a:lnSpc>
                <a:spcPct val="115000"/>
              </a:lnSpc>
              <a:spcBef>
                <a:spcPts val="0"/>
              </a:spcBef>
              <a:spcAft>
                <a:spcPts val="0"/>
              </a:spcAft>
              <a:buNone/>
            </a:pPr>
            <a:r>
              <a:rPr lang="es-AR" altLang="en-US" sz="1600">
                <a:solidFill>
                  <a:srgbClr val="F8F2E8"/>
                </a:solidFill>
                <a:latin typeface="Plus Jakarta Sans Light"/>
                <a:ea typeface="Plus Jakarta Sans Light"/>
                <a:cs typeface="Plus Jakarta Sans Light"/>
                <a:sym typeface="Plus Jakarta Sans Light"/>
              </a:rPr>
              <a:t>En Breve comenzamos!!!!</a:t>
            </a:r>
            <a:endParaRPr lang="es-AR" altLang="en-US" sz="1600">
              <a:solidFill>
                <a:srgbClr val="F8F2E8"/>
              </a:solidFill>
              <a:latin typeface="Plus Jakarta Sans Light"/>
              <a:ea typeface="Plus Jakarta Sans Light"/>
              <a:cs typeface="Plus Jakarta Sans Light"/>
              <a:sym typeface="Plus Jakarta Sans Light"/>
            </a:endParaRPr>
          </a:p>
        </p:txBody>
      </p:sp>
      <p:sp>
        <p:nvSpPr>
          <p:cNvPr id="269" name="Google Shape;269;p42"/>
          <p:cNvSpPr txBox="1"/>
          <p:nvPr/>
        </p:nvSpPr>
        <p:spPr>
          <a:xfrm>
            <a:off x="1887233" y="3161901"/>
            <a:ext cx="8617200" cy="1518400"/>
          </a:xfrm>
          <a:prstGeom prst="rect">
            <a:avLst/>
          </a:prstGeom>
          <a:noFill/>
          <a:ln>
            <a:noFill/>
          </a:ln>
        </p:spPr>
        <p:txBody>
          <a:bodyPr spcFirstLastPara="1" wrap="square" lIns="121900" tIns="121900" rIns="121900" bIns="121900" anchor="t" anchorCtr="0">
            <a:noAutofit/>
          </a:bodyPr>
          <a:lstStyle/>
          <a:p>
            <a:pPr marL="0" lvl="0" indent="0" algn="ctr" rtl="0">
              <a:lnSpc>
                <a:spcPct val="70000"/>
              </a:lnSpc>
              <a:spcBef>
                <a:spcPts val="0"/>
              </a:spcBef>
              <a:spcAft>
                <a:spcPts val="0"/>
              </a:spcAft>
              <a:buNone/>
            </a:pPr>
            <a:r>
              <a:rPr lang="es-AR" altLang="en-US" sz="6400">
                <a:solidFill>
                  <a:srgbClr val="F8F2E8"/>
                </a:solidFill>
                <a:latin typeface="Plus Jakarta Sans ExtraBold"/>
                <a:ea typeface="Plus Jakarta Sans ExtraBold"/>
                <a:cs typeface="Plus Jakarta Sans ExtraBold"/>
                <a:sym typeface="Plus Jakarta Sans ExtraBold"/>
              </a:rPr>
              <a:t>Tu eres el capitan de tu destino!</a:t>
            </a:r>
            <a:endParaRPr lang="es-AR" altLang="en-US" sz="6400">
              <a:solidFill>
                <a:srgbClr val="F8F2E8"/>
              </a:solidFill>
              <a:latin typeface="Plus Jakarta Sans ExtraBold"/>
              <a:ea typeface="Plus Jakarta Sans ExtraBold"/>
              <a:cs typeface="Plus Jakarta Sans ExtraBold"/>
              <a:sym typeface="Plus Jakarta Sans Extra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273" name="Shape 273"/>
        <p:cNvGrpSpPr/>
        <p:nvPr/>
      </p:nvGrpSpPr>
      <p:grpSpPr>
        <a:xfrm>
          <a:off x="0" y="0"/>
          <a:ext cx="0" cy="0"/>
          <a:chOff x="0" y="0"/>
          <a:chExt cx="0" cy="0"/>
        </a:xfrm>
      </p:grpSpPr>
      <p:sp>
        <p:nvSpPr>
          <p:cNvPr id="274" name="Google Shape;274;p43"/>
          <p:cNvSpPr txBox="1"/>
          <p:nvPr/>
        </p:nvSpPr>
        <p:spPr>
          <a:xfrm>
            <a:off x="1787400" y="875300"/>
            <a:ext cx="8617200" cy="1120400"/>
          </a:xfrm>
          <a:prstGeom prst="rect">
            <a:avLst/>
          </a:prstGeom>
          <a:noFill/>
          <a:ln>
            <a:noFill/>
          </a:ln>
        </p:spPr>
        <p:txBody>
          <a:bodyPr spcFirstLastPara="1" wrap="square" lIns="121900" tIns="121900" rIns="121900" bIns="121900" anchor="t" anchorCtr="0">
            <a:noAutofit/>
          </a:bodyPr>
          <a:lstStyle/>
          <a:p>
            <a:pPr marL="0" lvl="0" indent="0" algn="ctr" rtl="0">
              <a:spcBef>
                <a:spcPts val="0"/>
              </a:spcBef>
              <a:spcAft>
                <a:spcPts val="0"/>
              </a:spcAft>
              <a:buNone/>
            </a:pPr>
            <a:r>
              <a:rPr lang="en-US" sz="3735">
                <a:solidFill>
                  <a:srgbClr val="260700"/>
                </a:solidFill>
                <a:latin typeface="Plus Jakarta Sans ExtraBold"/>
                <a:ea typeface="Plus Jakarta Sans ExtraBold"/>
                <a:cs typeface="Plus Jakarta Sans ExtraBold"/>
                <a:sym typeface="Plus Jakarta Sans ExtraBold"/>
              </a:rPr>
              <a:t>Presentación</a:t>
            </a:r>
            <a:endParaRPr sz="3735">
              <a:solidFill>
                <a:srgbClr val="260700"/>
              </a:solidFill>
              <a:latin typeface="Plus Jakarta Sans ExtraBold"/>
              <a:ea typeface="Plus Jakarta Sans ExtraBold"/>
              <a:cs typeface="Plus Jakarta Sans ExtraBold"/>
              <a:sym typeface="Plus Jakarta Sans ExtraBold"/>
            </a:endParaRPr>
          </a:p>
          <a:p>
            <a:pPr marL="0" lvl="0" indent="0" algn="ctr" rtl="0">
              <a:spcBef>
                <a:spcPts val="0"/>
              </a:spcBef>
              <a:spcAft>
                <a:spcPts val="0"/>
              </a:spcAft>
              <a:buNone/>
            </a:pPr>
            <a:r>
              <a:rPr lang="en-US" sz="3735">
                <a:solidFill>
                  <a:srgbClr val="260700"/>
                </a:solidFill>
                <a:latin typeface="Plus Jakarta Sans ExtraBold"/>
                <a:ea typeface="Plus Jakarta Sans ExtraBold"/>
                <a:cs typeface="Plus Jakarta Sans ExtraBold"/>
                <a:sym typeface="Plus Jakarta Sans ExtraBold"/>
              </a:rPr>
              <a:t>del </a:t>
            </a:r>
            <a:r>
              <a:rPr lang="en-US" sz="3735">
                <a:solidFill>
                  <a:srgbClr val="260700"/>
                </a:solidFill>
                <a:highlight>
                  <a:srgbClr val="FDAB2E"/>
                </a:highlight>
                <a:latin typeface="Plus Jakarta Sans ExtraBold"/>
                <a:ea typeface="Plus Jakarta Sans ExtraBold"/>
                <a:cs typeface="Plus Jakarta Sans ExtraBold"/>
                <a:sym typeface="Plus Jakarta Sans ExtraBold"/>
              </a:rPr>
              <a:t>equipo</a:t>
            </a:r>
            <a:r>
              <a:rPr lang="en-US" sz="3735">
                <a:solidFill>
                  <a:srgbClr val="260700"/>
                </a:solidFill>
                <a:latin typeface="Plus Jakarta Sans ExtraBold"/>
                <a:ea typeface="Plus Jakarta Sans ExtraBold"/>
                <a:cs typeface="Plus Jakarta Sans ExtraBold"/>
                <a:sym typeface="Plus Jakarta Sans ExtraBold"/>
              </a:rPr>
              <a:t>:</a:t>
            </a:r>
            <a:endParaRPr sz="3735">
              <a:solidFill>
                <a:srgbClr val="260700"/>
              </a:solidFill>
              <a:latin typeface="Plus Jakarta Sans"/>
              <a:ea typeface="Plus Jakarta Sans"/>
              <a:cs typeface="Plus Jakarta Sans"/>
              <a:sym typeface="Plus Jakarta Sans"/>
            </a:endParaRPr>
          </a:p>
        </p:txBody>
      </p:sp>
      <p:sp>
        <p:nvSpPr>
          <p:cNvPr id="277" name="Google Shape;277;p43"/>
          <p:cNvSpPr/>
          <p:nvPr/>
        </p:nvSpPr>
        <p:spPr>
          <a:xfrm>
            <a:off x="426720" y="3546475"/>
            <a:ext cx="11338560" cy="984250"/>
          </a:xfrm>
          <a:prstGeom prst="round2SameRect">
            <a:avLst>
              <a:gd name="adj1" fmla="val 0"/>
              <a:gd name="adj2" fmla="val 34038"/>
            </a:avLst>
          </a:prstGeom>
          <a:solidFill>
            <a:srgbClr val="FF632B"/>
          </a:solidFill>
          <a:ln>
            <a:noFill/>
          </a:ln>
        </p:spPr>
        <p:txBody>
          <a:bodyPr spcFirstLastPara="1" wrap="square" lIns="121900" tIns="121900" rIns="121900" bIns="121900" anchor="ctr" anchorCtr="0">
            <a:noAutofit/>
          </a:bodyPr>
          <a:lstStyle/>
          <a:p>
            <a:pPr marL="165100" lvl="0" indent="0" algn="l" rtl="0">
              <a:spcBef>
                <a:spcPts val="0"/>
              </a:spcBef>
              <a:spcAft>
                <a:spcPts val="0"/>
              </a:spcAft>
              <a:buNone/>
            </a:pPr>
            <a:r>
              <a:rPr lang="en-US" sz="2800" b="1">
                <a:solidFill>
                  <a:srgbClr val="F8F2E8"/>
                </a:solidFill>
                <a:latin typeface="Plus Jakarta Sans"/>
                <a:ea typeface="Plus Jakarta Sans"/>
                <a:cs typeface="Plus Jakarta Sans"/>
                <a:sym typeface="Plus Jakarta Sans"/>
              </a:rPr>
              <a:t>Profesor:</a:t>
            </a:r>
            <a:r>
              <a:rPr lang="es-AR" altLang="en-US" sz="2800" b="1">
                <a:solidFill>
                  <a:srgbClr val="F8F2E8"/>
                </a:solidFill>
                <a:latin typeface="Plus Jakarta Sans"/>
                <a:ea typeface="Plus Jakarta Sans"/>
                <a:cs typeface="Plus Jakarta Sans"/>
                <a:sym typeface="Plus Jakarta Sans"/>
              </a:rPr>
              <a:t> </a:t>
            </a:r>
            <a:r>
              <a:rPr lang="es-AR" altLang="en-US" b="1">
                <a:solidFill>
                  <a:srgbClr val="F8F2E8"/>
                </a:solidFill>
                <a:latin typeface="Plus Jakarta Sans"/>
                <a:ea typeface="Plus Jakarta Sans"/>
                <a:cs typeface="Plus Jakarta Sans"/>
                <a:sym typeface="Plus Jakarta Sans"/>
              </a:rPr>
              <a:t>Luciano Martingasté  | Trabajo actualmente como Data AI Engineer en EY</a:t>
            </a:r>
            <a:endParaRPr lang="es-AR" altLang="en-US" b="1">
              <a:solidFill>
                <a:srgbClr val="F8F2E8"/>
              </a:solidFill>
              <a:latin typeface="Plus Jakarta Sans"/>
              <a:ea typeface="Plus Jakarta Sans"/>
              <a:cs typeface="Plus Jakarta Sans"/>
              <a:sym typeface="Plus Jakarta Sans"/>
            </a:endParaRPr>
          </a:p>
        </p:txBody>
      </p:sp>
      <p:sp>
        <p:nvSpPr>
          <p:cNvPr id="284" name="Google Shape;284;p43"/>
          <p:cNvSpPr/>
          <p:nvPr/>
        </p:nvSpPr>
        <p:spPr>
          <a:xfrm>
            <a:off x="8832733" y="1600700"/>
            <a:ext cx="1489600" cy="565600"/>
          </a:xfrm>
          <a:prstGeom prst="wedgeRectCallout">
            <a:avLst>
              <a:gd name="adj1" fmla="val -33452"/>
              <a:gd name="adj2" fmla="val 98680"/>
            </a:avLst>
          </a:prstGeom>
          <a:solidFill>
            <a:srgbClr val="FF632B"/>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r>
              <a:rPr lang="en-US" sz="935">
                <a:solidFill>
                  <a:srgbClr val="F8F2E8"/>
                </a:solidFill>
                <a:latin typeface="Plus Jakarta Sans"/>
                <a:ea typeface="Plus Jakarta Sans"/>
                <a:cs typeface="Plus Jakarta Sans"/>
                <a:sym typeface="Plus Jakarta Sans"/>
              </a:rPr>
              <a:t>COMISIÓN N° </a:t>
            </a:r>
            <a:r>
              <a:rPr lang="es-AR" altLang="en-US" sz="935">
                <a:solidFill>
                  <a:srgbClr val="F8F2E8"/>
                </a:solidFill>
                <a:latin typeface="Plus Jakarta Sans"/>
                <a:ea typeface="Plus Jakarta Sans"/>
                <a:cs typeface="Plus Jakarta Sans"/>
                <a:sym typeface="Plus Jakarta Sans"/>
              </a:rPr>
              <a:t>95315</a:t>
            </a:r>
            <a:endParaRPr lang="es-AR" altLang="en-US" sz="935">
              <a:solidFill>
                <a:srgbClr val="F8F2E8"/>
              </a:solidFill>
              <a:latin typeface="Plus Jakarta Sans"/>
              <a:ea typeface="Plus Jakarta Sans"/>
              <a:cs typeface="Plus Jakarta Sans"/>
              <a:sym typeface="Plus Jakarta Sans"/>
            </a:endParaRPr>
          </a:p>
        </p:txBody>
      </p:sp>
      <p:sp>
        <p:nvSpPr>
          <p:cNvPr id="1" name="Google Shape;277;p43"/>
          <p:cNvSpPr/>
          <p:nvPr/>
        </p:nvSpPr>
        <p:spPr>
          <a:xfrm>
            <a:off x="426720" y="4840605"/>
            <a:ext cx="11338560" cy="984250"/>
          </a:xfrm>
          <a:prstGeom prst="round2SameRect">
            <a:avLst>
              <a:gd name="adj1" fmla="val 0"/>
              <a:gd name="adj2" fmla="val 34038"/>
            </a:avLst>
          </a:prstGeom>
          <a:solidFill>
            <a:srgbClr val="FF632B"/>
          </a:solidFill>
          <a:ln>
            <a:noFill/>
          </a:ln>
        </p:spPr>
        <p:txBody>
          <a:bodyPr spcFirstLastPara="1" wrap="square" lIns="121900" tIns="121900" rIns="121900" bIns="121900" anchor="ctr" anchorCtr="0">
            <a:noAutofit/>
          </a:bodyPr>
          <a:p>
            <a:pPr marL="165100" lvl="0" indent="0" algn="l" rtl="0">
              <a:spcBef>
                <a:spcPts val="0"/>
              </a:spcBef>
              <a:spcAft>
                <a:spcPts val="0"/>
              </a:spcAft>
              <a:buNone/>
            </a:pPr>
            <a:r>
              <a:rPr lang="en-US" sz="2800" b="1">
                <a:solidFill>
                  <a:srgbClr val="F8F2E8"/>
                </a:solidFill>
                <a:latin typeface="Plus Jakarta Sans"/>
                <a:ea typeface="Plus Jakarta Sans"/>
                <a:cs typeface="Plus Jakarta Sans"/>
                <a:sym typeface="Plus Jakarta Sans"/>
              </a:rPr>
              <a:t>Profesor:</a:t>
            </a:r>
            <a:r>
              <a:rPr lang="es-AR" altLang="en-US" sz="2800" b="1">
                <a:solidFill>
                  <a:srgbClr val="F8F2E8"/>
                </a:solidFill>
                <a:latin typeface="Plus Jakarta Sans"/>
                <a:ea typeface="Plus Jakarta Sans"/>
                <a:cs typeface="Plus Jakarta Sans"/>
                <a:sym typeface="Plus Jakarta Sans"/>
              </a:rPr>
              <a:t> </a:t>
            </a:r>
            <a:r>
              <a:rPr lang="es-AR" altLang="en-US" b="1">
                <a:solidFill>
                  <a:srgbClr val="F8F2E8"/>
                </a:solidFill>
                <a:latin typeface="Plus Jakarta Sans"/>
                <a:ea typeface="Plus Jakarta Sans"/>
                <a:cs typeface="Plus Jakarta Sans"/>
                <a:sym typeface="Plus Jakarta Sans"/>
              </a:rPr>
              <a:t>Arturo Grottoli        | </a:t>
            </a:r>
            <a:endParaRPr lang="es-AR" altLang="en-US" b="1">
              <a:solidFill>
                <a:srgbClr val="F8F2E8"/>
              </a:solidFill>
              <a:latin typeface="Plus Jakarta Sans"/>
              <a:ea typeface="Plus Jakarta Sans"/>
              <a:cs typeface="Plus Jakarta Sans"/>
              <a:sym typeface="Plus Jakarta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91" name="Shape 191"/>
        <p:cNvGrpSpPr/>
        <p:nvPr/>
      </p:nvGrpSpPr>
      <p:grpSpPr>
        <a:xfrm>
          <a:off x="0" y="0"/>
          <a:ext cx="0" cy="0"/>
          <a:chOff x="0" y="0"/>
          <a:chExt cx="0" cy="0"/>
        </a:xfrm>
      </p:grpSpPr>
      <p:sp>
        <p:nvSpPr>
          <p:cNvPr id="192" name="Google Shape;192;p34"/>
          <p:cNvSpPr txBox="1"/>
          <p:nvPr/>
        </p:nvSpPr>
        <p:spPr>
          <a:xfrm>
            <a:off x="3776747" y="0"/>
            <a:ext cx="8617200" cy="1853200"/>
          </a:xfrm>
          <a:prstGeom prst="rect">
            <a:avLst/>
          </a:prstGeom>
          <a:noFill/>
          <a:ln>
            <a:noFill/>
          </a:ln>
        </p:spPr>
        <p:txBody>
          <a:bodyPr spcFirstLastPara="1" wrap="square" lIns="121900" tIns="121900" rIns="121900" bIns="121900" anchor="t" anchorCtr="0">
            <a:noAutofit/>
          </a:bodyPr>
          <a:lstStyle/>
          <a:p>
            <a:pPr marL="0" lvl="0" indent="0" algn="r" rtl="0">
              <a:spcBef>
                <a:spcPts val="0"/>
              </a:spcBef>
              <a:spcAft>
                <a:spcPts val="0"/>
              </a:spcAft>
              <a:buNone/>
            </a:pPr>
            <a:r>
              <a:rPr lang="en-US" sz="12800">
                <a:solidFill>
                  <a:srgbClr val="FF632B"/>
                </a:solidFill>
                <a:latin typeface="Plus Jakarta Sans ExtraBold"/>
                <a:ea typeface="Plus Jakarta Sans ExtraBold"/>
                <a:cs typeface="Plus Jakarta Sans ExtraBold"/>
                <a:sym typeface="Plus Jakarta Sans ExtraBold"/>
              </a:rPr>
              <a:t>Agenda</a:t>
            </a:r>
            <a:endParaRPr sz="12800">
              <a:solidFill>
                <a:srgbClr val="FF632B"/>
              </a:solidFill>
              <a:latin typeface="Plus Jakarta Sans ExtraBold"/>
              <a:ea typeface="Plus Jakarta Sans ExtraBold"/>
              <a:cs typeface="Plus Jakarta Sans ExtraBold"/>
              <a:sym typeface="Plus Jakarta Sans ExtraBold"/>
            </a:endParaRPr>
          </a:p>
        </p:txBody>
      </p:sp>
      <p:sp>
        <p:nvSpPr>
          <p:cNvPr id="193" name="Google Shape;193;p34"/>
          <p:cNvSpPr txBox="1"/>
          <p:nvPr/>
        </p:nvSpPr>
        <p:spPr>
          <a:xfrm>
            <a:off x="962025" y="2336800"/>
            <a:ext cx="8616950" cy="3629025"/>
          </a:xfrm>
          <a:prstGeom prst="rect">
            <a:avLst/>
          </a:prstGeom>
          <a:noFill/>
          <a:ln>
            <a:noFill/>
          </a:ln>
        </p:spPr>
        <p:txBody>
          <a:bodyPr spcFirstLastPara="1" wrap="square" lIns="121900" tIns="121900" rIns="121900" bIns="121900" anchor="t" anchorCtr="0">
            <a:noAutofit/>
          </a:bodyPr>
          <a:lstStyle/>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1: La Transformación Digital en la Industria 4.0</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2: Fundamentos de Python</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3: NumPy y Pandas</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4: Manipulación de Datos: Pandas</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5: Visualizaciones Avanzadas en Data Science</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6: Estadística y Preprocesamiento</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7: Aplicaciones Prácticas de ML</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8: Aprendizaje Supervisado en Ciencia de Datos</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9: Aprendizaje No Supervisado</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10: Fundamentos de IA y Machine Learning</a:t>
            </a:r>
            <a:endParaRPr lang="en-US" altLang="en-US" sz="1600">
              <a:solidFill>
                <a:srgbClr val="171717"/>
              </a:solidFill>
              <a:latin typeface="Plus Jakarta Sans Light"/>
              <a:ea typeface="Plus Jakarta Sans Light"/>
              <a:cs typeface="Plus Jakarta Sans Light"/>
              <a:sym typeface="Plus Jakarta Sans Light"/>
            </a:endParaRPr>
          </a:p>
          <a:p>
            <a:pPr marL="457200" lvl="0" indent="-304800" algn="l" rtl="0">
              <a:lnSpc>
                <a:spcPct val="115000"/>
              </a:lnSpc>
              <a:spcBef>
                <a:spcPts val="0"/>
              </a:spcBef>
              <a:spcAft>
                <a:spcPts val="0"/>
              </a:spcAft>
              <a:buClr>
                <a:srgbClr val="171717"/>
              </a:buClr>
              <a:buSzPts val="1200"/>
              <a:buFont typeface="Plus Jakarta Sans Light"/>
              <a:buAutoNum type="arabicPeriod"/>
            </a:pPr>
            <a:r>
              <a:rPr lang="en-US" altLang="en-US" sz="1600">
                <a:solidFill>
                  <a:srgbClr val="171717"/>
                </a:solidFill>
                <a:latin typeface="Plus Jakarta Sans Light"/>
                <a:ea typeface="Plus Jakarta Sans Light"/>
                <a:cs typeface="Plus Jakarta Sans Light"/>
                <a:sym typeface="Plus Jakarta Sans Light"/>
              </a:rPr>
              <a:t>Semana 11: Entrega de Proyecto Final</a:t>
            </a:r>
            <a:endParaRPr lang="en-US" altLang="en-US" sz="1600">
              <a:solidFill>
                <a:srgbClr val="171717"/>
              </a:solidFill>
              <a:latin typeface="Plus Jakarta Sans Light"/>
              <a:ea typeface="Plus Jakarta Sans Light"/>
              <a:cs typeface="Plus Jakarta Sans Light"/>
              <a:sym typeface="Plus Jakarta San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2" name="Google Shape;242;p38"/>
          <p:cNvSpPr txBox="1"/>
          <p:nvPr/>
        </p:nvSpPr>
        <p:spPr>
          <a:xfrm>
            <a:off x="803275" y="879475"/>
            <a:ext cx="10429875" cy="2273935"/>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800">
                <a:solidFill>
                  <a:srgbClr val="FF632B"/>
                </a:solidFill>
                <a:latin typeface="Plus Jakarta Sans ExtraBold"/>
                <a:ea typeface="Plus Jakarta Sans ExtraBold"/>
                <a:cs typeface="Plus Jakarta Sans ExtraBold"/>
                <a:sym typeface="Plus Jakarta Sans ExtraBold"/>
              </a:rPr>
              <a:t>Evolución Industrial y Fundamentos de Industria 4.0</a:t>
            </a:r>
            <a:endParaRPr lang="en-US" altLang="en-US" sz="4800">
              <a:solidFill>
                <a:srgbClr val="FF632B"/>
              </a:solidFill>
              <a:latin typeface="Plus Jakarta Sans ExtraBold"/>
              <a:ea typeface="Plus Jakarta Sans ExtraBold"/>
              <a:cs typeface="Plus Jakarta Sans ExtraBold"/>
              <a:sym typeface="Plus Jakarta Sans ExtraBold"/>
            </a:endParaRPr>
          </a:p>
        </p:txBody>
      </p:sp>
      <p:sp>
        <p:nvSpPr>
          <p:cNvPr id="243" name="Google Shape;243;p38"/>
          <p:cNvSpPr txBox="1"/>
          <p:nvPr/>
        </p:nvSpPr>
        <p:spPr>
          <a:xfrm>
            <a:off x="803275" y="2680970"/>
            <a:ext cx="11102975" cy="11201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2400">
                <a:solidFill>
                  <a:srgbClr val="171717"/>
                </a:solidFill>
                <a:latin typeface="Plus Jakarta Sans"/>
                <a:ea typeface="Plus Jakarta Sans"/>
                <a:cs typeface="Plus Jakarta Sans"/>
                <a:sym typeface="Plus Jakarta Sans"/>
              </a:rPr>
              <a:t>De la mecanización a la toma de decisiones basada en datos.</a:t>
            </a:r>
            <a:endParaRPr lang="en-US" altLang="en-US" sz="2400">
              <a:solidFill>
                <a:srgbClr val="171717"/>
              </a:solidFill>
              <a:latin typeface="Plus Jakarta Sans"/>
              <a:ea typeface="Plus Jakarta Sans"/>
              <a:cs typeface="Plus Jakarta Sans"/>
              <a:sym typeface="Plus Jakarta Sans"/>
            </a:endParaRPr>
          </a:p>
        </p:txBody>
      </p:sp>
      <p:pic>
        <p:nvPicPr>
          <p:cNvPr id="2" name="Picture 1"/>
          <p:cNvPicPr/>
          <p:nvPr/>
        </p:nvPicPr>
        <p:blipFill>
          <a:blip r:embed="rId1"/>
          <a:stretch>
            <a:fillRect/>
          </a:stretch>
        </p:blipFill>
        <p:spPr>
          <a:xfrm>
            <a:off x="3629025" y="3429000"/>
            <a:ext cx="4114165" cy="27559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38"/>
          <p:cNvSpPr txBox="1"/>
          <p:nvPr/>
        </p:nvSpPr>
        <p:spPr>
          <a:xfrm>
            <a:off x="985433" y="2565617"/>
            <a:ext cx="10420800" cy="3026000"/>
          </a:xfrm>
          <a:prstGeom prst="rect">
            <a:avLst/>
          </a:prstGeom>
          <a:noFill/>
          <a:ln>
            <a:noFill/>
          </a:ln>
        </p:spPr>
        <p:txBody>
          <a:bodyPr spcFirstLastPara="1" wrap="square" lIns="121900" tIns="121900" rIns="121900" bIns="121900" anchor="t" anchorCtr="0">
            <a:noAutofit/>
          </a:bodyPr>
          <a:lstStyle/>
          <a:p>
            <a:pPr marL="0" lvl="0" indent="0" algn="l" rtl="0">
              <a:lnSpc>
                <a:spcPct val="115000"/>
              </a:lnSpc>
              <a:spcBef>
                <a:spcPts val="0"/>
              </a:spcBef>
              <a:spcAft>
                <a:spcPts val="0"/>
              </a:spcAft>
              <a:buNone/>
            </a:pPr>
            <a:r>
              <a:rPr lang="en-US" altLang="en-US" sz="2400">
                <a:solidFill>
                  <a:srgbClr val="171717"/>
                </a:solidFill>
                <a:latin typeface="Plus Jakarta Sans Light"/>
                <a:ea typeface="Plus Jakarta Sans Light"/>
                <a:cs typeface="Plus Jakarta Sans Light"/>
                <a:sym typeface="Plus Jakarta Sans Light"/>
              </a:rPr>
              <a:t>Puntos clave:</a:t>
            </a:r>
            <a:endParaRPr lang="en-US" altLang="en-US" sz="24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24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r>
              <a:rPr lang="en-US" altLang="en-US" sz="1600">
                <a:solidFill>
                  <a:srgbClr val="171717"/>
                </a:solidFill>
                <a:latin typeface="Plus Jakarta Sans Light"/>
                <a:ea typeface="Plus Jakarta Sans Light"/>
                <a:cs typeface="Plus Jakarta Sans Light"/>
                <a:sym typeface="Plus Jakarta Sans Light"/>
              </a:rPr>
              <a:t>Comprender la evolución de las revoluciones industriales.</a:t>
            </a:r>
            <a:endParaRPr lang="en-US" altLang="en-US" sz="16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endParaRPr lang="en-US" altLang="en-US" sz="16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r>
              <a:rPr lang="en-US" altLang="en-US" sz="1600">
                <a:solidFill>
                  <a:srgbClr val="171717"/>
                </a:solidFill>
                <a:latin typeface="Plus Jakarta Sans Light"/>
                <a:ea typeface="Plus Jakarta Sans Light"/>
                <a:cs typeface="Plus Jakarta Sans Light"/>
                <a:sym typeface="Plus Jakarta Sans Light"/>
              </a:rPr>
              <a:t>Identificar los 9 pilares de la Industria 4.0.</a:t>
            </a:r>
            <a:endParaRPr lang="en-US" altLang="en-US" sz="16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endParaRPr lang="en-US" altLang="en-US" sz="16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r>
              <a:rPr lang="en-US" altLang="en-US" sz="1600">
                <a:solidFill>
                  <a:srgbClr val="171717"/>
                </a:solidFill>
                <a:latin typeface="Plus Jakarta Sans Light"/>
                <a:ea typeface="Plus Jakarta Sans Light"/>
                <a:cs typeface="Plus Jakarta Sans Light"/>
                <a:sym typeface="Plus Jakarta Sans Light"/>
              </a:rPr>
              <a:t>Analizar el impacto de IoT y Big Data.</a:t>
            </a:r>
            <a:endParaRPr lang="en-US" altLang="en-US" sz="16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endParaRPr lang="en-US" altLang="en-US" sz="16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r>
              <a:rPr lang="en-US" altLang="en-US" sz="1600">
                <a:solidFill>
                  <a:srgbClr val="171717"/>
                </a:solidFill>
                <a:latin typeface="Plus Jakarta Sans Light"/>
                <a:ea typeface="Plus Jakarta Sans Light"/>
                <a:cs typeface="Plus Jakarta Sans Light"/>
                <a:sym typeface="Plus Jakarta Sans Light"/>
              </a:rPr>
              <a:t>Diseñar un plan ejecutivo data-driven.</a:t>
            </a:r>
            <a:endParaRPr lang="en-US" altLang="en-US" sz="16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endParaRPr lang="es-AR" altLang="en-US" sz="1600">
              <a:solidFill>
                <a:srgbClr val="171717"/>
              </a:solidFill>
              <a:latin typeface="Plus Jakarta Sans Light"/>
              <a:ea typeface="Plus Jakarta Sans Light"/>
              <a:cs typeface="Plus Jakarta Sans Light"/>
              <a:sym typeface="Plus Jakarta Sans Light"/>
            </a:endParaRPr>
          </a:p>
          <a:p>
            <a:pPr marL="285750" lvl="0" indent="-285750" algn="l" rtl="0">
              <a:lnSpc>
                <a:spcPct val="115000"/>
              </a:lnSpc>
              <a:spcBef>
                <a:spcPts val="0"/>
              </a:spcBef>
              <a:spcAft>
                <a:spcPts val="0"/>
              </a:spcAft>
              <a:buFont typeface="Arial" panose="020B0604020202020204" pitchFamily="34" charset="0"/>
              <a:buChar char="•"/>
            </a:pPr>
            <a:r>
              <a:rPr lang="es-AR" altLang="en-US" sz="1600">
                <a:solidFill>
                  <a:srgbClr val="171717"/>
                </a:solidFill>
                <a:latin typeface="Plus Jakarta Sans Light"/>
                <a:ea typeface="Plus Jakarta Sans Light"/>
                <a:cs typeface="Plus Jakarta Sans Light"/>
                <a:sym typeface="Plus Jakarta Sans Light"/>
              </a:rPr>
              <a:t>Desarrollar algunas actividades grupales</a:t>
            </a:r>
            <a:endParaRPr lang="es-AR" altLang="en-US" sz="1600">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803275" y="879475"/>
            <a:ext cx="9618980" cy="11201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6400">
                <a:solidFill>
                  <a:srgbClr val="FF632B"/>
                </a:solidFill>
                <a:latin typeface="Plus Jakarta Sans ExtraBold"/>
                <a:ea typeface="Plus Jakarta Sans ExtraBold"/>
                <a:cs typeface="Plus Jakarta Sans ExtraBold"/>
                <a:sym typeface="Plus Jakarta Sans ExtraBold"/>
              </a:rPr>
              <a:t>Objetivos de la Sesión</a:t>
            </a:r>
            <a:endParaRPr lang="en-US" altLang="en-US" sz="6400">
              <a:solidFill>
                <a:srgbClr val="FF632B"/>
              </a:solidFill>
              <a:latin typeface="Plus Jakarta Sans ExtraBold"/>
              <a:ea typeface="Plus Jakarta Sans ExtraBold"/>
              <a:cs typeface="Plus Jakarta Sans ExtraBold"/>
              <a:sym typeface="Plus Jakarta Sans ExtraBo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228" name="Shape 228"/>
        <p:cNvGrpSpPr/>
        <p:nvPr/>
      </p:nvGrpSpPr>
      <p:grpSpPr>
        <a:xfrm>
          <a:off x="0" y="0"/>
          <a:ext cx="0" cy="0"/>
          <a:chOff x="0" y="0"/>
          <a:chExt cx="0" cy="0"/>
        </a:xfrm>
      </p:grpSpPr>
      <p:sp>
        <p:nvSpPr>
          <p:cNvPr id="230" name="Google Shape;230;p36"/>
          <p:cNvSpPr txBox="1"/>
          <p:nvPr/>
        </p:nvSpPr>
        <p:spPr>
          <a:xfrm>
            <a:off x="855345" y="4450080"/>
            <a:ext cx="10272395" cy="11201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800">
                <a:solidFill>
                  <a:srgbClr val="F8F2E8"/>
                </a:solidFill>
                <a:latin typeface="Plus Jakarta Sans ExtraBold"/>
                <a:ea typeface="Plus Jakarta Sans ExtraBold"/>
                <a:cs typeface="Plus Jakarta Sans ExtraBold"/>
                <a:sym typeface="Plus Jakarta Sans ExtraBold"/>
              </a:rPr>
              <a:t>La Línea del Tiempo (Evolución)</a:t>
            </a:r>
            <a:endParaRPr lang="en-US" altLang="en-US" sz="4800">
              <a:solidFill>
                <a:srgbClr val="F8F2E8"/>
              </a:solidFill>
              <a:latin typeface="Plus Jakarta Sans ExtraBold"/>
              <a:ea typeface="Plus Jakarta Sans ExtraBold"/>
              <a:cs typeface="Plus Jakarta Sans ExtraBold"/>
              <a:sym typeface="Plus Jakarta Sans ExtraBo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2" name="Google Shape;242;p38"/>
          <p:cNvSpPr txBox="1"/>
          <p:nvPr/>
        </p:nvSpPr>
        <p:spPr>
          <a:xfrm>
            <a:off x="803200" y="614037"/>
            <a:ext cx="8617200" cy="112040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s-AR" altLang="en-US" sz="6400">
                <a:solidFill>
                  <a:srgbClr val="FF632B"/>
                </a:solidFill>
                <a:latin typeface="Plus Jakarta Sans ExtraBold"/>
                <a:ea typeface="Plus Jakarta Sans ExtraBold"/>
                <a:cs typeface="Plus Jakarta Sans ExtraBold"/>
                <a:sym typeface="Plus Jakarta Sans ExtraBold"/>
              </a:rPr>
              <a:t>Linea del tiempo</a:t>
            </a:r>
            <a:endParaRPr lang="es-AR" altLang="en-US" sz="6400">
              <a:solidFill>
                <a:srgbClr val="FF632B"/>
              </a:solidFill>
              <a:latin typeface="Plus Jakarta Sans ExtraBold"/>
              <a:ea typeface="Plus Jakarta Sans ExtraBold"/>
              <a:cs typeface="Plus Jakarta Sans ExtraBold"/>
              <a:sym typeface="Plus Jakarta Sans ExtraBold"/>
            </a:endParaRPr>
          </a:p>
        </p:txBody>
      </p:sp>
      <p:pic>
        <p:nvPicPr>
          <p:cNvPr id="2" name="Picture 1"/>
          <p:cNvPicPr/>
          <p:nvPr/>
        </p:nvPicPr>
        <p:blipFill>
          <a:blip r:embed="rId1"/>
          <a:stretch>
            <a:fillRect/>
          </a:stretch>
        </p:blipFill>
        <p:spPr>
          <a:xfrm>
            <a:off x="1506855" y="1734185"/>
            <a:ext cx="9178290" cy="4661535"/>
          </a:xfrm>
          <a:prstGeom prst="rect">
            <a:avLst/>
          </a:prstGeom>
        </p:spPr>
      </p:pic>
      <p:sp>
        <p:nvSpPr>
          <p:cNvPr id="1" name="Text Box 0"/>
          <p:cNvSpPr txBox="1"/>
          <p:nvPr/>
        </p:nvSpPr>
        <p:spPr>
          <a:xfrm>
            <a:off x="3048000" y="6395720"/>
            <a:ext cx="6096000" cy="368300"/>
          </a:xfrm>
          <a:prstGeom prst="rect">
            <a:avLst/>
          </a:prstGeom>
          <a:noFill/>
        </p:spPr>
        <p:txBody>
          <a:bodyPr wrap="square" rtlCol="0" anchor="t">
            <a:spAutoFit/>
          </a:bodyPr>
          <a:p>
            <a:r>
              <a:rPr lang="en-US" altLang="en-US"/>
              <a:t>https://www.youtube.com/watch?v=iMHQZPXLbyg</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2" name="Google Shape;242;p38"/>
          <p:cNvSpPr txBox="1"/>
          <p:nvPr/>
        </p:nvSpPr>
        <p:spPr>
          <a:xfrm>
            <a:off x="803200" y="614037"/>
            <a:ext cx="8617200" cy="112040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6400">
                <a:solidFill>
                  <a:srgbClr val="FF632B"/>
                </a:solidFill>
                <a:latin typeface="Plus Jakarta Sans ExtraBold"/>
                <a:ea typeface="Plus Jakarta Sans ExtraBold"/>
                <a:cs typeface="Plus Jakarta Sans ExtraBold"/>
                <a:sym typeface="Plus Jakarta Sans ExtraBold"/>
              </a:rPr>
              <a:t>¿Qué es realmente Industria 4.0?</a:t>
            </a:r>
            <a:endParaRPr lang="en-US" altLang="en-US" sz="6400">
              <a:solidFill>
                <a:srgbClr val="FF632B"/>
              </a:solidFill>
              <a:latin typeface="Plus Jakarta Sans ExtraBold"/>
              <a:ea typeface="Plus Jakarta Sans ExtraBold"/>
              <a:cs typeface="Plus Jakarta Sans ExtraBold"/>
              <a:sym typeface="Plus Jakarta Sans ExtraBold"/>
            </a:endParaRPr>
          </a:p>
        </p:txBody>
      </p:sp>
      <p:sp>
        <p:nvSpPr>
          <p:cNvPr id="241" name="Google Shape;241;p38"/>
          <p:cNvSpPr txBox="1"/>
          <p:nvPr/>
        </p:nvSpPr>
        <p:spPr>
          <a:xfrm>
            <a:off x="985433" y="3308567"/>
            <a:ext cx="10420800" cy="3026000"/>
          </a:xfrm>
          <a:prstGeom prst="rect">
            <a:avLst/>
          </a:prstGeom>
          <a:noFill/>
          <a:ln>
            <a:noFill/>
          </a:ln>
        </p:spPr>
        <p:txBody>
          <a:bodyPr spcFirstLastPara="1" wrap="square" lIns="121900" tIns="121900" rIns="121900" bIns="121900" anchor="t" anchorCtr="0">
            <a:noAutofit/>
          </a:bodyPr>
          <a:p>
            <a:pPr marL="0" lvl="0" indent="0" algn="l" rtl="0">
              <a:lnSpc>
                <a:spcPct val="115000"/>
              </a:lnSpc>
              <a:spcBef>
                <a:spcPts val="0"/>
              </a:spcBef>
              <a:spcAft>
                <a:spcPts val="0"/>
              </a:spcAft>
              <a:buNone/>
            </a:pPr>
            <a:r>
              <a:rPr lang="en-US" altLang="en-US" sz="1600" b="1">
                <a:solidFill>
                  <a:srgbClr val="171717"/>
                </a:solidFill>
                <a:latin typeface="Plus Jakarta Sans Light"/>
                <a:ea typeface="Plus Jakarta Sans Light"/>
                <a:cs typeface="Plus Jakarta Sans Light"/>
                <a:sym typeface="Plus Jakarta Sans Light"/>
              </a:rPr>
              <a:t>Concepto Central:</a:t>
            </a:r>
            <a:endParaRPr lang="en-US" altLang="en-US" sz="1600" b="1">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No es solo tecnología, es la integración de datos para crear valor.</a:t>
            </a: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b="1">
                <a:solidFill>
                  <a:srgbClr val="171717"/>
                </a:solidFill>
                <a:latin typeface="Plus Jakarta Sans Light"/>
                <a:ea typeface="Plus Jakarta Sans Light"/>
                <a:cs typeface="Plus Jakarta Sans Light"/>
                <a:sym typeface="Plus Jakarta Sans Light"/>
              </a:rPr>
              <a:t>Definición: </a:t>
            </a:r>
            <a:endParaRPr lang="en-US" altLang="en-US" sz="1600" b="1">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Sistemas donde el mundo físico y el digital convergen (Sistemas Ciberfísicos).</a:t>
            </a:r>
            <a:endParaRPr lang="en-US" altLang="en-US" sz="1600">
              <a:solidFill>
                <a:srgbClr val="171717"/>
              </a:solidFill>
              <a:latin typeface="Plus Jakarta Sans Light"/>
              <a:ea typeface="Plus Jakarta Sans Light"/>
              <a:cs typeface="Plus Jakarta Sans Light"/>
              <a:sym typeface="Plus Jakarta Sans Light"/>
            </a:endParaRPr>
          </a:p>
        </p:txBody>
      </p:sp>
      <p:pic>
        <p:nvPicPr>
          <p:cNvPr id="2" name="Picture 1"/>
          <p:cNvPicPr/>
          <p:nvPr/>
        </p:nvPicPr>
        <p:blipFill>
          <a:blip r:embed="rId1"/>
          <a:stretch>
            <a:fillRect/>
          </a:stretch>
        </p:blipFill>
        <p:spPr>
          <a:xfrm>
            <a:off x="9051925" y="4335780"/>
            <a:ext cx="2354580" cy="1242060"/>
          </a:xfrm>
          <a:prstGeom prst="rect">
            <a:avLst/>
          </a:prstGeom>
        </p:spPr>
      </p:pic>
      <p:pic>
        <p:nvPicPr>
          <p:cNvPr id="3" name="Picture 2"/>
          <p:cNvPicPr/>
          <p:nvPr/>
        </p:nvPicPr>
        <p:blipFill>
          <a:blip r:embed="rId2"/>
          <a:stretch>
            <a:fillRect/>
          </a:stretch>
        </p:blipFill>
        <p:spPr>
          <a:xfrm>
            <a:off x="4623435" y="5172710"/>
            <a:ext cx="2095499" cy="1394460"/>
          </a:xfrm>
          <a:prstGeom prst="rect">
            <a:avLst/>
          </a:prstGeom>
        </p:spPr>
      </p:pic>
      <p:pic>
        <p:nvPicPr>
          <p:cNvPr id="4" name="Picture 3"/>
          <p:cNvPicPr/>
          <p:nvPr/>
        </p:nvPicPr>
        <p:blipFill>
          <a:blip r:embed="rId3"/>
          <a:stretch>
            <a:fillRect/>
          </a:stretch>
        </p:blipFill>
        <p:spPr>
          <a:xfrm>
            <a:off x="8899525" y="1965960"/>
            <a:ext cx="2658745" cy="216027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tretch>
            <a:fillRect/>
          </a:stretch>
        </p:blipFill>
        <p:spPr>
          <a:xfrm>
            <a:off x="378460" y="1927225"/>
            <a:ext cx="4148455" cy="3003550"/>
          </a:xfrm>
          <a:prstGeom prst="rect">
            <a:avLst/>
          </a:prstGeom>
        </p:spPr>
      </p:pic>
      <p:sp>
        <p:nvSpPr>
          <p:cNvPr id="242" name="Google Shape;242;p38"/>
          <p:cNvSpPr txBox="1"/>
          <p:nvPr/>
        </p:nvSpPr>
        <p:spPr>
          <a:xfrm>
            <a:off x="803200" y="614037"/>
            <a:ext cx="8617200" cy="1120400"/>
          </a:xfrm>
          <a:prstGeom prst="rect">
            <a:avLst/>
          </a:prstGeom>
          <a:noFill/>
          <a:ln>
            <a:noFill/>
          </a:ln>
        </p:spPr>
        <p:txBody>
          <a:bodyPr spcFirstLastPara="1" wrap="square" lIns="121900" tIns="121900" rIns="121900" bIns="121900" anchor="t" anchorCtr="0">
            <a:noAutofit/>
          </a:bodyPr>
          <a:p>
            <a:pPr marL="0" lvl="0" indent="0" algn="l" rtl="0">
              <a:spcBef>
                <a:spcPts val="0"/>
              </a:spcBef>
              <a:spcAft>
                <a:spcPts val="0"/>
              </a:spcAft>
              <a:buNone/>
            </a:pPr>
            <a:r>
              <a:rPr lang="es-AR" altLang="en-US" sz="6400">
                <a:solidFill>
                  <a:srgbClr val="FF632B"/>
                </a:solidFill>
                <a:latin typeface="Plus Jakarta Sans ExtraBold"/>
                <a:ea typeface="Plus Jakarta Sans ExtraBold"/>
                <a:cs typeface="Plus Jakarta Sans ExtraBold"/>
                <a:sym typeface="Plus Jakarta Sans ExtraBold"/>
              </a:rPr>
              <a:t>Ejemplos Peajes </a:t>
            </a:r>
            <a:endParaRPr lang="es-AR" altLang="en-US" sz="6400">
              <a:solidFill>
                <a:srgbClr val="FF632B"/>
              </a:solidFill>
              <a:latin typeface="Plus Jakarta Sans ExtraBold"/>
              <a:ea typeface="Plus Jakarta Sans ExtraBold"/>
              <a:cs typeface="Plus Jakarta Sans ExtraBold"/>
              <a:sym typeface="Plus Jakarta Sans ExtraBold"/>
            </a:endParaRPr>
          </a:p>
        </p:txBody>
      </p:sp>
      <p:pic>
        <p:nvPicPr>
          <p:cNvPr id="3" name="Picture 2"/>
          <p:cNvPicPr/>
          <p:nvPr/>
        </p:nvPicPr>
        <p:blipFill>
          <a:blip r:embed="rId2"/>
          <a:stretch>
            <a:fillRect/>
          </a:stretch>
        </p:blipFill>
        <p:spPr>
          <a:xfrm>
            <a:off x="5893435" y="1864995"/>
            <a:ext cx="4728845" cy="30657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2" name="Google Shape;242;p38"/>
          <p:cNvSpPr txBox="1"/>
          <p:nvPr/>
        </p:nvSpPr>
        <p:spPr>
          <a:xfrm>
            <a:off x="803200" y="614037"/>
            <a:ext cx="8617200" cy="1120400"/>
          </a:xfrm>
          <a:prstGeom prst="rect">
            <a:avLst/>
          </a:prstGeom>
          <a:noFill/>
          <a:ln>
            <a:noFill/>
          </a:ln>
        </p:spPr>
        <p:txBody>
          <a:bodyPr spcFirstLastPara="1" wrap="square" lIns="121900" tIns="121900" rIns="121900" bIns="121900" anchor="t" anchorCtr="0">
            <a:noAutofit/>
          </a:bodyPr>
          <a:p>
            <a:pPr marL="0" lvl="0" indent="0" algn="l" rtl="0">
              <a:spcBef>
                <a:spcPts val="0"/>
              </a:spcBef>
              <a:spcAft>
                <a:spcPts val="0"/>
              </a:spcAft>
              <a:buNone/>
            </a:pPr>
            <a:r>
              <a:rPr lang="es-AR" altLang="en-US" sz="6400">
                <a:solidFill>
                  <a:srgbClr val="FF632B"/>
                </a:solidFill>
                <a:latin typeface="Plus Jakarta Sans ExtraBold"/>
                <a:ea typeface="Plus Jakarta Sans ExtraBold"/>
                <a:cs typeface="Plus Jakarta Sans ExtraBold"/>
                <a:sym typeface="Plus Jakarta Sans ExtraBold"/>
              </a:rPr>
              <a:t>Ejemplos Salud</a:t>
            </a:r>
            <a:endParaRPr lang="es-AR" altLang="en-US" sz="6400">
              <a:solidFill>
                <a:srgbClr val="FF632B"/>
              </a:solidFill>
              <a:latin typeface="Plus Jakarta Sans ExtraBold"/>
              <a:ea typeface="Plus Jakarta Sans ExtraBold"/>
              <a:cs typeface="Plus Jakarta Sans ExtraBold"/>
              <a:sym typeface="Plus Jakarta Sans ExtraBold"/>
            </a:endParaRPr>
          </a:p>
        </p:txBody>
      </p:sp>
      <p:pic>
        <p:nvPicPr>
          <p:cNvPr id="4" name="Picture 3"/>
          <p:cNvPicPr/>
          <p:nvPr/>
        </p:nvPicPr>
        <p:blipFill>
          <a:blip r:embed="rId1"/>
          <a:stretch>
            <a:fillRect/>
          </a:stretch>
        </p:blipFill>
        <p:spPr>
          <a:xfrm>
            <a:off x="353695" y="1906270"/>
            <a:ext cx="5681980" cy="3545840"/>
          </a:xfrm>
          <a:prstGeom prst="rect">
            <a:avLst/>
          </a:prstGeom>
        </p:spPr>
      </p:pic>
      <p:pic>
        <p:nvPicPr>
          <p:cNvPr id="7" name="Picture 6"/>
          <p:cNvPicPr/>
          <p:nvPr/>
        </p:nvPicPr>
        <p:blipFill>
          <a:blip r:embed="rId2"/>
          <a:stretch>
            <a:fillRect/>
          </a:stretch>
        </p:blipFill>
        <p:spPr>
          <a:xfrm>
            <a:off x="6475095" y="2010410"/>
            <a:ext cx="5332730" cy="333692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2" name="Google Shape;242;p38"/>
          <p:cNvSpPr txBox="1"/>
          <p:nvPr/>
        </p:nvSpPr>
        <p:spPr>
          <a:xfrm>
            <a:off x="803200" y="614037"/>
            <a:ext cx="8617200" cy="1120400"/>
          </a:xfrm>
          <a:prstGeom prst="rect">
            <a:avLst/>
          </a:prstGeom>
          <a:noFill/>
          <a:ln>
            <a:noFill/>
          </a:ln>
        </p:spPr>
        <p:txBody>
          <a:bodyPr spcFirstLastPara="1" wrap="square" lIns="121900" tIns="121900" rIns="121900" bIns="121900" anchor="t" anchorCtr="0">
            <a:noAutofit/>
          </a:bodyPr>
          <a:p>
            <a:pPr marL="0" lvl="0" indent="0" algn="l" rtl="0">
              <a:spcBef>
                <a:spcPts val="0"/>
              </a:spcBef>
              <a:spcAft>
                <a:spcPts val="0"/>
              </a:spcAft>
              <a:buNone/>
            </a:pPr>
            <a:r>
              <a:rPr lang="es-AR" altLang="en-US" sz="6400">
                <a:solidFill>
                  <a:srgbClr val="FF632B"/>
                </a:solidFill>
                <a:latin typeface="Plus Jakarta Sans ExtraBold"/>
                <a:ea typeface="Plus Jakarta Sans ExtraBold"/>
                <a:cs typeface="Plus Jakarta Sans ExtraBold"/>
                <a:sym typeface="Plus Jakarta Sans ExtraBold"/>
              </a:rPr>
              <a:t>Ejemplos industria</a:t>
            </a:r>
            <a:endParaRPr lang="es-AR" altLang="en-US" sz="6400">
              <a:solidFill>
                <a:srgbClr val="FF632B"/>
              </a:solidFill>
              <a:latin typeface="Plus Jakarta Sans ExtraBold"/>
              <a:ea typeface="Plus Jakarta Sans ExtraBold"/>
              <a:cs typeface="Plus Jakarta Sans ExtraBold"/>
              <a:sym typeface="Plus Jakarta Sans ExtraBold"/>
            </a:endParaRPr>
          </a:p>
        </p:txBody>
      </p:sp>
      <p:sp>
        <p:nvSpPr>
          <p:cNvPr id="2" name="Text Box 1"/>
          <p:cNvSpPr txBox="1"/>
          <p:nvPr/>
        </p:nvSpPr>
        <p:spPr>
          <a:xfrm>
            <a:off x="1132205" y="2468880"/>
            <a:ext cx="6096000" cy="1476375"/>
          </a:xfrm>
          <a:prstGeom prst="rect">
            <a:avLst/>
          </a:prstGeom>
          <a:noFill/>
        </p:spPr>
        <p:txBody>
          <a:bodyPr wrap="square" rtlCol="0" anchor="t">
            <a:spAutoFit/>
          </a:bodyPr>
          <a:p>
            <a:r>
              <a:rPr lang="es-AR" altLang="en-US"/>
              <a:t>Correo Argentino</a:t>
            </a:r>
            <a:endParaRPr lang="en-US" altLang="en-US"/>
          </a:p>
          <a:p>
            <a:r>
              <a:rPr lang="en-US" altLang="en-US"/>
              <a:t>https://www.youtube.com/watch?v=JIqs3uQlg3w</a:t>
            </a:r>
            <a:endParaRPr lang="en-US" altLang="en-US"/>
          </a:p>
          <a:p>
            <a:endParaRPr lang="en-US"/>
          </a:p>
          <a:p>
            <a:r>
              <a:rPr lang="es-AR" altLang="en-US"/>
              <a:t>Granjas Robotizadas	</a:t>
            </a:r>
            <a:endParaRPr lang="en-US"/>
          </a:p>
          <a:p>
            <a:r>
              <a:rPr lang="en-US" altLang="en-US"/>
              <a:t>https://www.youtube.com/watch?v=t2MuKqlnnpU</a:t>
            </a:r>
            <a:endParaRPr lang="en-US"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247" name="Shape 247"/>
        <p:cNvGrpSpPr/>
        <p:nvPr/>
      </p:nvGrpSpPr>
      <p:grpSpPr>
        <a:xfrm>
          <a:off x="0" y="0"/>
          <a:ext cx="0" cy="0"/>
          <a:chOff x="0" y="0"/>
          <a:chExt cx="0" cy="0"/>
        </a:xfrm>
      </p:grpSpPr>
      <p:sp>
        <p:nvSpPr>
          <p:cNvPr id="248" name="Google Shape;248;p39"/>
          <p:cNvSpPr txBox="1"/>
          <p:nvPr/>
        </p:nvSpPr>
        <p:spPr>
          <a:xfrm>
            <a:off x="985520" y="1462405"/>
            <a:ext cx="5746750" cy="4966970"/>
          </a:xfrm>
          <a:prstGeom prst="rect">
            <a:avLst/>
          </a:prstGeom>
          <a:noFill/>
          <a:ln>
            <a:noFill/>
          </a:ln>
        </p:spPr>
        <p:txBody>
          <a:bodyPr spcFirstLastPara="1" wrap="square" lIns="121900" tIns="121900" rIns="121900" bIns="121900" anchor="t" anchorCtr="0">
            <a:noAutofit/>
          </a:bodyPr>
          <a:lstStyle/>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Big Data / Analítica.</a:t>
            </a: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Robots Autónomos.</a:t>
            </a: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Simulación (Digital Twins).</a:t>
            </a: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Sistemas de Integración (Horizontal/Vertical).</a:t>
            </a: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IoT (Internet de las Cosas).</a:t>
            </a: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Ciberseguridad.</a:t>
            </a: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Cloud Computing.</a:t>
            </a: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Manufactura Aditiva (3D).</a:t>
            </a: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endParaRPr lang="en-US" altLang="en-US" sz="1600">
              <a:solidFill>
                <a:srgbClr val="171717"/>
              </a:solidFill>
              <a:latin typeface="Plus Jakarta Sans Light"/>
              <a:ea typeface="Plus Jakarta Sans Light"/>
              <a:cs typeface="Plus Jakarta Sans Light"/>
              <a:sym typeface="Plus Jakarta Sans Light"/>
            </a:endParaRPr>
          </a:p>
          <a:p>
            <a:pPr marL="342900" lvl="0" indent="-342900" algn="l" rtl="0">
              <a:lnSpc>
                <a:spcPct val="115000"/>
              </a:lnSpc>
              <a:spcBef>
                <a:spcPts val="0"/>
              </a:spcBef>
              <a:spcAft>
                <a:spcPts val="0"/>
              </a:spcAft>
              <a:buAutoNum type="arabicPeriod"/>
            </a:pPr>
            <a:r>
              <a:rPr lang="en-US" altLang="en-US" sz="1600">
                <a:solidFill>
                  <a:srgbClr val="171717"/>
                </a:solidFill>
                <a:latin typeface="Plus Jakarta Sans Light"/>
                <a:ea typeface="Plus Jakarta Sans Light"/>
                <a:cs typeface="Plus Jakarta Sans Light"/>
                <a:sym typeface="Plus Jakarta Sans Light"/>
              </a:rPr>
              <a:t>Realidad Aumentada.</a:t>
            </a:r>
            <a:endParaRPr sz="1600">
              <a:solidFill>
                <a:srgbClr val="171717"/>
              </a:solidFill>
              <a:latin typeface="Plus Jakarta Sans Light"/>
              <a:ea typeface="Plus Jakarta Sans Light"/>
              <a:cs typeface="Plus Jakarta Sans Light"/>
              <a:sym typeface="Plus Jakarta Sans Light"/>
            </a:endParaRPr>
          </a:p>
        </p:txBody>
      </p:sp>
      <p:sp>
        <p:nvSpPr>
          <p:cNvPr id="249" name="Google Shape;249;p39"/>
          <p:cNvSpPr txBox="1"/>
          <p:nvPr/>
        </p:nvSpPr>
        <p:spPr>
          <a:xfrm>
            <a:off x="230505" y="444500"/>
            <a:ext cx="9825990" cy="11201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000">
                <a:solidFill>
                  <a:srgbClr val="FF632B"/>
                </a:solidFill>
                <a:latin typeface="Plus Jakarta Sans ExtraBold"/>
                <a:ea typeface="Plus Jakarta Sans ExtraBold"/>
                <a:cs typeface="Plus Jakarta Sans ExtraBold"/>
                <a:sym typeface="Plus Jakarta Sans ExtraBold"/>
              </a:rPr>
              <a:t>Los 9 Pilares Tecnológicos</a:t>
            </a:r>
            <a:endParaRPr lang="en-US" altLang="en-US" sz="4000">
              <a:solidFill>
                <a:srgbClr val="FF632B"/>
              </a:solidFill>
              <a:latin typeface="Plus Jakarta Sans ExtraBold"/>
              <a:ea typeface="Plus Jakarta Sans ExtraBold"/>
              <a:cs typeface="Plus Jakarta Sans ExtraBold"/>
              <a:sym typeface="Plus Jakarta Sans ExtraBold"/>
            </a:endParaRPr>
          </a:p>
        </p:txBody>
      </p:sp>
      <p:sp>
        <p:nvSpPr>
          <p:cNvPr id="251" name="Google Shape;251;p39"/>
          <p:cNvSpPr/>
          <p:nvPr/>
        </p:nvSpPr>
        <p:spPr>
          <a:xfrm>
            <a:off x="7488555" y="0"/>
            <a:ext cx="4709160" cy="6878955"/>
          </a:xfrm>
          <a:prstGeom prst="rect">
            <a:avLst/>
          </a:prstGeom>
          <a:solidFill>
            <a:schemeClr val="lt2"/>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r>
              <a:rPr lang="en-US" sz="2400"/>
              <a:t>ESPACIO PARA IMAGEN</a:t>
            </a:r>
            <a:endParaRPr lang="en-US" sz="2400"/>
          </a:p>
        </p:txBody>
      </p:sp>
      <p:pic>
        <p:nvPicPr>
          <p:cNvPr id="2" name="Picture 1"/>
          <p:cNvPicPr/>
          <p:nvPr/>
        </p:nvPicPr>
        <p:blipFill>
          <a:blip r:embed="rId1"/>
          <a:stretch>
            <a:fillRect/>
          </a:stretch>
        </p:blipFill>
        <p:spPr>
          <a:xfrm>
            <a:off x="7898130" y="1156335"/>
            <a:ext cx="3889375" cy="439737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2" name="Google Shape;242;p38"/>
          <p:cNvSpPr txBox="1"/>
          <p:nvPr/>
        </p:nvSpPr>
        <p:spPr>
          <a:xfrm>
            <a:off x="803200" y="614037"/>
            <a:ext cx="8617200" cy="112040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400">
                <a:solidFill>
                  <a:srgbClr val="FF632B"/>
                </a:solidFill>
                <a:latin typeface="Plus Jakarta Sans ExtraBold"/>
                <a:ea typeface="Plus Jakarta Sans ExtraBold"/>
                <a:cs typeface="Plus Jakarta Sans ExtraBold"/>
                <a:sym typeface="Plus Jakarta Sans ExtraBold"/>
              </a:rPr>
              <a:t>Actividad 1: Discusión sobre Revoluciones Industriales</a:t>
            </a:r>
            <a:endParaRPr lang="en-US" altLang="en-US" sz="4400">
              <a:solidFill>
                <a:srgbClr val="FF632B"/>
              </a:solidFill>
              <a:latin typeface="Plus Jakarta Sans ExtraBold"/>
              <a:ea typeface="Plus Jakarta Sans ExtraBold"/>
              <a:cs typeface="Plus Jakarta Sans ExtraBold"/>
              <a:sym typeface="Plus Jakarta Sans ExtraBold"/>
            </a:endParaRPr>
          </a:p>
          <a:p>
            <a:pPr marL="0" lvl="0" indent="0" algn="l" rtl="0">
              <a:spcBef>
                <a:spcPts val="0"/>
              </a:spcBef>
              <a:spcAft>
                <a:spcPts val="0"/>
              </a:spcAft>
              <a:buNone/>
            </a:pPr>
            <a:endParaRPr lang="en-US" altLang="en-US" sz="4400">
              <a:solidFill>
                <a:srgbClr val="FF632B"/>
              </a:solidFill>
              <a:latin typeface="Plus Jakarta Sans ExtraBold"/>
              <a:ea typeface="Plus Jakarta Sans ExtraBold"/>
              <a:cs typeface="Plus Jakarta Sans ExtraBold"/>
              <a:sym typeface="Plus Jakarta Sans ExtraBold"/>
            </a:endParaRPr>
          </a:p>
        </p:txBody>
      </p:sp>
      <p:sp>
        <p:nvSpPr>
          <p:cNvPr id="241" name="Google Shape;241;p38"/>
          <p:cNvSpPr txBox="1"/>
          <p:nvPr/>
        </p:nvSpPr>
        <p:spPr>
          <a:xfrm>
            <a:off x="803188" y="2077937"/>
            <a:ext cx="10420800" cy="3026000"/>
          </a:xfrm>
          <a:prstGeom prst="rect">
            <a:avLst/>
          </a:prstGeom>
          <a:noFill/>
          <a:ln>
            <a:noFill/>
          </a:ln>
        </p:spPr>
        <p:txBody>
          <a:bodyPr spcFirstLastPara="1" wrap="square" lIns="121900" tIns="121900" rIns="121900" bIns="121900" anchor="t" anchorCtr="0">
            <a:noAutofit/>
          </a:bodyPr>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Actividad 1: Discusión sobre Revoluciones Industriales</a:t>
            </a: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Objetivo: Identificar el cambio de paradigma.</a:t>
            </a: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1ra (Vapor): </a:t>
            </a: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2da (Electricidad): </a:t>
            </a: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3ra (Informática):</a:t>
            </a: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 </a:t>
            </a:r>
            <a:endParaRPr lang="en-US" altLang="en-US" sz="16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1600">
                <a:solidFill>
                  <a:srgbClr val="171717"/>
                </a:solidFill>
                <a:latin typeface="Plus Jakarta Sans Light"/>
                <a:ea typeface="Plus Jakarta Sans Light"/>
                <a:cs typeface="Plus Jakarta Sans Light"/>
                <a:sym typeface="Plus Jakarta Sans Light"/>
              </a:rPr>
              <a:t>4ta (Digital): </a:t>
            </a:r>
            <a:endParaRPr lang="en-US" altLang="en-US" sz="1600">
              <a:solidFill>
                <a:srgbClr val="171717"/>
              </a:solidFill>
              <a:latin typeface="Plus Jakarta Sans Light"/>
              <a:ea typeface="Plus Jakarta Sans Light"/>
              <a:cs typeface="Plus Jakarta Sans Light"/>
              <a:sym typeface="Plus Jakarta Sans 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38"/>
          <p:cNvSpPr txBox="1"/>
          <p:nvPr/>
        </p:nvSpPr>
        <p:spPr>
          <a:xfrm>
            <a:off x="985520" y="5430520"/>
            <a:ext cx="10420985" cy="1455420"/>
          </a:xfrm>
          <a:prstGeom prst="rect">
            <a:avLst/>
          </a:prstGeom>
          <a:noFill/>
          <a:ln>
            <a:noFill/>
          </a:ln>
        </p:spPr>
        <p:txBody>
          <a:bodyPr spcFirstLastPara="1" wrap="square" lIns="121900" tIns="121900" rIns="121900" bIns="121900" anchor="t" anchorCtr="0">
            <a:noAutofit/>
          </a:bodyPr>
          <a:lstStyle/>
          <a:p>
            <a:pPr marL="0" lvl="0" indent="0" algn="l" rtl="0">
              <a:lnSpc>
                <a:spcPct val="115000"/>
              </a:lnSpc>
              <a:spcBef>
                <a:spcPts val="0"/>
              </a:spcBef>
              <a:spcAft>
                <a:spcPts val="0"/>
              </a:spcAft>
              <a:buNone/>
            </a:pPr>
            <a:r>
              <a:rPr lang="en-US" altLang="en-US" sz="2000">
                <a:solidFill>
                  <a:srgbClr val="171717"/>
                </a:solidFill>
                <a:latin typeface="Plus Jakarta Sans Light"/>
                <a:ea typeface="Plus Jakarta Sans Light"/>
                <a:cs typeface="Plus Jakarta Sans Light"/>
                <a:sym typeface="Plus Jakarta Sans Light"/>
              </a:rPr>
              <a:t>"Los datos son el nuevo petróleo, pero la analítica es el motor que los procesa"</a:t>
            </a:r>
            <a:endParaRPr lang="en-US" altLang="en-US" sz="2000">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803200" y="879467"/>
            <a:ext cx="8617200" cy="112040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800">
                <a:solidFill>
                  <a:srgbClr val="FF632B"/>
                </a:solidFill>
                <a:latin typeface="Plus Jakarta Sans ExtraBold"/>
                <a:ea typeface="Plus Jakarta Sans ExtraBold"/>
                <a:cs typeface="Plus Jakarta Sans ExtraBold"/>
                <a:sym typeface="Plus Jakarta Sans ExtraBold"/>
              </a:rPr>
              <a:t>El Corazón del Cambio: Datos e IoT</a:t>
            </a:r>
            <a:endParaRPr lang="en-US" altLang="en-US" sz="4800">
              <a:solidFill>
                <a:srgbClr val="FF632B"/>
              </a:solidFill>
              <a:latin typeface="Plus Jakarta Sans ExtraBold"/>
              <a:ea typeface="Plus Jakarta Sans ExtraBold"/>
              <a:cs typeface="Plus Jakarta Sans ExtraBold"/>
              <a:sym typeface="Plus Jakarta Sans ExtraBold"/>
            </a:endParaRPr>
          </a:p>
        </p:txBody>
      </p:sp>
      <p:pic>
        <p:nvPicPr>
          <p:cNvPr id="4" name="Picture 3"/>
          <p:cNvPicPr/>
          <p:nvPr/>
        </p:nvPicPr>
        <p:blipFill>
          <a:blip r:embed="rId1"/>
          <a:stretch>
            <a:fillRect/>
          </a:stretch>
        </p:blipFill>
        <p:spPr>
          <a:xfrm>
            <a:off x="2522855" y="2472055"/>
            <a:ext cx="6427470" cy="2958465"/>
          </a:xfrm>
          <a:prstGeom prst="rect">
            <a:avLst/>
          </a:prstGeom>
        </p:spPr>
      </p:pic>
      <p:sp>
        <p:nvSpPr>
          <p:cNvPr id="5" name="Rectangles 4"/>
          <p:cNvSpPr/>
          <p:nvPr/>
        </p:nvSpPr>
        <p:spPr>
          <a:xfrm>
            <a:off x="5336540" y="2534920"/>
            <a:ext cx="1273175" cy="573405"/>
          </a:xfrm>
          <a:prstGeom prst="rect">
            <a:avLst/>
          </a:prstGeom>
          <a:solidFill>
            <a:schemeClr val="bg1"/>
          </a:solidFill>
          <a:ln>
            <a:noFill/>
          </a:ln>
        </p:spPr>
        <p:style>
          <a:lnRef idx="2">
            <a:schemeClr val="accent1"/>
          </a:lnRef>
          <a:fillRef idx="0">
            <a:srgbClr val="FFFFFF"/>
          </a:fillRef>
          <a:effectRef idx="0">
            <a:srgbClr val="FFFFFF"/>
          </a:effectRef>
          <a:fontRef idx="minor">
            <a:schemeClr val="tx1"/>
          </a:fontRef>
        </p:style>
        <p:txBody>
          <a:bodyPr rtlCol="0" anchor="ctr"/>
          <a:p>
            <a:pPr algn="ct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38"/>
          <p:cNvSpPr txBox="1"/>
          <p:nvPr/>
        </p:nvSpPr>
        <p:spPr>
          <a:xfrm>
            <a:off x="985520" y="2775585"/>
            <a:ext cx="10420985" cy="1455420"/>
          </a:xfrm>
          <a:prstGeom prst="rect">
            <a:avLst/>
          </a:prstGeom>
          <a:noFill/>
          <a:ln>
            <a:noFill/>
          </a:ln>
        </p:spPr>
        <p:txBody>
          <a:bodyPr spcFirstLastPara="1" wrap="square" lIns="121900" tIns="121900" rIns="121900" bIns="121900" anchor="t" anchorCtr="0">
            <a:noAutofit/>
          </a:bodyPr>
          <a:lstStyle/>
          <a:p>
            <a:pPr marL="0" lvl="0" indent="0" algn="l" rtl="0">
              <a:lnSpc>
                <a:spcPct val="115000"/>
              </a:lnSpc>
              <a:spcBef>
                <a:spcPts val="0"/>
              </a:spcBef>
              <a:spcAft>
                <a:spcPts val="0"/>
              </a:spcAft>
              <a:buNone/>
            </a:pPr>
            <a:r>
              <a:rPr lang="en-US" altLang="en-US" sz="2400">
                <a:solidFill>
                  <a:srgbClr val="171717"/>
                </a:solidFill>
                <a:latin typeface="Plus Jakarta Sans Light"/>
                <a:ea typeface="Plus Jakarta Sans Light"/>
                <a:cs typeface="Plus Jakarta Sans Light"/>
                <a:sym typeface="Plus Jakarta Sans Light"/>
              </a:rPr>
              <a:t>¿Cómo impactan estas tecnologías en tu entorno laboral actual?</a:t>
            </a:r>
            <a:endParaRPr lang="en-US" altLang="en-US" sz="2400">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803200" y="879467"/>
            <a:ext cx="8617200" cy="112040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800">
                <a:solidFill>
                  <a:srgbClr val="FF632B"/>
                </a:solidFill>
                <a:latin typeface="Plus Jakarta Sans ExtraBold"/>
                <a:ea typeface="Plus Jakarta Sans ExtraBold"/>
                <a:cs typeface="Plus Jakarta Sans ExtraBold"/>
                <a:sym typeface="Plus Jakarta Sans ExtraBold"/>
              </a:rPr>
              <a:t>Pausa Activa y Reflexión</a:t>
            </a:r>
            <a:endParaRPr lang="en-US" altLang="en-US" sz="4800">
              <a:solidFill>
                <a:srgbClr val="FF632B"/>
              </a:solidFill>
              <a:latin typeface="Plus Jakarta Sans ExtraBold"/>
              <a:ea typeface="Plus Jakarta Sans ExtraBold"/>
              <a:cs typeface="Plus Jakarta Sans ExtraBold"/>
              <a:sym typeface="Plus Jakarta Sans ExtraBold"/>
            </a:endParaRPr>
          </a:p>
        </p:txBody>
      </p:sp>
      <p:pic>
        <p:nvPicPr>
          <p:cNvPr id="2" name="Picture 1"/>
          <p:cNvPicPr>
            <a:picLocks noChangeAspect="1"/>
          </p:cNvPicPr>
          <p:nvPr/>
        </p:nvPicPr>
        <p:blipFill>
          <a:blip r:embed="rId1"/>
          <a:stretch>
            <a:fillRect/>
          </a:stretch>
        </p:blipFill>
        <p:spPr>
          <a:xfrm>
            <a:off x="3925570" y="4655820"/>
            <a:ext cx="824230" cy="824230"/>
          </a:xfrm>
          <a:prstGeom prst="rect">
            <a:avLst/>
          </a:prstGeom>
        </p:spPr>
      </p:pic>
      <p:pic>
        <p:nvPicPr>
          <p:cNvPr id="3" name="Picture 2"/>
          <p:cNvPicPr>
            <a:picLocks noChangeAspect="1"/>
          </p:cNvPicPr>
          <p:nvPr/>
        </p:nvPicPr>
        <p:blipFill>
          <a:blip r:embed="rId2"/>
          <a:stretch>
            <a:fillRect/>
          </a:stretch>
        </p:blipFill>
        <p:spPr>
          <a:xfrm>
            <a:off x="6669405" y="4581525"/>
            <a:ext cx="898525" cy="898525"/>
          </a:xfrm>
          <a:prstGeom prst="rect">
            <a:avLst/>
          </a:prstGeom>
        </p:spPr>
      </p:pic>
      <p:cxnSp>
        <p:nvCxnSpPr>
          <p:cNvPr id="6" name="Straight Connector 5"/>
          <p:cNvCxnSpPr/>
          <p:nvPr/>
        </p:nvCxnSpPr>
        <p:spPr>
          <a:xfrm>
            <a:off x="5728970" y="4155440"/>
            <a:ext cx="0" cy="1612900"/>
          </a:xfrm>
          <a:prstGeom prst="line">
            <a:avLst/>
          </a:prstGeom>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38"/>
          <p:cNvSpPr txBox="1"/>
          <p:nvPr/>
        </p:nvSpPr>
        <p:spPr>
          <a:xfrm>
            <a:off x="985520" y="2775585"/>
            <a:ext cx="10420985" cy="1455420"/>
          </a:xfrm>
          <a:prstGeom prst="rect">
            <a:avLst/>
          </a:prstGeom>
          <a:noFill/>
          <a:ln>
            <a:noFill/>
          </a:ln>
        </p:spPr>
        <p:txBody>
          <a:bodyPr spcFirstLastPara="1" wrap="square" lIns="121900" tIns="121900" rIns="121900" bIns="121900" anchor="t" anchorCtr="0">
            <a:noAutofit/>
          </a:bodyPr>
          <a:lstStyle/>
          <a:p>
            <a:pPr marL="0" lvl="0" indent="0" algn="l" rtl="0">
              <a:lnSpc>
                <a:spcPct val="115000"/>
              </a:lnSpc>
              <a:spcBef>
                <a:spcPts val="0"/>
              </a:spcBef>
              <a:spcAft>
                <a:spcPts val="0"/>
              </a:spcAft>
              <a:buNone/>
            </a:pPr>
            <a:r>
              <a:rPr lang="en-US" altLang="en-US" sz="2400">
                <a:solidFill>
                  <a:srgbClr val="171717"/>
                </a:solidFill>
                <a:latin typeface="Plus Jakarta Sans Light"/>
                <a:ea typeface="Plus Jakarta Sans Light"/>
                <a:cs typeface="Plus Jakarta Sans Light"/>
                <a:sym typeface="Plus Jakarta Sans Light"/>
              </a:rPr>
              <a:t>Título del Caso: Optimización mediante IoT y Mantenimiento Predictivo.</a:t>
            </a:r>
            <a:endParaRPr lang="en-US" altLang="en-US" sz="24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24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2400">
                <a:solidFill>
                  <a:srgbClr val="171717"/>
                </a:solidFill>
                <a:latin typeface="Plus Jakarta Sans Light"/>
                <a:ea typeface="Plus Jakarta Sans Light"/>
                <a:cs typeface="Plus Jakarta Sans Light"/>
                <a:sym typeface="Plus Jakarta Sans Light"/>
              </a:rPr>
              <a:t>Problema: Tiempos muertos en producción.</a:t>
            </a:r>
            <a:endParaRPr lang="en-US" altLang="en-US" sz="24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24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2400">
                <a:solidFill>
                  <a:srgbClr val="171717"/>
                </a:solidFill>
                <a:latin typeface="Plus Jakarta Sans Light"/>
                <a:ea typeface="Plus Jakarta Sans Light"/>
                <a:cs typeface="Plus Jakarta Sans Light"/>
                <a:sym typeface="Plus Jakarta Sans Light"/>
              </a:rPr>
              <a:t>Solución: Sensores en tiempo real y modelos de predicción.</a:t>
            </a:r>
            <a:endParaRPr lang="en-US" altLang="en-US" sz="24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24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2400">
                <a:solidFill>
                  <a:srgbClr val="171717"/>
                </a:solidFill>
                <a:latin typeface="Plus Jakarta Sans Light"/>
                <a:ea typeface="Plus Jakarta Sans Light"/>
                <a:cs typeface="Plus Jakarta Sans Light"/>
                <a:sym typeface="Plus Jakarta Sans Light"/>
              </a:rPr>
              <a:t>Resultado: Reducción de costos operativos y eficiencia energética.</a:t>
            </a:r>
            <a:endParaRPr lang="en-US" altLang="en-US" sz="2400">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803200" y="879467"/>
            <a:ext cx="8617200" cy="112040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800">
                <a:solidFill>
                  <a:srgbClr val="FF632B"/>
                </a:solidFill>
                <a:latin typeface="Plus Jakarta Sans ExtraBold"/>
                <a:ea typeface="Plus Jakarta Sans ExtraBold"/>
                <a:cs typeface="Plus Jakarta Sans ExtraBold"/>
                <a:sym typeface="Plus Jakarta Sans ExtraBold"/>
              </a:rPr>
              <a:t>Análisis de Caso Real (Práctica)</a:t>
            </a:r>
            <a:endParaRPr lang="en-US" altLang="en-US" sz="4800">
              <a:solidFill>
                <a:srgbClr val="FF632B"/>
              </a:solidFill>
              <a:latin typeface="Plus Jakarta Sans ExtraBold"/>
              <a:ea typeface="Plus Jakarta Sans ExtraBold"/>
              <a:cs typeface="Plus Jakarta Sans ExtraBold"/>
              <a:sym typeface="Plus Jakarta Sans ExtraBo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38"/>
          <p:cNvSpPr txBox="1"/>
          <p:nvPr/>
        </p:nvSpPr>
        <p:spPr>
          <a:xfrm>
            <a:off x="985520" y="2160270"/>
            <a:ext cx="10420985" cy="1455420"/>
          </a:xfrm>
          <a:prstGeom prst="rect">
            <a:avLst/>
          </a:prstGeom>
          <a:noFill/>
          <a:ln>
            <a:noFill/>
          </a:ln>
        </p:spPr>
        <p:txBody>
          <a:bodyPr spcFirstLastPara="1" wrap="square" lIns="121900" tIns="121900" rIns="121900" bIns="121900" anchor="t" anchorCtr="0">
            <a:noAutofit/>
          </a:bodyPr>
          <a:lstStyle/>
          <a:p>
            <a:pPr marL="0" lvl="0" indent="0" algn="l" rtl="0">
              <a:lnSpc>
                <a:spcPct val="115000"/>
              </a:lnSpc>
              <a:spcBef>
                <a:spcPts val="0"/>
              </a:spcBef>
              <a:spcAft>
                <a:spcPts val="0"/>
              </a:spcAft>
              <a:buNone/>
            </a:pPr>
            <a:r>
              <a:rPr lang="en-US" altLang="en-US" sz="2000">
                <a:solidFill>
                  <a:srgbClr val="171717"/>
                </a:solidFill>
                <a:latin typeface="Plus Jakarta Sans Light"/>
                <a:ea typeface="Plus Jakarta Sans Light"/>
                <a:cs typeface="Plus Jakarta Sans Light"/>
                <a:sym typeface="Plus Jakarta Sans Light"/>
              </a:rPr>
              <a:t>Escenario: Una planta embotelladora pierde 15% de su producción por paradas inesperadas en la cinta transportadora.</a:t>
            </a:r>
            <a:endParaRPr lang="en-US" altLang="en-US" sz="20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20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2000">
                <a:solidFill>
                  <a:srgbClr val="171717"/>
                </a:solidFill>
                <a:latin typeface="Plus Jakarta Sans Light"/>
                <a:ea typeface="Plus Jakarta Sans Light"/>
                <a:cs typeface="Plus Jakarta Sans Light"/>
                <a:sym typeface="Plus Jakarta Sans Light"/>
              </a:rPr>
              <a:t>Solución IoT: Instalación de sensores de vibración y temperatura en los motores.</a:t>
            </a:r>
            <a:endParaRPr lang="en-US" altLang="en-US" sz="20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20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2000">
                <a:solidFill>
                  <a:srgbClr val="171717"/>
                </a:solidFill>
                <a:latin typeface="Plus Jakarta Sans Light"/>
                <a:ea typeface="Plus Jakarta Sans Light"/>
                <a:cs typeface="Plus Jakarta Sans Light"/>
                <a:sym typeface="Plus Jakarta Sans Light"/>
              </a:rPr>
              <a:t>Uso de Datos: Los datos se envían a la nube (Cloud) y un algoritmo de IA predice fallos 48 horas antes de que ocurran.</a:t>
            </a:r>
            <a:endParaRPr lang="en-US" altLang="en-US" sz="20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sz="2000">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sz="2000">
                <a:solidFill>
                  <a:srgbClr val="171717"/>
                </a:solidFill>
                <a:latin typeface="Plus Jakarta Sans Light"/>
                <a:ea typeface="Plus Jakarta Sans Light"/>
                <a:cs typeface="Plus Jakarta Sans Light"/>
                <a:sym typeface="Plus Jakarta Sans Light"/>
              </a:rPr>
              <a:t>¿Qué es más barato: cambiar un rodamiento de $50 hoy o detener la planta 5 horas mañana?</a:t>
            </a:r>
            <a:endParaRPr lang="en-US" altLang="en-US" sz="2000">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538480" y="879475"/>
            <a:ext cx="8881745" cy="11201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s-AR" altLang="en-US" sz="4800">
                <a:solidFill>
                  <a:srgbClr val="FF632B"/>
                </a:solidFill>
                <a:latin typeface="Plus Jakarta Sans ExtraBold"/>
                <a:ea typeface="Plus Jakarta Sans ExtraBold"/>
                <a:cs typeface="Plus Jakarta Sans ExtraBold"/>
                <a:sym typeface="Plus Jakarta Sans ExtraBold"/>
              </a:rPr>
              <a:t>Otro</a:t>
            </a:r>
            <a:r>
              <a:rPr lang="en-US" altLang="en-US" sz="4800">
                <a:solidFill>
                  <a:srgbClr val="FF632B"/>
                </a:solidFill>
                <a:latin typeface="Plus Jakarta Sans ExtraBold"/>
                <a:ea typeface="Plus Jakarta Sans ExtraBold"/>
                <a:cs typeface="Plus Jakarta Sans ExtraBold"/>
                <a:sym typeface="Plus Jakarta Sans ExtraBold"/>
              </a:rPr>
              <a:t> Caso Real (Práctica)</a:t>
            </a:r>
            <a:endParaRPr lang="en-US" altLang="en-US" sz="4800">
              <a:solidFill>
                <a:srgbClr val="FF632B"/>
              </a:solidFill>
              <a:latin typeface="Plus Jakarta Sans ExtraBold"/>
              <a:ea typeface="Plus Jakarta Sans ExtraBold"/>
              <a:cs typeface="Plus Jakarta Sans ExtraBold"/>
              <a:sym typeface="Plus Jakarta Sans Extra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38"/>
          <p:cNvSpPr txBox="1"/>
          <p:nvPr/>
        </p:nvSpPr>
        <p:spPr>
          <a:xfrm>
            <a:off x="985520" y="2171065"/>
            <a:ext cx="10420985" cy="1455420"/>
          </a:xfrm>
          <a:prstGeom prst="rect">
            <a:avLst/>
          </a:prstGeom>
          <a:noFill/>
          <a:ln>
            <a:noFill/>
          </a:ln>
        </p:spPr>
        <p:txBody>
          <a:bodyPr spcFirstLastPara="1" wrap="square" lIns="121900" tIns="121900" rIns="121900" bIns="121900" anchor="t" anchorCtr="0">
            <a:noAutofit/>
          </a:bodyPr>
          <a:lstStyle/>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Instrucciones:</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Identificar un proceso ineficiente.</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Seleccionar 1 o 2 tecnologías </a:t>
            </a:r>
            <a:r>
              <a:rPr lang="es-AR" altLang="en-US">
                <a:solidFill>
                  <a:srgbClr val="171717"/>
                </a:solidFill>
                <a:latin typeface="Plus Jakarta Sans Light"/>
                <a:ea typeface="Plus Jakarta Sans Light"/>
                <a:cs typeface="Plus Jakarta Sans Light"/>
                <a:sym typeface="Plus Jakarta Sans Light"/>
              </a:rPr>
              <a:t>pilares tecnologicos</a:t>
            </a:r>
            <a:r>
              <a:rPr lang="en-US" altLang="en-US">
                <a:solidFill>
                  <a:srgbClr val="171717"/>
                </a:solidFill>
                <a:latin typeface="Plus Jakarta Sans Light"/>
                <a:ea typeface="Plus Jakarta Sans Light"/>
                <a:cs typeface="Plus Jakarta Sans Light"/>
                <a:sym typeface="Plus Jakarta Sans Light"/>
              </a:rPr>
              <a:t>.</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Definir el KPI (métrica) que se va a mejorar con datos.</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Recurso: "Utilicen la plantilla proporcionada".</a:t>
            </a:r>
            <a:endParaRPr lang="en-US" altLang="en-US">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538480" y="550545"/>
            <a:ext cx="8881745" cy="11201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800">
                <a:solidFill>
                  <a:srgbClr val="FF632B"/>
                </a:solidFill>
                <a:latin typeface="Plus Jakarta Sans ExtraBold"/>
                <a:ea typeface="Plus Jakarta Sans ExtraBold"/>
                <a:cs typeface="Plus Jakarta Sans ExtraBold"/>
                <a:sym typeface="Plus Jakarta Sans ExtraBold"/>
              </a:rPr>
              <a:t>Actividad Grupal: </a:t>
            </a:r>
            <a:endParaRPr lang="en-US" altLang="en-US" sz="4800">
              <a:solidFill>
                <a:srgbClr val="FF632B"/>
              </a:solidFill>
              <a:latin typeface="Plus Jakarta Sans ExtraBold"/>
              <a:ea typeface="Plus Jakarta Sans ExtraBold"/>
              <a:cs typeface="Plus Jakarta Sans ExtraBold"/>
              <a:sym typeface="Plus Jakarta Sans ExtraBold"/>
            </a:endParaRPr>
          </a:p>
          <a:p>
            <a:pPr marL="0" lvl="0" indent="0" algn="l" rtl="0">
              <a:spcBef>
                <a:spcPts val="0"/>
              </a:spcBef>
              <a:spcAft>
                <a:spcPts val="0"/>
              </a:spcAft>
              <a:buNone/>
            </a:pPr>
            <a:r>
              <a:rPr lang="en-US" altLang="en-US" sz="4800">
                <a:solidFill>
                  <a:srgbClr val="FF632B"/>
                </a:solidFill>
                <a:latin typeface="Plus Jakarta Sans ExtraBold"/>
                <a:ea typeface="Plus Jakarta Sans ExtraBold"/>
                <a:cs typeface="Plus Jakarta Sans ExtraBold"/>
                <a:sym typeface="Plus Jakarta Sans ExtraBold"/>
              </a:rPr>
              <a:t>Diseño de Plan Ejecutivo</a:t>
            </a:r>
            <a:endParaRPr lang="en-US" altLang="en-US" sz="4800">
              <a:solidFill>
                <a:srgbClr val="FF632B"/>
              </a:solidFill>
              <a:latin typeface="Plus Jakarta Sans ExtraBold"/>
              <a:ea typeface="Plus Jakarta Sans ExtraBold"/>
              <a:cs typeface="Plus Jakarta Sans ExtraBold"/>
              <a:sym typeface="Plus Jakarta Sans ExtraBold"/>
            </a:endParaRPr>
          </a:p>
        </p:txBody>
      </p:sp>
      <p:graphicFrame>
        <p:nvGraphicFramePr>
          <p:cNvPr id="2" name="Table 1"/>
          <p:cNvGraphicFramePr/>
          <p:nvPr>
            <p:custDataLst>
              <p:tags r:id="rId1"/>
            </p:custDataLst>
          </p:nvPr>
        </p:nvGraphicFramePr>
        <p:xfrm>
          <a:off x="1334770" y="5177155"/>
          <a:ext cx="9222740" cy="1376680"/>
        </p:xfrm>
        <a:graphic>
          <a:graphicData uri="http://schemas.openxmlformats.org/drawingml/2006/table">
            <a:tbl>
              <a:tblPr/>
              <a:tblGrid>
                <a:gridCol w="2263140"/>
                <a:gridCol w="6959600"/>
              </a:tblGrid>
              <a:tr h="247015">
                <a:tc>
                  <a:txBody>
                    <a:bodyPr/>
                    <a:p>
                      <a:pPr>
                        <a:spcBef>
                          <a:spcPct val="0"/>
                        </a:spcBef>
                        <a:spcAft>
                          <a:spcPct val="0"/>
                        </a:spcAft>
                      </a:pPr>
                      <a:r>
                        <a:rPr sz="1100">
                          <a:latin typeface="Google Sans Text"/>
                          <a:ea typeface="Google Sans Text"/>
                        </a:rPr>
                        <a:t>Sección</a:t>
                      </a:r>
                      <a:endParaRPr sz="1100">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c>
                  <a:txBody>
                    <a:bodyPr/>
                    <a:p>
                      <a:pPr>
                        <a:spcBef>
                          <a:spcPct val="0"/>
                        </a:spcBef>
                        <a:spcAft>
                          <a:spcPct val="0"/>
                        </a:spcAft>
                      </a:pPr>
                      <a:r>
                        <a:rPr sz="1100">
                          <a:latin typeface="Google Sans Text"/>
                          <a:ea typeface="Google Sans Text"/>
                        </a:rPr>
                        <a:t>Contenido Sugerido</a:t>
                      </a:r>
                      <a:endParaRPr sz="1100">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r>
              <a:tr h="247015">
                <a:tc>
                  <a:txBody>
                    <a:bodyPr/>
                    <a:p>
                      <a:pPr>
                        <a:spcBef>
                          <a:spcPct val="0"/>
                        </a:spcBef>
                      </a:pPr>
                      <a:r>
                        <a:rPr sz="1100" b="1">
                          <a:latin typeface="Google Sans Text"/>
                          <a:ea typeface="Google Sans Text"/>
                        </a:rPr>
                        <a:t>Problema</a:t>
                      </a:r>
                      <a:endParaRPr sz="1100" b="1">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c>
                  <a:txBody>
                    <a:bodyPr/>
                    <a:p>
                      <a:pPr>
                        <a:spcBef>
                          <a:spcPct val="0"/>
                        </a:spcBef>
                      </a:pPr>
                      <a:r>
                        <a:rPr sz="1100">
                          <a:latin typeface="Google Sans Text"/>
                          <a:ea typeface="Google Sans Text"/>
                        </a:rPr>
                        <a:t>¿Qué proceso es ineficiente hoy? (ej. Logística, Calidad).</a:t>
                      </a:r>
                      <a:endParaRPr sz="1100">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r>
              <a:tr h="246380">
                <a:tc>
                  <a:txBody>
                    <a:bodyPr/>
                    <a:p>
                      <a:pPr>
                        <a:spcBef>
                          <a:spcPct val="0"/>
                        </a:spcBef>
                      </a:pPr>
                      <a:r>
                        <a:rPr sz="1100" b="1">
                          <a:latin typeface="Google Sans Text"/>
                          <a:ea typeface="Google Sans Text"/>
                        </a:rPr>
                        <a:t>Tecnología 4.0</a:t>
                      </a:r>
                      <a:endParaRPr sz="1100" b="1">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c>
                  <a:txBody>
                    <a:bodyPr/>
                    <a:p>
                      <a:pPr>
                        <a:spcBef>
                          <a:spcPct val="0"/>
                        </a:spcBef>
                      </a:pPr>
                      <a:r>
                        <a:rPr sz="1100">
                          <a:latin typeface="Google Sans Text"/>
                          <a:ea typeface="Google Sans Text"/>
                        </a:rPr>
                        <a:t>¿Qué usaremos? (ej. Sensores IoT + Dashboard en Power BI).</a:t>
                      </a:r>
                      <a:endParaRPr sz="1100">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r>
              <a:tr h="389255">
                <a:tc>
                  <a:txBody>
                    <a:bodyPr/>
                    <a:p>
                      <a:pPr>
                        <a:spcBef>
                          <a:spcPct val="0"/>
                        </a:spcBef>
                      </a:pPr>
                      <a:r>
                        <a:rPr sz="1100" b="1">
                          <a:latin typeface="Google Sans Text"/>
                          <a:ea typeface="Google Sans Text"/>
                        </a:rPr>
                        <a:t>Dato Crítico</a:t>
                      </a:r>
                      <a:endParaRPr sz="1100" b="1">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c>
                  <a:txBody>
                    <a:bodyPr/>
                    <a:p>
                      <a:pPr>
                        <a:spcBef>
                          <a:spcPct val="0"/>
                        </a:spcBef>
                      </a:pPr>
                      <a:r>
                        <a:rPr sz="1100">
                          <a:latin typeface="Google Sans Text"/>
                          <a:ea typeface="Google Sans Text"/>
                        </a:rPr>
                        <a:t>¿Qué métrica específica queremos mejorar? (ej. Reducir scrap en 10%).</a:t>
                      </a:r>
                      <a:endParaRPr sz="1100">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r>
              <a:tr h="247015">
                <a:tc>
                  <a:txBody>
                    <a:bodyPr/>
                    <a:p>
                      <a:pPr>
                        <a:spcBef>
                          <a:spcPct val="0"/>
                        </a:spcBef>
                      </a:pPr>
                      <a:r>
                        <a:rPr sz="1100" b="1">
                          <a:latin typeface="Google Sans Text"/>
                          <a:ea typeface="Google Sans Text"/>
                        </a:rPr>
                        <a:t>Impacto</a:t>
                      </a:r>
                      <a:endParaRPr sz="1100" b="1">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c>
                  <a:txBody>
                    <a:bodyPr/>
                    <a:p>
                      <a:pPr>
                        <a:spcBef>
                          <a:spcPct val="0"/>
                        </a:spcBef>
                      </a:pPr>
                      <a:r>
                        <a:rPr sz="1100">
                          <a:latin typeface="Google Sans Text"/>
                          <a:ea typeface="Google Sans Text"/>
                        </a:rPr>
                        <a:t>¿Cómo ayuda esto al negocio?</a:t>
                      </a:r>
                      <a:endParaRPr sz="1100">
                        <a:latin typeface="Google Sans Text"/>
                        <a:ea typeface="Google Sans Text"/>
                      </a:endParaRPr>
                    </a:p>
                  </a:txBody>
                  <a:tcPr marL="0" marR="0" marT="0" marB="0" anchor="ctr" anchorCtr="0">
                    <a:lnL w="7620" cap="flat" cmpd="sng">
                      <a:solidFill>
                        <a:srgbClr val="000000"/>
                      </a:solidFill>
                      <a:prstDash val="solid"/>
                      <a:headEnd type="none" w="med" len="med"/>
                      <a:tailEnd type="none" w="med" len="med"/>
                    </a:lnL>
                    <a:lnR w="7620" cap="flat" cmpd="sng">
                      <a:solidFill>
                        <a:srgbClr val="000000"/>
                      </a:solidFill>
                      <a:prstDash val="solid"/>
                      <a:headEnd type="none" w="med" len="med"/>
                      <a:tailEnd type="none" w="med" len="med"/>
                    </a:lnR>
                    <a:lnT w="7620" cap="flat" cmpd="sng">
                      <a:solidFill>
                        <a:srgbClr val="000000"/>
                      </a:solidFill>
                      <a:prstDash val="solid"/>
                      <a:headEnd type="none" w="med" len="med"/>
                      <a:tailEnd type="none" w="med" len="med"/>
                    </a:lnT>
                    <a:lnB w="7620" cap="flat" cmpd="sng">
                      <a:solidFill>
                        <a:srgbClr val="000000"/>
                      </a:solidFill>
                      <a:prstDash val="solid"/>
                      <a:headEnd type="none" w="med" len="med"/>
                      <a:tailEnd type="none" w="med" len="med"/>
                    </a:lnB>
                    <a:no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38"/>
          <p:cNvSpPr txBox="1"/>
          <p:nvPr/>
        </p:nvSpPr>
        <p:spPr>
          <a:xfrm>
            <a:off x="985520" y="2171065"/>
            <a:ext cx="10420985" cy="1455420"/>
          </a:xfrm>
          <a:prstGeom prst="rect">
            <a:avLst/>
          </a:prstGeom>
          <a:noFill/>
          <a:ln>
            <a:noFill/>
          </a:ln>
        </p:spPr>
        <p:txBody>
          <a:bodyPr spcFirstLastPara="1" wrap="square" lIns="121900" tIns="121900" rIns="121900" bIns="121900" anchor="t" anchorCtr="0">
            <a:noAutofit/>
          </a:bodyPr>
          <a:lstStyle/>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Proyecto: Control de calidad inteligente.</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Tecnología: Visión artificial + IA.</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Dato: </a:t>
            </a:r>
            <a:r>
              <a:rPr lang="es-AR" altLang="en-US">
                <a:solidFill>
                  <a:srgbClr val="171717"/>
                </a:solidFill>
                <a:latin typeface="Plus Jakarta Sans Light"/>
                <a:ea typeface="Plus Jakarta Sans Light"/>
                <a:cs typeface="Plus Jakarta Sans Light"/>
                <a:sym typeface="Plus Jakarta Sans Light"/>
              </a:rPr>
              <a:t>Precision basada en historicos aprendizaje</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Valor: Reducción de devoluciones en un 20%.</a:t>
            </a:r>
            <a:endParaRPr lang="en-US" altLang="en-US">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538480" y="550545"/>
            <a:ext cx="8881745" cy="11201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800">
                <a:solidFill>
                  <a:srgbClr val="FF632B"/>
                </a:solidFill>
                <a:latin typeface="Plus Jakarta Sans ExtraBold"/>
                <a:ea typeface="Plus Jakarta Sans ExtraBold"/>
                <a:cs typeface="Plus Jakarta Sans ExtraBold"/>
                <a:sym typeface="Plus Jakarta Sans ExtraBold"/>
              </a:rPr>
              <a:t>Ejemplo de Plan Data-Driven (Guía)</a:t>
            </a:r>
            <a:endParaRPr lang="en-US" altLang="en-US" sz="4800">
              <a:solidFill>
                <a:srgbClr val="FF632B"/>
              </a:solidFill>
              <a:latin typeface="Plus Jakarta Sans ExtraBold"/>
              <a:ea typeface="Plus Jakarta Sans ExtraBold"/>
              <a:cs typeface="Plus Jakarta Sans ExtraBold"/>
              <a:sym typeface="Plus Jakarta Sans ExtraBo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350645" y="883920"/>
            <a:ext cx="6096000" cy="829945"/>
          </a:xfrm>
          <a:prstGeom prst="rect">
            <a:avLst/>
          </a:prstGeom>
          <a:noFill/>
        </p:spPr>
        <p:txBody>
          <a:bodyPr wrap="square" rtlCol="0" anchor="t">
            <a:spAutoFit/>
          </a:bodyPr>
          <a:p>
            <a:pPr marL="0" lvl="0" indent="0" algn="l" rtl="0">
              <a:spcBef>
                <a:spcPts val="0"/>
              </a:spcBef>
              <a:spcAft>
                <a:spcPts val="0"/>
              </a:spcAft>
              <a:buNone/>
            </a:pPr>
            <a:r>
              <a:rPr lang="es-AR" sz="4800">
                <a:solidFill>
                  <a:srgbClr val="FF632B"/>
                </a:solidFill>
                <a:latin typeface="Plus Jakarta Sans ExtraBold"/>
                <a:ea typeface="Plus Jakarta Sans ExtraBold"/>
                <a:cs typeface="Plus Jakarta Sans ExtraBold"/>
                <a:sym typeface="Plus Jakarta Sans ExtraBold"/>
              </a:rPr>
              <a:t>Fallo sensor</a:t>
            </a:r>
            <a:endParaRPr lang="es-AR" sz="4800">
              <a:solidFill>
                <a:srgbClr val="FF632B"/>
              </a:solidFill>
              <a:latin typeface="Plus Jakarta Sans ExtraBold"/>
              <a:ea typeface="Plus Jakarta Sans ExtraBold"/>
              <a:cs typeface="Plus Jakarta Sans ExtraBold"/>
              <a:sym typeface="Plus Jakarta Sans ExtraBold"/>
            </a:endParaRPr>
          </a:p>
        </p:txBody>
      </p:sp>
      <p:pic>
        <p:nvPicPr>
          <p:cNvPr id="4" name="Picture 3"/>
          <p:cNvPicPr>
            <a:picLocks noChangeAspect="1"/>
          </p:cNvPicPr>
          <p:nvPr/>
        </p:nvPicPr>
        <p:blipFill>
          <a:blip r:embed="rId1"/>
          <a:stretch>
            <a:fillRect/>
          </a:stretch>
        </p:blipFill>
        <p:spPr>
          <a:xfrm>
            <a:off x="2397760" y="2375535"/>
            <a:ext cx="8181975" cy="395287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38"/>
          <p:cNvSpPr txBox="1"/>
          <p:nvPr/>
        </p:nvSpPr>
        <p:spPr>
          <a:xfrm>
            <a:off x="985520" y="2171065"/>
            <a:ext cx="10420985" cy="1455420"/>
          </a:xfrm>
          <a:prstGeom prst="rect">
            <a:avLst/>
          </a:prstGeom>
          <a:noFill/>
          <a:ln>
            <a:noFill/>
          </a:ln>
        </p:spPr>
        <p:txBody>
          <a:bodyPr spcFirstLastPara="1" wrap="square" lIns="121900" tIns="121900" rIns="121900" bIns="121900" anchor="t" anchorCtr="0">
            <a:noAutofit/>
          </a:bodyPr>
          <a:lstStyle/>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La evolución es constante.</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La conectividad es la base de la 4.0.</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La cultura data-driven es necesaria para la transformación digital.</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s-AR" altLang="en-US">
                <a:solidFill>
                  <a:srgbClr val="171717"/>
                </a:solidFill>
                <a:latin typeface="Plus Jakarta Sans Light"/>
                <a:ea typeface="Plus Jakarta Sans Light"/>
                <a:cs typeface="Plus Jakarta Sans Light"/>
                <a:sym typeface="Plus Jakarta Sans Light"/>
              </a:rPr>
              <a:t>Algo Mas de IA:</a:t>
            </a:r>
            <a:endParaRPr lang="es-AR"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r>
              <a:rPr lang="en-US" altLang="en-US">
                <a:solidFill>
                  <a:srgbClr val="171717"/>
                </a:solidFill>
                <a:latin typeface="Plus Jakarta Sans Light"/>
                <a:ea typeface="Plus Jakarta Sans Light"/>
                <a:cs typeface="Plus Jakarta Sans Light"/>
                <a:sym typeface="Plus Jakarta Sans Light"/>
              </a:rPr>
              <a:t>https://www.youtube.com/shorts/pv_I4k4y8Z4</a:t>
            </a: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a:p>
            <a:pPr marL="0" lvl="0" indent="0" algn="l" rtl="0">
              <a:lnSpc>
                <a:spcPct val="115000"/>
              </a:lnSpc>
              <a:spcBef>
                <a:spcPts val="0"/>
              </a:spcBef>
              <a:spcAft>
                <a:spcPts val="0"/>
              </a:spcAft>
              <a:buNone/>
            </a:pPr>
            <a:endParaRPr lang="en-US" altLang="en-US">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538480" y="550545"/>
            <a:ext cx="8881745" cy="11201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en-US" altLang="en-US" sz="4800">
                <a:solidFill>
                  <a:srgbClr val="FF632B"/>
                </a:solidFill>
                <a:latin typeface="Plus Jakarta Sans ExtraBold"/>
                <a:ea typeface="Plus Jakarta Sans ExtraBold"/>
                <a:cs typeface="Plus Jakarta Sans ExtraBold"/>
                <a:sym typeface="Plus Jakarta Sans ExtraBold"/>
              </a:rPr>
              <a:t>Resumen:</a:t>
            </a:r>
            <a:endParaRPr lang="en-US" altLang="en-US" sz="4800">
              <a:solidFill>
                <a:srgbClr val="FF632B"/>
              </a:solidFill>
              <a:latin typeface="Plus Jakarta Sans ExtraBold"/>
              <a:ea typeface="Plus Jakarta Sans ExtraBold"/>
              <a:cs typeface="Plus Jakarta Sans ExtraBold"/>
              <a:sym typeface="Plus Jakarta Sans ExtraBold"/>
            </a:endParaRPr>
          </a:p>
          <a:p>
            <a:pPr marL="0" lvl="0" indent="0" algn="l" rtl="0">
              <a:spcBef>
                <a:spcPts val="0"/>
              </a:spcBef>
              <a:spcAft>
                <a:spcPts val="0"/>
              </a:spcAft>
              <a:buNone/>
            </a:pPr>
            <a:endParaRPr lang="en-US" altLang="en-US" sz="4800">
              <a:solidFill>
                <a:srgbClr val="FF632B"/>
              </a:solidFill>
              <a:latin typeface="Plus Jakarta Sans ExtraBold"/>
              <a:ea typeface="Plus Jakarta Sans ExtraBold"/>
              <a:cs typeface="Plus Jakarta Sans ExtraBold"/>
              <a:sym typeface="Plus Jakarta Sans ExtraBo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484" name="Shape 484"/>
        <p:cNvGrpSpPr/>
        <p:nvPr/>
      </p:nvGrpSpPr>
      <p:grpSpPr>
        <a:xfrm>
          <a:off x="0" y="0"/>
          <a:ext cx="0" cy="0"/>
          <a:chOff x="0" y="0"/>
          <a:chExt cx="0" cy="0"/>
        </a:xfrm>
      </p:grpSpPr>
      <p:sp>
        <p:nvSpPr>
          <p:cNvPr id="485" name="Google Shape;485;p63"/>
          <p:cNvSpPr txBox="1"/>
          <p:nvPr/>
        </p:nvSpPr>
        <p:spPr>
          <a:xfrm>
            <a:off x="762000" y="2900233"/>
            <a:ext cx="8617200" cy="2000000"/>
          </a:xfrm>
          <a:prstGeom prst="rect">
            <a:avLst/>
          </a:prstGeom>
          <a:noFill/>
          <a:ln>
            <a:noFill/>
          </a:ln>
        </p:spPr>
        <p:txBody>
          <a:bodyPr spcFirstLastPara="1" wrap="square" lIns="121900" tIns="121900" rIns="121900" bIns="121900" anchor="t" anchorCtr="0">
            <a:noAutofit/>
          </a:bodyPr>
          <a:lstStyle/>
          <a:p>
            <a:pPr marL="0" lvl="0" indent="0" algn="l" rtl="0">
              <a:lnSpc>
                <a:spcPct val="70000"/>
              </a:lnSpc>
              <a:spcBef>
                <a:spcPts val="0"/>
              </a:spcBef>
              <a:spcAft>
                <a:spcPts val="0"/>
              </a:spcAft>
              <a:buNone/>
            </a:pPr>
            <a:r>
              <a:rPr lang="en-US" sz="8135">
                <a:solidFill>
                  <a:srgbClr val="260700"/>
                </a:solidFill>
                <a:latin typeface="Plus Jakarta Sans ExtraBold"/>
                <a:ea typeface="Plus Jakarta Sans ExtraBold"/>
                <a:cs typeface="Plus Jakarta Sans ExtraBold"/>
                <a:sym typeface="Plus Jakarta Sans ExtraBold"/>
              </a:rPr>
              <a:t>¡Muchas</a:t>
            </a:r>
            <a:endParaRPr sz="8135">
              <a:solidFill>
                <a:srgbClr val="260700"/>
              </a:solidFill>
              <a:latin typeface="Plus Jakarta Sans ExtraBold"/>
              <a:ea typeface="Plus Jakarta Sans ExtraBold"/>
              <a:cs typeface="Plus Jakarta Sans ExtraBold"/>
              <a:sym typeface="Plus Jakarta Sans ExtraBold"/>
            </a:endParaRPr>
          </a:p>
          <a:p>
            <a:pPr marL="0" lvl="0" indent="0" algn="l" rtl="0">
              <a:lnSpc>
                <a:spcPct val="70000"/>
              </a:lnSpc>
              <a:spcBef>
                <a:spcPts val="0"/>
              </a:spcBef>
              <a:spcAft>
                <a:spcPts val="0"/>
              </a:spcAft>
              <a:buNone/>
            </a:pPr>
            <a:r>
              <a:rPr lang="en-US" sz="8135">
                <a:solidFill>
                  <a:srgbClr val="260700"/>
                </a:solidFill>
                <a:latin typeface="Plus Jakarta Sans ExtraBold"/>
                <a:ea typeface="Plus Jakarta Sans ExtraBold"/>
                <a:cs typeface="Plus Jakarta Sans ExtraBold"/>
                <a:sym typeface="Plus Jakarta Sans ExtraBold"/>
              </a:rPr>
              <a:t>gracias!</a:t>
            </a:r>
            <a:endParaRPr sz="8135">
              <a:solidFill>
                <a:srgbClr val="260700"/>
              </a:solidFill>
              <a:latin typeface="Plus Jakarta Sans ExtraBold"/>
              <a:ea typeface="Plus Jakarta Sans ExtraBold"/>
              <a:cs typeface="Plus Jakarta Sans ExtraBold"/>
              <a:sym typeface="Plus Jakarta Sans ExtraBold"/>
            </a:endParaRPr>
          </a:p>
        </p:txBody>
      </p:sp>
      <p:sp>
        <p:nvSpPr>
          <p:cNvPr id="486" name="Google Shape;486;p63"/>
          <p:cNvSpPr txBox="1"/>
          <p:nvPr/>
        </p:nvSpPr>
        <p:spPr>
          <a:xfrm>
            <a:off x="762000" y="5056200"/>
            <a:ext cx="10668000" cy="1208400"/>
          </a:xfrm>
          <a:prstGeom prst="rect">
            <a:avLst/>
          </a:prstGeom>
          <a:noFill/>
          <a:ln>
            <a:noFill/>
          </a:ln>
        </p:spPr>
        <p:txBody>
          <a:bodyPr spcFirstLastPara="1" wrap="square" lIns="0" tIns="0" rIns="0" bIns="0" anchor="b" anchorCtr="0">
            <a:noAutofit/>
          </a:bodyPr>
          <a:lstStyle/>
          <a:p>
            <a:pPr marL="0" lvl="0" indent="0" algn="just" rtl="0">
              <a:spcBef>
                <a:spcPts val="0"/>
              </a:spcBef>
              <a:spcAft>
                <a:spcPts val="0"/>
              </a:spcAft>
              <a:buNone/>
            </a:pPr>
            <a:r>
              <a:rPr lang="en-US" sz="800">
                <a:solidFill>
                  <a:srgbClr val="260700"/>
                </a:solidFill>
                <a:latin typeface="Plus Jakarta Sans"/>
                <a:ea typeface="Plus Jakarta Sans"/>
                <a:cs typeface="Plus Jakarta Sans"/>
                <a:sym typeface="Plus Jakarta Sans"/>
              </a:rPr>
              <a:t>We have provided this presentation to you for informational and illustrative purposes on a confidential basis. We reserve the right to use of non-disclosure agreements (NDAs) to protect our privacy and intellectual property rights. The information contained in this document is highly sensitive, confidential and/or proprietary and is intended for the express use of the intended recipient, as denoted on the title page of this document. The recipient of this presentation agrees by its receipt not to reproduce, duplicate, or reveal, in whole or in part, information presented herein without written permission of Coderhouse. No representation or warranty, expressed or implied, is made as to the accuracy or completeness of the information contained in this presentation. Any quote contained herein is for estimation purposes. Estimates are based on current, known requirements. Actual estimates may change once project elements are finalized or negotiated. This document may contain confidential pricing information. All pricing is subject to change. </a:t>
            </a:r>
            <a:endParaRPr sz="800">
              <a:solidFill>
                <a:srgbClr val="260700"/>
              </a:solidFill>
              <a:latin typeface="Plus Jakarta Sans"/>
              <a:ea typeface="Plus Jakarta Sans"/>
              <a:cs typeface="Plus Jakarta Sans"/>
              <a:sym typeface="Plus Jakarta Sans"/>
            </a:endParaRPr>
          </a:p>
          <a:p>
            <a:pPr marL="0" lvl="0" indent="0" algn="just" rtl="0">
              <a:spcBef>
                <a:spcPts val="0"/>
              </a:spcBef>
              <a:spcAft>
                <a:spcPts val="0"/>
              </a:spcAft>
              <a:buNone/>
            </a:pPr>
            <a:endParaRPr sz="800">
              <a:solidFill>
                <a:srgbClr val="260700"/>
              </a:solidFill>
              <a:latin typeface="Plus Jakarta Sans"/>
              <a:ea typeface="Plus Jakarta Sans"/>
              <a:cs typeface="Plus Jakarta Sans"/>
              <a:sym typeface="Plus Jakarta Sans"/>
            </a:endParaRPr>
          </a:p>
          <a:p>
            <a:pPr marL="0" lvl="0" indent="0" algn="just" rtl="0">
              <a:spcBef>
                <a:spcPts val="0"/>
              </a:spcBef>
              <a:spcAft>
                <a:spcPts val="0"/>
              </a:spcAft>
              <a:buNone/>
            </a:pPr>
            <a:r>
              <a:rPr lang="en-US" sz="800">
                <a:solidFill>
                  <a:srgbClr val="260700"/>
                </a:solidFill>
                <a:latin typeface="Plus Jakarta Sans"/>
                <a:ea typeface="Plus Jakarta Sans"/>
                <a:cs typeface="Plus Jakarta Sans"/>
                <a:sym typeface="Plus Jakarta Sans"/>
              </a:rPr>
              <a:t>Copyright © 2026 Coderhouse. All rights reserved. Coderhouse and the Coderhouse logo are trademarks or registered trademarks of Coderhouse. in the U.S. and/or other countries. All other trademarks are the property of their respective owners.</a:t>
            </a:r>
            <a:endParaRPr sz="800">
              <a:solidFill>
                <a:srgbClr val="260700"/>
              </a:solidFill>
              <a:latin typeface="Plus Jakarta Sans"/>
              <a:ea typeface="Plus Jakarta Sans"/>
              <a:cs typeface="Plus Jakarta Sans"/>
              <a:sym typeface="Plus Jakarta Sans"/>
            </a:endParaRPr>
          </a:p>
        </p:txBody>
      </p:sp>
      <p:pic>
        <p:nvPicPr>
          <p:cNvPr id="487" name="Google Shape;487;p63" title="Group 1321320857.png"/>
          <p:cNvPicPr preferRelativeResize="0"/>
          <p:nvPr/>
        </p:nvPicPr>
        <p:blipFill>
          <a:blip r:embed="rId1"/>
          <a:stretch>
            <a:fillRect/>
          </a:stretch>
        </p:blipFill>
        <p:spPr>
          <a:xfrm>
            <a:off x="9678767" y="650767"/>
            <a:ext cx="1629101" cy="475733"/>
          </a:xfrm>
          <a:prstGeom prst="rect">
            <a:avLst/>
          </a:prstGeom>
          <a:noFill/>
          <a:ln>
            <a:noFill/>
          </a:ln>
        </p:spPr>
      </p:pic>
    </p:spTree>
  </p:cSld>
  <p:clrMapOvr>
    <a:masterClrMapping/>
  </p:clrMapOvr>
</p:sld>
</file>

<file path=ppt/tags/tag1.xml><?xml version="1.0" encoding="utf-8"?>
<p:tagLst xmlns:p="http://schemas.openxmlformats.org/presentationml/2006/main">
  <p:tag name="TABLE_ENDDRAG_ORIGIN_RECT" val="726*108"/>
  <p:tag name="TABLE_ENDDRAG_RECT" val="105*407*726*10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5110</Words>
  <Application>WPS Slides</Application>
  <PresentationFormat>Widescreen</PresentationFormat>
  <Paragraphs>202</Paragraphs>
  <Slides>22</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Plus Jakarta Sans</vt:lpstr>
      <vt:lpstr>Segoe Print</vt:lpstr>
      <vt:lpstr>Plus Jakarta Sans Light</vt:lpstr>
      <vt:lpstr>Plus Jakarta Sans ExtraBold</vt:lpstr>
      <vt:lpstr>Microsoft YaHei</vt:lpstr>
      <vt:lpstr>Arial Unicode MS</vt:lpstr>
      <vt:lpstr>Calibri Light</vt:lpstr>
      <vt:lpstr>Calibri</vt:lpstr>
      <vt:lpstr>Google Sans Text</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Luciano</cp:lastModifiedBy>
  <cp:revision>4</cp:revision>
  <dcterms:created xsi:type="dcterms:W3CDTF">2026-04-18T01:58:00Z</dcterms:created>
  <dcterms:modified xsi:type="dcterms:W3CDTF">2026-04-20T17:34:07Z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1A73B9B21D9E41648235B28E430E66D1_11</vt:lpwstr>
  </property>
  <property fmtid="{D5CDD505-2E9C-101B-9397-08002B2CF9AE}" pid="3" name="KSOProductBuildVer">
    <vt:lpwstr>1033-12.2.0.20782</vt:lpwstr>
  </property>
</Properties>
</file>