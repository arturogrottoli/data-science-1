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66" r:id="rId2"/>
    <p:sldId id="264" r:id="rId3"/>
    <p:sldId id="265" r:id="rId4"/>
    <p:sldId id="267" r:id="rId5"/>
    <p:sldId id="268" r:id="rId6"/>
    <p:sldId id="260" r:id="rId7"/>
    <p:sldId id="269" r:id="rId8"/>
    <p:sldId id="270" r:id="rId9"/>
    <p:sldId id="286" r:id="rId10"/>
    <p:sldId id="288" r:id="rId11"/>
    <p:sldId id="289" r:id="rId12"/>
    <p:sldId id="262" r:id="rId13"/>
    <p:sldId id="281" r:id="rId14"/>
    <p:sldId id="273" r:id="rId15"/>
    <p:sldId id="274" r:id="rId16"/>
    <p:sldId id="278" r:id="rId17"/>
    <p:sldId id="279" r:id="rId18"/>
    <p:sldId id="280" r:id="rId19"/>
    <p:sldId id="283" r:id="rId20"/>
    <p:sldId id="285" r:id="rId21"/>
    <p:sldId id="284" r:id="rId22"/>
    <p:sldId id="25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72" d="100"/>
          <a:sy n="72"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‹Nº›</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b53643a157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b53643a157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b53643a157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b53643a157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53643a15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b53643a15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bb91f55cac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bb91f55ca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b53643a157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b53643a157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pic>
        <p:nvPicPr>
          <p:cNvPr id="52" name="Google Shape;52;p13" title="Group 1321318181.png"/>
          <p:cNvPicPr preferRelativeResize="0"/>
          <p:nvPr/>
        </p:nvPicPr>
        <p:blipFill>
          <a:blip r:embed="rId2"/>
          <a:stretch>
            <a:fillRect/>
          </a:stretch>
        </p:blipFill>
        <p:spPr>
          <a:xfrm>
            <a:off x="0" y="2768216"/>
            <a:ext cx="12191996" cy="408978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
        <p:nvSpPr>
          <p:cNvPr id="55" name="Google Shape;55;p14"/>
          <p:cNvSpPr txBox="1"/>
          <p:nvPr/>
        </p:nvSpPr>
        <p:spPr>
          <a:xfrm>
            <a:off x="634833" y="220035"/>
            <a:ext cx="8592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Coderhouse</a:t>
            </a:r>
            <a:endParaRPr sz="665">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9230685" y="220035"/>
            <a:ext cx="1584800" cy="2512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Internal  Presentation</a:t>
            </a:r>
            <a:endParaRPr sz="665">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928743" y="220035"/>
            <a:ext cx="16560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2026</a:t>
            </a:r>
            <a:endParaRPr sz="665">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11164700" y="120865"/>
            <a:ext cx="492800" cy="449600"/>
          </a:xfrm>
          <a:prstGeom prst="rect">
            <a:avLst/>
          </a:prstGeom>
          <a:noFill/>
          <a:ln>
            <a:noFill/>
          </a:ln>
        </p:spPr>
        <p:txBody>
          <a:bodyPr spcFirstLastPara="1" wrap="square" lIns="117966" tIns="117966" rIns="117966" bIns="117966" anchor="ctr" anchorCtr="0">
            <a:noAutofit/>
          </a:bodyPr>
          <a:lstStyle/>
          <a:p>
            <a:pPr marL="0" lvl="0" indent="0" algn="ctr" rtl="0">
              <a:lnSpc>
                <a:spcPct val="100000"/>
              </a:lnSpc>
              <a:spcBef>
                <a:spcPts val="0"/>
              </a:spcBef>
              <a:spcAft>
                <a:spcPts val="0"/>
              </a:spcAft>
              <a:buNone/>
            </a:pPr>
            <a:fld id="{00000000-1234-1234-1234-123412341234}" type="slidenum">
              <a:rPr lang="en-US" sz="665">
                <a:solidFill>
                  <a:srgbClr val="222224"/>
                </a:solidFill>
                <a:latin typeface="Plus Jakarta Sans"/>
                <a:ea typeface="Plus Jakarta Sans"/>
                <a:cs typeface="Plus Jakarta Sans"/>
                <a:sym typeface="Plus Jakarta Sans"/>
              </a:rPr>
              <a:t>‹Nº›</a:t>
            </a:fld>
            <a:endParaRPr sz="665">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magen 1 1">
  <p:cSld name="BLANK_3_1_1_1">
    <p:bg>
      <p:bgPr>
        <a:solidFill>
          <a:schemeClr val="lt1"/>
        </a:solidFill>
        <a:effectLst/>
      </p:bgPr>
    </p:bg>
    <p:spTree>
      <p:nvGrpSpPr>
        <p:cNvPr id="1" name="Shape 71"/>
        <p:cNvGrpSpPr/>
        <p:nvPr/>
      </p:nvGrpSpPr>
      <p:grpSpPr>
        <a:xfrm>
          <a:off x="0" y="0"/>
          <a:ext cx="0" cy="0"/>
          <a:chOff x="0" y="0"/>
          <a:chExt cx="0" cy="0"/>
        </a:xfrm>
      </p:grpSpPr>
      <p:pic>
        <p:nvPicPr>
          <p:cNvPr id="72" name="Google Shape;72;p17" title="4d917f2d-7c08-49ef-b177-326a60a5c815.png"/>
          <p:cNvPicPr preferRelativeResize="0"/>
          <p:nvPr/>
        </p:nvPicPr>
        <p:blipFill rotWithShape="1">
          <a:blip r:embed="rId2"/>
          <a:srcRect t="34388" b="23542"/>
          <a:stretch>
            <a:fillRect/>
          </a:stretch>
        </p:blipFill>
        <p:spPr>
          <a:xfrm>
            <a:off x="-61167" y="-49467"/>
            <a:ext cx="12314337" cy="6907467"/>
          </a:xfrm>
          <a:prstGeom prst="rect">
            <a:avLst/>
          </a:prstGeom>
          <a:noFill/>
          <a:ln>
            <a:noFill/>
          </a:ln>
        </p:spPr>
      </p:pic>
      <p:sp>
        <p:nvSpPr>
          <p:cNvPr id="73" name="Google Shape;73;p17"/>
          <p:cNvSpPr txBox="1"/>
          <p:nvPr/>
        </p:nvSpPr>
        <p:spPr>
          <a:xfrm>
            <a:off x="634833" y="220035"/>
            <a:ext cx="8592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F8F2E8"/>
                </a:solidFill>
                <a:latin typeface="Plus Jakarta Sans"/>
                <a:ea typeface="Plus Jakarta Sans"/>
                <a:cs typeface="Plus Jakarta Sans"/>
                <a:sym typeface="Plus Jakarta Sans"/>
              </a:rPr>
              <a:t>Coderhouse</a:t>
            </a:r>
            <a:endParaRPr sz="665">
              <a:solidFill>
                <a:srgbClr val="F8F2E8"/>
              </a:solidFill>
              <a:latin typeface="Plus Jakarta Sans"/>
              <a:ea typeface="Plus Jakarta Sans"/>
              <a:cs typeface="Plus Jakarta Sans"/>
              <a:sym typeface="Plus Jakarta Sans"/>
            </a:endParaRPr>
          </a:p>
        </p:txBody>
      </p:sp>
      <p:sp>
        <p:nvSpPr>
          <p:cNvPr id="74" name="Google Shape;74;p17"/>
          <p:cNvSpPr txBox="1"/>
          <p:nvPr/>
        </p:nvSpPr>
        <p:spPr>
          <a:xfrm>
            <a:off x="9230685" y="220035"/>
            <a:ext cx="1584800" cy="2512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None/>
            </a:pPr>
            <a:r>
              <a:rPr lang="en-US" sz="665">
                <a:solidFill>
                  <a:srgbClr val="F8F2E8"/>
                </a:solidFill>
                <a:latin typeface="Plus Jakarta Sans"/>
                <a:ea typeface="Plus Jakarta Sans"/>
                <a:cs typeface="Plus Jakarta Sans"/>
                <a:sym typeface="Plus Jakarta Sans"/>
              </a:rPr>
              <a:t>Internal  Presentation</a:t>
            </a:r>
            <a:endParaRPr sz="665">
              <a:solidFill>
                <a:srgbClr val="F8F2E8"/>
              </a:solidFill>
              <a:latin typeface="Plus Jakarta Sans"/>
              <a:ea typeface="Plus Jakarta Sans"/>
              <a:cs typeface="Plus Jakarta Sans"/>
              <a:sym typeface="Plus Jakarta Sans"/>
            </a:endParaRPr>
          </a:p>
        </p:txBody>
      </p:sp>
      <p:sp>
        <p:nvSpPr>
          <p:cNvPr id="75" name="Google Shape;75;p17"/>
          <p:cNvSpPr txBox="1"/>
          <p:nvPr/>
        </p:nvSpPr>
        <p:spPr>
          <a:xfrm>
            <a:off x="2928743" y="220035"/>
            <a:ext cx="16560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F8F2E8"/>
                </a:solidFill>
                <a:latin typeface="Plus Jakarta Sans"/>
                <a:ea typeface="Plus Jakarta Sans"/>
                <a:cs typeface="Plus Jakarta Sans"/>
                <a:sym typeface="Plus Jakarta Sans"/>
              </a:rPr>
              <a:t>2026</a:t>
            </a:r>
            <a:endParaRPr sz="665">
              <a:solidFill>
                <a:srgbClr val="F8F2E8"/>
              </a:solidFill>
              <a:latin typeface="Plus Jakarta Sans"/>
              <a:ea typeface="Plus Jakarta Sans"/>
              <a:cs typeface="Plus Jakarta Sans"/>
              <a:sym typeface="Plus Jakarta Sans"/>
            </a:endParaRPr>
          </a:p>
        </p:txBody>
      </p:sp>
      <p:sp>
        <p:nvSpPr>
          <p:cNvPr id="76" name="Google Shape;76;p17"/>
          <p:cNvSpPr txBox="1"/>
          <p:nvPr/>
        </p:nvSpPr>
        <p:spPr>
          <a:xfrm>
            <a:off x="11164700" y="120865"/>
            <a:ext cx="492800" cy="449600"/>
          </a:xfrm>
          <a:prstGeom prst="rect">
            <a:avLst/>
          </a:prstGeom>
          <a:noFill/>
          <a:ln>
            <a:noFill/>
          </a:ln>
        </p:spPr>
        <p:txBody>
          <a:bodyPr spcFirstLastPara="1" wrap="square" lIns="117966" tIns="117966" rIns="117966" bIns="117966" anchor="ctr" anchorCtr="0">
            <a:noAutofit/>
          </a:bodyPr>
          <a:lstStyle/>
          <a:p>
            <a:pPr marL="0" lvl="0" indent="0" algn="ctr" rtl="0">
              <a:lnSpc>
                <a:spcPct val="100000"/>
              </a:lnSpc>
              <a:spcBef>
                <a:spcPts val="0"/>
              </a:spcBef>
              <a:spcAft>
                <a:spcPts val="0"/>
              </a:spcAft>
              <a:buNone/>
            </a:pPr>
            <a:fld id="{00000000-1234-1234-1234-123412341234}" type="slidenum">
              <a:rPr lang="en-US" sz="665">
                <a:solidFill>
                  <a:srgbClr val="F8F2E8"/>
                </a:solidFill>
                <a:latin typeface="Plus Jakarta Sans"/>
                <a:ea typeface="Plus Jakarta Sans"/>
                <a:cs typeface="Plus Jakarta Sans"/>
                <a:sym typeface="Plus Jakarta Sans"/>
              </a:rPr>
              <a:t>‹Nº›</a:t>
            </a:fld>
            <a:endParaRPr sz="665">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7.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2"/>
          <p:cNvSpPr txBox="1"/>
          <p:nvPr/>
        </p:nvSpPr>
        <p:spPr>
          <a:xfrm>
            <a:off x="985433" y="4680301"/>
            <a:ext cx="10420800" cy="3664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0"/>
              </a:spcAft>
              <a:buNone/>
            </a:pPr>
            <a:r>
              <a:rPr lang="es-AR" altLang="en-US" sz="1600">
                <a:solidFill>
                  <a:srgbClr val="F8F2E8"/>
                </a:solidFill>
                <a:latin typeface="Plus Jakarta Sans Light"/>
                <a:ea typeface="Plus Jakarta Sans Light"/>
                <a:cs typeface="Plus Jakarta Sans Light"/>
                <a:sym typeface="Plus Jakarta Sans Light"/>
              </a:rPr>
              <a:t>En Breve comenzamos!!!!</a:t>
            </a:r>
          </a:p>
        </p:txBody>
      </p:sp>
      <p:sp>
        <p:nvSpPr>
          <p:cNvPr id="269" name="Google Shape;269;p42"/>
          <p:cNvSpPr txBox="1"/>
          <p:nvPr/>
        </p:nvSpPr>
        <p:spPr>
          <a:xfrm>
            <a:off x="1887233" y="3161901"/>
            <a:ext cx="8617200" cy="1518400"/>
          </a:xfrm>
          <a:prstGeom prst="rect">
            <a:avLst/>
          </a:prstGeom>
          <a:noFill/>
          <a:ln>
            <a:noFill/>
          </a:ln>
        </p:spPr>
        <p:txBody>
          <a:bodyPr spcFirstLastPara="1" wrap="square" lIns="121900" tIns="121900" rIns="121900" bIns="121900" anchor="t" anchorCtr="0">
            <a:noAutofit/>
          </a:bodyPr>
          <a:lstStyle/>
          <a:p>
            <a:pPr marL="0" lvl="0" indent="0" algn="ctr" rtl="0">
              <a:lnSpc>
                <a:spcPct val="70000"/>
              </a:lnSpc>
              <a:spcBef>
                <a:spcPts val="0"/>
              </a:spcBef>
              <a:spcAft>
                <a:spcPts val="0"/>
              </a:spcAft>
              <a:buNone/>
            </a:pPr>
            <a:r>
              <a:rPr lang="es-AR" altLang="en-US" sz="6400" dirty="0" smtClean="0">
                <a:solidFill>
                  <a:srgbClr val="F8F2E8"/>
                </a:solidFill>
                <a:latin typeface="Plus Jakarta Sans ExtraBold"/>
                <a:ea typeface="Plus Jakarta Sans ExtraBold"/>
                <a:cs typeface="Plus Jakarta Sans ExtraBold"/>
                <a:sym typeface="Plus Jakarta Sans ExtraBold"/>
              </a:rPr>
              <a:t>Bienvenidos a Data </a:t>
            </a:r>
            <a:r>
              <a:rPr lang="es-AR" altLang="en-US" sz="6400" dirty="0" err="1" smtClean="0">
                <a:solidFill>
                  <a:srgbClr val="F8F2E8"/>
                </a:solidFill>
                <a:latin typeface="Plus Jakarta Sans ExtraBold"/>
                <a:ea typeface="Plus Jakarta Sans ExtraBold"/>
                <a:cs typeface="Plus Jakarta Sans ExtraBold"/>
                <a:sym typeface="Plus Jakarta Sans ExtraBold"/>
              </a:rPr>
              <a:t>Science</a:t>
            </a:r>
            <a:endParaRPr lang="es-AR" altLang="en-US" sz="64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3"/>
          <p:cNvSpPr txBox="1"/>
          <p:nvPr/>
        </p:nvSpPr>
        <p:spPr>
          <a:xfrm>
            <a:off x="1787400" y="875300"/>
            <a:ext cx="8617200" cy="11204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3735" dirty="0" err="1">
                <a:solidFill>
                  <a:srgbClr val="260700"/>
                </a:solidFill>
                <a:latin typeface="Plus Jakarta Sans ExtraBold"/>
                <a:ea typeface="Plus Jakarta Sans ExtraBold"/>
                <a:cs typeface="Plus Jakarta Sans ExtraBold"/>
                <a:sym typeface="Plus Jakarta Sans ExtraBold"/>
              </a:rPr>
              <a:t>Presentación</a:t>
            </a:r>
            <a:endParaRPr sz="3735" dirty="0">
              <a:solidFill>
                <a:srgbClr val="260700"/>
              </a:solidFill>
              <a:latin typeface="Plus Jakarta Sans ExtraBold"/>
              <a:ea typeface="Plus Jakarta Sans ExtraBold"/>
              <a:cs typeface="Plus Jakarta Sans ExtraBold"/>
              <a:sym typeface="Plus Jakarta Sans ExtraBold"/>
            </a:endParaRPr>
          </a:p>
          <a:p>
            <a:pPr marL="0" lvl="0" indent="0" algn="ctr" rtl="0">
              <a:spcBef>
                <a:spcPts val="0"/>
              </a:spcBef>
              <a:spcAft>
                <a:spcPts val="0"/>
              </a:spcAft>
              <a:buNone/>
            </a:pPr>
            <a:r>
              <a:rPr lang="en-US" sz="3735" dirty="0">
                <a:solidFill>
                  <a:srgbClr val="260700"/>
                </a:solidFill>
                <a:latin typeface="Plus Jakarta Sans ExtraBold"/>
                <a:ea typeface="Plus Jakarta Sans ExtraBold"/>
                <a:cs typeface="Plus Jakarta Sans ExtraBold"/>
                <a:sym typeface="Plus Jakarta Sans ExtraBold"/>
              </a:rPr>
              <a:t>del </a:t>
            </a:r>
            <a:r>
              <a:rPr lang="en-US" sz="3735" dirty="0" err="1">
                <a:solidFill>
                  <a:srgbClr val="260700"/>
                </a:solidFill>
                <a:highlight>
                  <a:srgbClr val="FDAB2E"/>
                </a:highlight>
                <a:latin typeface="Plus Jakarta Sans ExtraBold"/>
                <a:ea typeface="Plus Jakarta Sans ExtraBold"/>
                <a:cs typeface="Plus Jakarta Sans ExtraBold"/>
                <a:sym typeface="Plus Jakarta Sans ExtraBold"/>
              </a:rPr>
              <a:t>equipo</a:t>
            </a:r>
            <a:r>
              <a:rPr lang="en-US" sz="3735" dirty="0">
                <a:solidFill>
                  <a:srgbClr val="260700"/>
                </a:solidFill>
                <a:latin typeface="Plus Jakarta Sans ExtraBold"/>
                <a:ea typeface="Plus Jakarta Sans ExtraBold"/>
                <a:cs typeface="Plus Jakarta Sans ExtraBold"/>
                <a:sym typeface="Plus Jakarta Sans ExtraBold"/>
              </a:rPr>
              <a:t>:</a:t>
            </a:r>
            <a:endParaRPr sz="3735" dirty="0">
              <a:solidFill>
                <a:srgbClr val="260700"/>
              </a:solidFill>
              <a:latin typeface="Plus Jakarta Sans"/>
              <a:ea typeface="Plus Jakarta Sans"/>
              <a:cs typeface="Plus Jakarta Sans"/>
              <a:sym typeface="Plus Jakarta Sans"/>
            </a:endParaRPr>
          </a:p>
        </p:txBody>
      </p:sp>
      <p:sp>
        <p:nvSpPr>
          <p:cNvPr id="277" name="Google Shape;277;p43"/>
          <p:cNvSpPr/>
          <p:nvPr/>
        </p:nvSpPr>
        <p:spPr>
          <a:xfrm>
            <a:off x="426720" y="3387449"/>
            <a:ext cx="11338560" cy="984250"/>
          </a:xfrm>
          <a:prstGeom prst="round2SameRect">
            <a:avLst>
              <a:gd name="adj1" fmla="val 0"/>
              <a:gd name="adj2" fmla="val 34038"/>
            </a:avLst>
          </a:prstGeom>
          <a:solidFill>
            <a:srgbClr val="FF632B"/>
          </a:solidFill>
          <a:ln>
            <a:noFill/>
          </a:ln>
        </p:spPr>
        <p:txBody>
          <a:bodyPr spcFirstLastPara="1" wrap="square" lIns="121900" tIns="121900" rIns="121900" bIns="121900" anchor="ctr" anchorCtr="0">
            <a:noAutofit/>
          </a:bodyPr>
          <a:lstStyle/>
          <a:p>
            <a:pPr marL="165100" lvl="0"/>
            <a:r>
              <a:rPr lang="en-US" sz="2800" b="1" dirty="0" err="1">
                <a:solidFill>
                  <a:srgbClr val="F8F2E8"/>
                </a:solidFill>
                <a:latin typeface="Plus Jakarta Sans"/>
                <a:ea typeface="Plus Jakarta Sans"/>
                <a:cs typeface="Plus Jakarta Sans"/>
                <a:sym typeface="Plus Jakarta Sans"/>
              </a:rPr>
              <a:t>Profesor</a:t>
            </a:r>
            <a:r>
              <a:rPr lang="en-US" sz="2800" b="1" dirty="0" smtClean="0">
                <a:solidFill>
                  <a:srgbClr val="F8F2E8"/>
                </a:solidFill>
                <a:latin typeface="Plus Jakarta Sans"/>
                <a:ea typeface="Plus Jakarta Sans"/>
                <a:cs typeface="Plus Jakarta Sans"/>
                <a:sym typeface="Plus Jakarta Sans"/>
              </a:rPr>
              <a:t>: </a:t>
            </a:r>
            <a:r>
              <a:rPr lang="es-AR" altLang="en-US" b="1" dirty="0">
                <a:solidFill>
                  <a:srgbClr val="F8F2E8"/>
                </a:solidFill>
                <a:latin typeface="Plus Jakarta Sans"/>
                <a:ea typeface="Plus Jakarta Sans"/>
                <a:cs typeface="Plus Jakarta Sans"/>
                <a:sym typeface="Plus Jakarta Sans"/>
              </a:rPr>
              <a:t>Arturo </a:t>
            </a:r>
            <a:r>
              <a:rPr lang="es-AR" altLang="en-US" b="1" dirty="0" err="1">
                <a:solidFill>
                  <a:srgbClr val="F8F2E8"/>
                </a:solidFill>
                <a:latin typeface="Plus Jakarta Sans"/>
                <a:ea typeface="Plus Jakarta Sans"/>
                <a:cs typeface="Plus Jakarta Sans"/>
                <a:sym typeface="Plus Jakarta Sans"/>
              </a:rPr>
              <a:t>Grottoli</a:t>
            </a:r>
            <a:r>
              <a:rPr lang="en-US" b="1" dirty="0">
                <a:solidFill>
                  <a:srgbClr val="F8F2E8"/>
                </a:solidFill>
                <a:latin typeface="Plus Jakarta Sans"/>
                <a:ea typeface="Plus Jakarta Sans"/>
                <a:cs typeface="Plus Jakarta Sans"/>
                <a:sym typeface="Plus Jakarta Sans"/>
              </a:rPr>
              <a:t>  </a:t>
            </a:r>
            <a:endParaRPr lang="es-AR" altLang="en-US" b="1" dirty="0">
              <a:solidFill>
                <a:srgbClr val="F8F2E8"/>
              </a:solidFill>
              <a:latin typeface="Plus Jakarta Sans"/>
              <a:ea typeface="Plus Jakarta Sans"/>
              <a:cs typeface="Plus Jakarta Sans"/>
              <a:sym typeface="Plus Jakarta Sans"/>
            </a:endParaRPr>
          </a:p>
        </p:txBody>
      </p:sp>
      <p:sp>
        <p:nvSpPr>
          <p:cNvPr id="284" name="Google Shape;284;p43"/>
          <p:cNvSpPr/>
          <p:nvPr/>
        </p:nvSpPr>
        <p:spPr>
          <a:xfrm>
            <a:off x="8832733" y="1600700"/>
            <a:ext cx="1489600" cy="565600"/>
          </a:xfrm>
          <a:prstGeom prst="wedgeRectCallout">
            <a:avLst>
              <a:gd name="adj1" fmla="val -33452"/>
              <a:gd name="adj2" fmla="val 98680"/>
            </a:avLst>
          </a:prstGeom>
          <a:solidFill>
            <a:srgbClr val="FF632B"/>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35">
                <a:solidFill>
                  <a:srgbClr val="F8F2E8"/>
                </a:solidFill>
                <a:latin typeface="Plus Jakarta Sans"/>
                <a:ea typeface="Plus Jakarta Sans"/>
                <a:cs typeface="Plus Jakarta Sans"/>
                <a:sym typeface="Plus Jakarta Sans"/>
              </a:rPr>
              <a:t>COMISIÓN N° </a:t>
            </a:r>
            <a:r>
              <a:rPr lang="es-AR" altLang="en-US" sz="935">
                <a:solidFill>
                  <a:srgbClr val="F8F2E8"/>
                </a:solidFill>
                <a:latin typeface="Plus Jakarta Sans"/>
                <a:ea typeface="Plus Jakarta Sans"/>
                <a:cs typeface="Plus Jakarta Sans"/>
                <a:sym typeface="Plus Jakarta Sans"/>
              </a:rPr>
              <a:t>95315</a:t>
            </a:r>
          </a:p>
        </p:txBody>
      </p:sp>
      <p:sp>
        <p:nvSpPr>
          <p:cNvPr id="2" name="Google Shape;277;p43"/>
          <p:cNvSpPr/>
          <p:nvPr/>
        </p:nvSpPr>
        <p:spPr>
          <a:xfrm>
            <a:off x="426720" y="4840605"/>
            <a:ext cx="11338560" cy="984250"/>
          </a:xfrm>
          <a:prstGeom prst="round2SameRect">
            <a:avLst>
              <a:gd name="adj1" fmla="val 0"/>
              <a:gd name="adj2" fmla="val 34038"/>
            </a:avLst>
          </a:prstGeom>
          <a:solidFill>
            <a:srgbClr val="FF632B"/>
          </a:solidFill>
          <a:ln>
            <a:noFill/>
          </a:ln>
        </p:spPr>
        <p:txBody>
          <a:bodyPr spcFirstLastPara="1" wrap="square" lIns="121900" tIns="121900" rIns="121900" bIns="121900" anchor="ctr" anchorCtr="0">
            <a:noAutofit/>
          </a:bodyPr>
          <a:lstStyle/>
          <a:p>
            <a:pPr marL="165100" lvl="0" indent="0" algn="l" rtl="0">
              <a:spcBef>
                <a:spcPts val="0"/>
              </a:spcBef>
              <a:spcAft>
                <a:spcPts val="0"/>
              </a:spcAft>
              <a:buNone/>
            </a:pPr>
            <a:r>
              <a:rPr lang="en-US" sz="2800" b="1" dirty="0" err="1">
                <a:solidFill>
                  <a:srgbClr val="F8F2E8"/>
                </a:solidFill>
                <a:latin typeface="Plus Jakarta Sans"/>
                <a:ea typeface="Plus Jakarta Sans"/>
                <a:cs typeface="Plus Jakarta Sans"/>
                <a:sym typeface="Plus Jakarta Sans"/>
              </a:rPr>
              <a:t>Profesor</a:t>
            </a:r>
            <a:r>
              <a:rPr lang="en-US" sz="2800" b="1" dirty="0">
                <a:solidFill>
                  <a:srgbClr val="F8F2E8"/>
                </a:solidFill>
                <a:latin typeface="Plus Jakarta Sans"/>
                <a:ea typeface="Plus Jakarta Sans"/>
                <a:cs typeface="Plus Jakarta Sans"/>
                <a:sym typeface="Plus Jakarta Sans"/>
              </a:rPr>
              <a:t>:</a:t>
            </a:r>
            <a:r>
              <a:rPr lang="es-AR" altLang="en-US" sz="2800" b="1" dirty="0">
                <a:solidFill>
                  <a:srgbClr val="F8F2E8"/>
                </a:solidFill>
                <a:latin typeface="Plus Jakarta Sans"/>
                <a:ea typeface="Plus Jakarta Sans"/>
                <a:cs typeface="Plus Jakarta Sans"/>
                <a:sym typeface="Plus Jakarta Sans"/>
              </a:rPr>
              <a:t> </a:t>
            </a:r>
            <a:r>
              <a:rPr lang="es-AR" altLang="en-US" b="1" dirty="0" smtClean="0">
                <a:solidFill>
                  <a:srgbClr val="F8F2E8"/>
                </a:solidFill>
                <a:latin typeface="Plus Jakarta Sans"/>
                <a:ea typeface="Plus Jakarta Sans"/>
                <a:cs typeface="Plus Jakarta Sans"/>
                <a:sym typeface="Plus Jakarta Sans"/>
              </a:rPr>
              <a:t>Arturo</a:t>
            </a:r>
            <a:endParaRPr lang="es-AR" altLang="en-US" b="1" dirty="0">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4"/>
          <p:cNvSpPr txBox="1"/>
          <p:nvPr/>
        </p:nvSpPr>
        <p:spPr>
          <a:xfrm>
            <a:off x="3776747" y="0"/>
            <a:ext cx="8617200" cy="18532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r>
              <a:rPr lang="en-US" sz="12800">
                <a:solidFill>
                  <a:srgbClr val="FF632B"/>
                </a:solidFill>
                <a:latin typeface="Plus Jakarta Sans ExtraBold"/>
                <a:ea typeface="Plus Jakarta Sans ExtraBold"/>
                <a:cs typeface="Plus Jakarta Sans ExtraBold"/>
                <a:sym typeface="Plus Jakarta Sans ExtraBold"/>
              </a:rPr>
              <a:t>Agenda</a:t>
            </a:r>
            <a:endParaRPr sz="12800">
              <a:solidFill>
                <a:srgbClr val="FF632B"/>
              </a:solidFill>
              <a:latin typeface="Plus Jakarta Sans ExtraBold"/>
              <a:ea typeface="Plus Jakarta Sans ExtraBold"/>
              <a:cs typeface="Plus Jakarta Sans ExtraBold"/>
              <a:sym typeface="Plus Jakarta Sans ExtraBold"/>
            </a:endParaRPr>
          </a:p>
        </p:txBody>
      </p:sp>
      <p:sp>
        <p:nvSpPr>
          <p:cNvPr id="193" name="Google Shape;193;p34"/>
          <p:cNvSpPr txBox="1"/>
          <p:nvPr/>
        </p:nvSpPr>
        <p:spPr>
          <a:xfrm>
            <a:off x="962025" y="2336800"/>
            <a:ext cx="8616950" cy="3629025"/>
          </a:xfrm>
          <a:prstGeom prst="rect">
            <a:avLst/>
          </a:prstGeom>
          <a:noFill/>
          <a:ln>
            <a:noFill/>
          </a:ln>
        </p:spPr>
        <p:txBody>
          <a:bodyPr spcFirstLastPara="1" wrap="square" lIns="121900" tIns="121900" rIns="121900" bIns="121900" anchor="t" anchorCtr="0">
            <a:noAutofit/>
          </a:bodyPr>
          <a:lstStyle/>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1: La Transformación Digital en la Industria 4.0</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2: Fundamentos de Python</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3: NumPy y Pandas</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4: Manipulación de Datos: Pandas</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5: Visualizaciones Avanzadas en Data Science</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6: Estadística y Preprocesamiento</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7: Aplicaciones Prácticas de ML</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8: Aprendizaje Supervisado en Ciencia de Datos</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9: Aprendizaje No Supervisado</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10: Fundamentos de IA y Machine Learning</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11: Entrega de Proyecto Final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75" y="879475"/>
            <a:ext cx="10429875" cy="2273935"/>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Evolución Industrial y Fundamentos de Industria 4.0</a:t>
            </a:r>
          </a:p>
        </p:txBody>
      </p:sp>
      <p:sp>
        <p:nvSpPr>
          <p:cNvPr id="243" name="Google Shape;243;p38"/>
          <p:cNvSpPr txBox="1"/>
          <p:nvPr/>
        </p:nvSpPr>
        <p:spPr>
          <a:xfrm>
            <a:off x="803275" y="2680970"/>
            <a:ext cx="1110297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2400">
                <a:solidFill>
                  <a:srgbClr val="171717"/>
                </a:solidFill>
                <a:latin typeface="Plus Jakarta Sans"/>
                <a:ea typeface="Plus Jakarta Sans"/>
                <a:cs typeface="Plus Jakarta Sans"/>
                <a:sym typeface="Plus Jakarta Sans"/>
              </a:rPr>
              <a:t>De la mecanización a la toma de decisiones basada en datos.</a:t>
            </a:r>
          </a:p>
        </p:txBody>
      </p:sp>
      <p:pic>
        <p:nvPicPr>
          <p:cNvPr id="2" name="Picture 1"/>
          <p:cNvPicPr/>
          <p:nvPr/>
        </p:nvPicPr>
        <p:blipFill>
          <a:blip r:embed="rId3"/>
          <a:stretch>
            <a:fillRect/>
          </a:stretch>
        </p:blipFill>
        <p:spPr>
          <a:xfrm>
            <a:off x="3629025" y="3429000"/>
            <a:ext cx="4114165" cy="2755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433" y="2565617"/>
            <a:ext cx="10420800" cy="30260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Puntos clave:</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Comprender la evolución de las revoluciones industriales.</a:t>
            </a:r>
          </a:p>
          <a:p>
            <a:pPr marL="285750" lvl="0" indent="-285750" algn="l" rtl="0">
              <a:lnSpc>
                <a:spcPct val="115000"/>
              </a:lnSpc>
              <a:spcBef>
                <a:spcPts val="0"/>
              </a:spcBef>
              <a:spcAft>
                <a:spcPts val="0"/>
              </a:spcAft>
              <a:buFont typeface="Arial" panose="020B0604020202020204" pitchFamily="34" charset="0"/>
              <a:buChar char="•"/>
            </a:pPr>
            <a:endParaRPr lang="en-US"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Identificar los 9 pilares de la Industria 4.0.</a:t>
            </a:r>
          </a:p>
          <a:p>
            <a:pPr marL="285750" lvl="0" indent="-285750" algn="l" rtl="0">
              <a:lnSpc>
                <a:spcPct val="115000"/>
              </a:lnSpc>
              <a:spcBef>
                <a:spcPts val="0"/>
              </a:spcBef>
              <a:spcAft>
                <a:spcPts val="0"/>
              </a:spcAft>
              <a:buFont typeface="Arial" panose="020B0604020202020204" pitchFamily="34" charset="0"/>
              <a:buChar char="•"/>
            </a:pPr>
            <a:endParaRPr lang="en-US"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Analizar el impacto de IoT y Big Data.</a:t>
            </a:r>
          </a:p>
          <a:p>
            <a:pPr marL="285750" lvl="0" indent="-285750" algn="l" rtl="0">
              <a:lnSpc>
                <a:spcPct val="115000"/>
              </a:lnSpc>
              <a:spcBef>
                <a:spcPts val="0"/>
              </a:spcBef>
              <a:spcAft>
                <a:spcPts val="0"/>
              </a:spcAft>
              <a:buFont typeface="Arial" panose="020B0604020202020204" pitchFamily="34" charset="0"/>
              <a:buChar char="•"/>
            </a:pPr>
            <a:endParaRPr lang="en-US"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Diseñar un plan ejecutivo data-driven.</a:t>
            </a:r>
          </a:p>
          <a:p>
            <a:pPr marL="285750" lvl="0" indent="-285750" algn="l" rtl="0">
              <a:lnSpc>
                <a:spcPct val="115000"/>
              </a:lnSpc>
              <a:spcBef>
                <a:spcPts val="0"/>
              </a:spcBef>
              <a:spcAft>
                <a:spcPts val="0"/>
              </a:spcAft>
              <a:buFont typeface="Arial" panose="020B0604020202020204" pitchFamily="34" charset="0"/>
              <a:buChar char="•"/>
            </a:pPr>
            <a:endParaRPr lang="es-AR"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s-AR" altLang="en-US" sz="1600">
                <a:solidFill>
                  <a:srgbClr val="171717"/>
                </a:solidFill>
                <a:latin typeface="Plus Jakarta Sans Light"/>
                <a:ea typeface="Plus Jakarta Sans Light"/>
                <a:cs typeface="Plus Jakarta Sans Light"/>
                <a:sym typeface="Plus Jakarta Sans Light"/>
              </a:rPr>
              <a:t>Desarrollar algunas actividades grupales</a:t>
            </a:r>
          </a:p>
        </p:txBody>
      </p:sp>
      <p:sp>
        <p:nvSpPr>
          <p:cNvPr id="242" name="Google Shape;242;p38"/>
          <p:cNvSpPr txBox="1"/>
          <p:nvPr/>
        </p:nvSpPr>
        <p:spPr>
          <a:xfrm>
            <a:off x="803275" y="879475"/>
            <a:ext cx="9618980"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6400">
                <a:solidFill>
                  <a:srgbClr val="FF632B"/>
                </a:solidFill>
                <a:latin typeface="Plus Jakarta Sans ExtraBold"/>
                <a:ea typeface="Plus Jakarta Sans ExtraBold"/>
                <a:cs typeface="Plus Jakarta Sans ExtraBold"/>
                <a:sym typeface="Plus Jakarta Sans ExtraBold"/>
              </a:rPr>
              <a:t>Objetivos de la Sesión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0" name="Google Shape;230;p36"/>
          <p:cNvSpPr txBox="1"/>
          <p:nvPr/>
        </p:nvSpPr>
        <p:spPr>
          <a:xfrm>
            <a:off x="855345" y="4450080"/>
            <a:ext cx="1027239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8F2E8"/>
                </a:solidFill>
                <a:latin typeface="Plus Jakarta Sans ExtraBold"/>
                <a:ea typeface="Plus Jakarta Sans ExtraBold"/>
                <a:cs typeface="Plus Jakarta Sans ExtraBold"/>
                <a:sym typeface="Plus Jakarta Sans ExtraBold"/>
              </a:rPr>
              <a:t>La Línea del Tiempo (Evolución)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Linea del tiempo</a:t>
            </a:r>
          </a:p>
        </p:txBody>
      </p:sp>
      <p:pic>
        <p:nvPicPr>
          <p:cNvPr id="2" name="Picture 1"/>
          <p:cNvPicPr/>
          <p:nvPr/>
        </p:nvPicPr>
        <p:blipFill>
          <a:blip r:embed="rId3"/>
          <a:stretch>
            <a:fillRect/>
          </a:stretch>
        </p:blipFill>
        <p:spPr>
          <a:xfrm>
            <a:off x="1506855" y="1734185"/>
            <a:ext cx="9178290" cy="4661535"/>
          </a:xfrm>
          <a:prstGeom prst="rect">
            <a:avLst/>
          </a:prstGeom>
        </p:spPr>
      </p:pic>
      <p:sp>
        <p:nvSpPr>
          <p:cNvPr id="3" name="Text Box 0"/>
          <p:cNvSpPr txBox="1"/>
          <p:nvPr/>
        </p:nvSpPr>
        <p:spPr>
          <a:xfrm>
            <a:off x="3048000" y="6395720"/>
            <a:ext cx="6096000" cy="368300"/>
          </a:xfrm>
          <a:prstGeom prst="rect">
            <a:avLst/>
          </a:prstGeom>
          <a:noFill/>
        </p:spPr>
        <p:txBody>
          <a:bodyPr wrap="square" rtlCol="0" anchor="t">
            <a:spAutoFit/>
          </a:bodyPr>
          <a:lstStyle/>
          <a:p>
            <a:r>
              <a:rPr lang="en-US" altLang="en-US"/>
              <a:t>https://www.youtube.com/watch?v=iMHQZPXLbyg</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6400">
                <a:solidFill>
                  <a:srgbClr val="FF632B"/>
                </a:solidFill>
                <a:latin typeface="Plus Jakarta Sans ExtraBold"/>
                <a:ea typeface="Plus Jakarta Sans ExtraBold"/>
                <a:cs typeface="Plus Jakarta Sans ExtraBold"/>
                <a:sym typeface="Plus Jakarta Sans ExtraBold"/>
              </a:rPr>
              <a:t>¿Qué es realmente Industria 4.0?</a:t>
            </a:r>
          </a:p>
        </p:txBody>
      </p:sp>
      <p:sp>
        <p:nvSpPr>
          <p:cNvPr id="241" name="Google Shape;241;p38"/>
          <p:cNvSpPr txBox="1"/>
          <p:nvPr/>
        </p:nvSpPr>
        <p:spPr>
          <a:xfrm>
            <a:off x="985433" y="3308567"/>
            <a:ext cx="10420800" cy="30260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1600" b="1">
                <a:solidFill>
                  <a:srgbClr val="171717"/>
                </a:solidFill>
                <a:latin typeface="Plus Jakarta Sans Light"/>
                <a:ea typeface="Plus Jakarta Sans Light"/>
                <a:cs typeface="Plus Jakarta Sans Light"/>
                <a:sym typeface="Plus Jakarta Sans Light"/>
              </a:rPr>
              <a:t>Concepto Central:</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No es solo tecnología, es la integración de datos para crear valor.</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b="1">
                <a:solidFill>
                  <a:srgbClr val="171717"/>
                </a:solidFill>
                <a:latin typeface="Plus Jakarta Sans Light"/>
                <a:ea typeface="Plus Jakarta Sans Light"/>
                <a:cs typeface="Plus Jakarta Sans Light"/>
                <a:sym typeface="Plus Jakarta Sans Light"/>
              </a:rPr>
              <a:t>Definición: </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Sistemas donde el mundo físico y el digital convergen (Sistemas Ciberfísicos).</a:t>
            </a:r>
          </a:p>
        </p:txBody>
      </p:sp>
      <p:pic>
        <p:nvPicPr>
          <p:cNvPr id="2" name="Picture 1"/>
          <p:cNvPicPr/>
          <p:nvPr/>
        </p:nvPicPr>
        <p:blipFill>
          <a:blip r:embed="rId3"/>
          <a:stretch>
            <a:fillRect/>
          </a:stretch>
        </p:blipFill>
        <p:spPr>
          <a:xfrm>
            <a:off x="9051925" y="4335780"/>
            <a:ext cx="2354580" cy="1242060"/>
          </a:xfrm>
          <a:prstGeom prst="rect">
            <a:avLst/>
          </a:prstGeom>
        </p:spPr>
      </p:pic>
      <p:pic>
        <p:nvPicPr>
          <p:cNvPr id="3" name="Picture 2"/>
          <p:cNvPicPr/>
          <p:nvPr/>
        </p:nvPicPr>
        <p:blipFill>
          <a:blip r:embed="rId4"/>
          <a:stretch>
            <a:fillRect/>
          </a:stretch>
        </p:blipFill>
        <p:spPr>
          <a:xfrm>
            <a:off x="4623435" y="5172710"/>
            <a:ext cx="2095499" cy="1394460"/>
          </a:xfrm>
          <a:prstGeom prst="rect">
            <a:avLst/>
          </a:prstGeom>
        </p:spPr>
      </p:pic>
      <p:pic>
        <p:nvPicPr>
          <p:cNvPr id="4" name="Picture 3"/>
          <p:cNvPicPr/>
          <p:nvPr/>
        </p:nvPicPr>
        <p:blipFill>
          <a:blip r:embed="rId5"/>
          <a:stretch>
            <a:fillRect/>
          </a:stretch>
        </p:blipFill>
        <p:spPr>
          <a:xfrm>
            <a:off x="8899525" y="1965960"/>
            <a:ext cx="2658745" cy="21602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78460" y="1927225"/>
            <a:ext cx="4148455" cy="3003550"/>
          </a:xfrm>
          <a:prstGeom prst="rect">
            <a:avLst/>
          </a:prstGeom>
        </p:spPr>
      </p:pic>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Ejemplos Peajes </a:t>
            </a:r>
          </a:p>
        </p:txBody>
      </p:sp>
      <p:pic>
        <p:nvPicPr>
          <p:cNvPr id="3" name="Picture 2"/>
          <p:cNvPicPr/>
          <p:nvPr/>
        </p:nvPicPr>
        <p:blipFill>
          <a:blip r:embed="rId3"/>
          <a:stretch>
            <a:fillRect/>
          </a:stretch>
        </p:blipFill>
        <p:spPr>
          <a:xfrm>
            <a:off x="5893435" y="1864995"/>
            <a:ext cx="4728845" cy="30657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Ejemplos Salud</a:t>
            </a:r>
          </a:p>
        </p:txBody>
      </p:sp>
      <p:pic>
        <p:nvPicPr>
          <p:cNvPr id="4" name="Picture 3"/>
          <p:cNvPicPr/>
          <p:nvPr/>
        </p:nvPicPr>
        <p:blipFill>
          <a:blip r:embed="rId2"/>
          <a:stretch>
            <a:fillRect/>
          </a:stretch>
        </p:blipFill>
        <p:spPr>
          <a:xfrm>
            <a:off x="353695" y="1906270"/>
            <a:ext cx="5681980" cy="3545840"/>
          </a:xfrm>
          <a:prstGeom prst="rect">
            <a:avLst/>
          </a:prstGeom>
        </p:spPr>
      </p:pic>
      <p:pic>
        <p:nvPicPr>
          <p:cNvPr id="7" name="Picture 6"/>
          <p:cNvPicPr/>
          <p:nvPr/>
        </p:nvPicPr>
        <p:blipFill>
          <a:blip r:embed="rId3"/>
          <a:stretch>
            <a:fillRect/>
          </a:stretch>
        </p:blipFill>
        <p:spPr>
          <a:xfrm>
            <a:off x="6475095" y="2010410"/>
            <a:ext cx="5332730" cy="33369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Ejemplos industria</a:t>
            </a:r>
          </a:p>
        </p:txBody>
      </p:sp>
      <p:sp>
        <p:nvSpPr>
          <p:cNvPr id="2" name="Text Box 1"/>
          <p:cNvSpPr txBox="1"/>
          <p:nvPr/>
        </p:nvSpPr>
        <p:spPr>
          <a:xfrm>
            <a:off x="1132205" y="2468880"/>
            <a:ext cx="6096000" cy="1476375"/>
          </a:xfrm>
          <a:prstGeom prst="rect">
            <a:avLst/>
          </a:prstGeom>
          <a:noFill/>
        </p:spPr>
        <p:txBody>
          <a:bodyPr wrap="square" rtlCol="0" anchor="t">
            <a:spAutoFit/>
          </a:bodyPr>
          <a:lstStyle/>
          <a:p>
            <a:r>
              <a:rPr lang="es-AR" altLang="en-US"/>
              <a:t>Correo Argentino</a:t>
            </a:r>
            <a:endParaRPr lang="en-US" altLang="en-US"/>
          </a:p>
          <a:p>
            <a:r>
              <a:rPr lang="en-US" altLang="en-US"/>
              <a:t>https://www.youtube.com/watch?v=JIqs3uQlg3w</a:t>
            </a:r>
          </a:p>
          <a:p>
            <a:endParaRPr lang="en-US"/>
          </a:p>
          <a:p>
            <a:r>
              <a:rPr lang="es-AR" altLang="en-US"/>
              <a:t>Granjas Robotizadas	</a:t>
            </a:r>
            <a:endParaRPr lang="en-US"/>
          </a:p>
          <a:p>
            <a:r>
              <a:rPr lang="en-US" altLang="en-US"/>
              <a:t>https://www.youtube.com/watch?v=t2MuKqlnnpU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9"/>
          <p:cNvSpPr txBox="1"/>
          <p:nvPr/>
        </p:nvSpPr>
        <p:spPr>
          <a:xfrm>
            <a:off x="985520" y="1462405"/>
            <a:ext cx="5746750" cy="4966970"/>
          </a:xfrm>
          <a:prstGeom prst="rect">
            <a:avLst/>
          </a:prstGeom>
          <a:noFill/>
          <a:ln>
            <a:noFill/>
          </a:ln>
        </p:spPr>
        <p:txBody>
          <a:bodyPr spcFirstLastPara="1" wrap="square" lIns="121900" tIns="121900" rIns="121900" bIns="121900" anchor="t" anchorCtr="0">
            <a:noAutofit/>
          </a:bodyPr>
          <a:lstStyle/>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Big Data / Analítica.</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Robots Autónomos.</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Simulación (Digital Twins).</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Sistemas de Integración (Horizontal/Vertical).</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IoT (Internet de las Cosas).</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Ciberseguridad.</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Cloud Computing.</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Manufactura Aditiva (3D).</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Realidad Aumentada.</a:t>
            </a:r>
            <a:endParaRPr sz="16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230505" y="444500"/>
            <a:ext cx="9825990"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000">
                <a:solidFill>
                  <a:srgbClr val="FF632B"/>
                </a:solidFill>
                <a:latin typeface="Plus Jakarta Sans ExtraBold"/>
                <a:ea typeface="Plus Jakarta Sans ExtraBold"/>
                <a:cs typeface="Plus Jakarta Sans ExtraBold"/>
                <a:sym typeface="Plus Jakarta Sans ExtraBold"/>
              </a:rPr>
              <a:t>Los 9 Pilares Tecnológicos</a:t>
            </a:r>
          </a:p>
        </p:txBody>
      </p:sp>
      <p:sp>
        <p:nvSpPr>
          <p:cNvPr id="251" name="Google Shape;251;p39"/>
          <p:cNvSpPr/>
          <p:nvPr/>
        </p:nvSpPr>
        <p:spPr>
          <a:xfrm>
            <a:off x="7488555" y="0"/>
            <a:ext cx="4709160" cy="6878955"/>
          </a:xfrm>
          <a:prstGeom prst="rect">
            <a:avLst/>
          </a:prstGeom>
          <a:solidFill>
            <a:schemeClr val="lt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400"/>
              <a:t>ESPACIO PARA IMAGEN</a:t>
            </a:r>
          </a:p>
        </p:txBody>
      </p:sp>
      <p:pic>
        <p:nvPicPr>
          <p:cNvPr id="2" name="Picture 1"/>
          <p:cNvPicPr/>
          <p:nvPr/>
        </p:nvPicPr>
        <p:blipFill>
          <a:blip r:embed="rId3"/>
          <a:stretch>
            <a:fillRect/>
          </a:stretch>
        </p:blipFill>
        <p:spPr>
          <a:xfrm>
            <a:off x="7898130" y="1156335"/>
            <a:ext cx="3889375" cy="43973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400">
                <a:solidFill>
                  <a:srgbClr val="FF632B"/>
                </a:solidFill>
                <a:latin typeface="Plus Jakarta Sans ExtraBold"/>
                <a:ea typeface="Plus Jakarta Sans ExtraBold"/>
                <a:cs typeface="Plus Jakarta Sans ExtraBold"/>
                <a:sym typeface="Plus Jakarta Sans ExtraBold"/>
              </a:rPr>
              <a:t>Actividad 1: Discusión sobre Revoluciones Industriales</a:t>
            </a:r>
          </a:p>
          <a:p>
            <a:pPr marL="0" lvl="0" indent="0" algn="l" rtl="0">
              <a:spcBef>
                <a:spcPts val="0"/>
              </a:spcBef>
              <a:spcAft>
                <a:spcPts val="0"/>
              </a:spcAft>
              <a:buNone/>
            </a:pPr>
            <a:endParaRPr lang="en-US" altLang="en-US" sz="4400">
              <a:solidFill>
                <a:srgbClr val="FF632B"/>
              </a:solidFill>
              <a:latin typeface="Plus Jakarta Sans ExtraBold"/>
              <a:ea typeface="Plus Jakarta Sans ExtraBold"/>
              <a:cs typeface="Plus Jakarta Sans ExtraBold"/>
              <a:sym typeface="Plus Jakarta Sans ExtraBold"/>
            </a:endParaRPr>
          </a:p>
        </p:txBody>
      </p:sp>
      <p:sp>
        <p:nvSpPr>
          <p:cNvPr id="241" name="Google Shape;241;p38"/>
          <p:cNvSpPr txBox="1"/>
          <p:nvPr/>
        </p:nvSpPr>
        <p:spPr>
          <a:xfrm>
            <a:off x="803188" y="2077937"/>
            <a:ext cx="10420800" cy="30260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Actividad 1: Discusión sobre Revoluciones Industriales</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Objetivo: Identificar el cambio de paradigma.</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1ra (Vapor): </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2da (Electricidad): </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3ra (Informática):</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 </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4ta (Digital):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5430520"/>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"Los datos son el nuevo petróleo, pero la analítica es el motor que los procesa"</a:t>
            </a:r>
          </a:p>
        </p:txBody>
      </p:sp>
      <p:sp>
        <p:nvSpPr>
          <p:cNvPr id="242" name="Google Shape;242;p38"/>
          <p:cNvSpPr txBox="1"/>
          <p:nvPr/>
        </p:nvSpPr>
        <p:spPr>
          <a:xfrm>
            <a:off x="803200" y="87946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El Corazón del Cambio: Datos e IoT</a:t>
            </a:r>
          </a:p>
        </p:txBody>
      </p:sp>
      <p:pic>
        <p:nvPicPr>
          <p:cNvPr id="4" name="Picture 3"/>
          <p:cNvPicPr/>
          <p:nvPr/>
        </p:nvPicPr>
        <p:blipFill>
          <a:blip r:embed="rId3"/>
          <a:stretch>
            <a:fillRect/>
          </a:stretch>
        </p:blipFill>
        <p:spPr>
          <a:xfrm>
            <a:off x="2522855" y="2472055"/>
            <a:ext cx="6427470" cy="2958465"/>
          </a:xfrm>
          <a:prstGeom prst="rect">
            <a:avLst/>
          </a:prstGeom>
        </p:spPr>
      </p:pic>
      <p:sp>
        <p:nvSpPr>
          <p:cNvPr id="5" name="Rectangles 4"/>
          <p:cNvSpPr/>
          <p:nvPr/>
        </p:nvSpPr>
        <p:spPr>
          <a:xfrm>
            <a:off x="5336540" y="2534920"/>
            <a:ext cx="1273175" cy="573405"/>
          </a:xfrm>
          <a:prstGeom prst="rect">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77558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¿Cómo impactan estas tecnologías en tu entorno laboral actual?</a:t>
            </a:r>
          </a:p>
        </p:txBody>
      </p:sp>
      <p:sp>
        <p:nvSpPr>
          <p:cNvPr id="242" name="Google Shape;242;p38"/>
          <p:cNvSpPr txBox="1"/>
          <p:nvPr/>
        </p:nvSpPr>
        <p:spPr>
          <a:xfrm>
            <a:off x="803200" y="87946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Pausa Activa y Reflexión</a:t>
            </a:r>
          </a:p>
        </p:txBody>
      </p:sp>
      <p:pic>
        <p:nvPicPr>
          <p:cNvPr id="2" name="Picture 1"/>
          <p:cNvPicPr>
            <a:picLocks noChangeAspect="1"/>
          </p:cNvPicPr>
          <p:nvPr/>
        </p:nvPicPr>
        <p:blipFill>
          <a:blip r:embed="rId3"/>
          <a:stretch>
            <a:fillRect/>
          </a:stretch>
        </p:blipFill>
        <p:spPr>
          <a:xfrm>
            <a:off x="3925570" y="4655820"/>
            <a:ext cx="824230" cy="824230"/>
          </a:xfrm>
          <a:prstGeom prst="rect">
            <a:avLst/>
          </a:prstGeom>
        </p:spPr>
      </p:pic>
      <p:pic>
        <p:nvPicPr>
          <p:cNvPr id="3" name="Picture 2"/>
          <p:cNvPicPr>
            <a:picLocks noChangeAspect="1"/>
          </p:cNvPicPr>
          <p:nvPr/>
        </p:nvPicPr>
        <p:blipFill>
          <a:blip r:embed="rId4"/>
          <a:stretch>
            <a:fillRect/>
          </a:stretch>
        </p:blipFill>
        <p:spPr>
          <a:xfrm>
            <a:off x="6669405" y="4581525"/>
            <a:ext cx="898525" cy="898525"/>
          </a:xfrm>
          <a:prstGeom prst="rect">
            <a:avLst/>
          </a:prstGeom>
        </p:spPr>
      </p:pic>
      <p:cxnSp>
        <p:nvCxnSpPr>
          <p:cNvPr id="6" name="Straight Connector 5"/>
          <p:cNvCxnSpPr/>
          <p:nvPr/>
        </p:nvCxnSpPr>
        <p:spPr>
          <a:xfrm>
            <a:off x="5728970" y="4155440"/>
            <a:ext cx="0" cy="161290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77558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Título del Caso: Optimización mediante IoT y Mantenimiento Predictivo.</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Problema: Tiempos muertos en producción.</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Solución: Sensores en tiempo real y modelos de predicción.</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Resultado: Reducción de costos operativos y eficiencia energética.</a:t>
            </a:r>
          </a:p>
        </p:txBody>
      </p:sp>
      <p:sp>
        <p:nvSpPr>
          <p:cNvPr id="242" name="Google Shape;242;p38"/>
          <p:cNvSpPr txBox="1"/>
          <p:nvPr/>
        </p:nvSpPr>
        <p:spPr>
          <a:xfrm>
            <a:off x="803200" y="87946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Análisis de Caso Real (Práctica)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60270"/>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Escenario: Una planta embotelladora pierde 15% de su producción por paradas inesperadas en la cinta transportadora.</a:t>
            </a:r>
          </a:p>
          <a:p>
            <a:pPr marL="0" lvl="0" indent="0" algn="l" rtl="0">
              <a:lnSpc>
                <a:spcPct val="115000"/>
              </a:lnSpc>
              <a:spcBef>
                <a:spcPts val="0"/>
              </a:spcBef>
              <a:spcAft>
                <a:spcPts val="0"/>
              </a:spcAft>
              <a:buNone/>
            </a:pPr>
            <a:endParaRPr lang="en-US" altLang="en-US" sz="20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Solución IoT: Instalación de sensores de vibración y temperatura en los motores.</a:t>
            </a:r>
          </a:p>
          <a:p>
            <a:pPr marL="0" lvl="0" indent="0" algn="l" rtl="0">
              <a:lnSpc>
                <a:spcPct val="115000"/>
              </a:lnSpc>
              <a:spcBef>
                <a:spcPts val="0"/>
              </a:spcBef>
              <a:spcAft>
                <a:spcPts val="0"/>
              </a:spcAft>
              <a:buNone/>
            </a:pPr>
            <a:endParaRPr lang="en-US" altLang="en-US" sz="20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Uso de Datos: Los datos se envían a la nube (Cloud) y un algoritmo de IA predice fallos 48 horas antes de que ocurran.</a:t>
            </a:r>
          </a:p>
          <a:p>
            <a:pPr marL="0" lvl="0" indent="0" algn="l" rtl="0">
              <a:lnSpc>
                <a:spcPct val="115000"/>
              </a:lnSpc>
              <a:spcBef>
                <a:spcPts val="0"/>
              </a:spcBef>
              <a:spcAft>
                <a:spcPts val="0"/>
              </a:spcAft>
              <a:buNone/>
            </a:pPr>
            <a:endParaRPr lang="en-US" altLang="en-US" sz="20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¿Qué es más barato: cambiar un rodamiento de $50 hoy o detener la planta 5 horas mañana?</a:t>
            </a:r>
          </a:p>
        </p:txBody>
      </p:sp>
      <p:sp>
        <p:nvSpPr>
          <p:cNvPr id="242" name="Google Shape;242;p38"/>
          <p:cNvSpPr txBox="1"/>
          <p:nvPr/>
        </p:nvSpPr>
        <p:spPr>
          <a:xfrm>
            <a:off x="538480" y="87947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4800">
                <a:solidFill>
                  <a:srgbClr val="FF632B"/>
                </a:solidFill>
                <a:latin typeface="Plus Jakarta Sans ExtraBold"/>
                <a:ea typeface="Plus Jakarta Sans ExtraBold"/>
                <a:cs typeface="Plus Jakarta Sans ExtraBold"/>
                <a:sym typeface="Plus Jakarta Sans ExtraBold"/>
              </a:rPr>
              <a:t>Otro</a:t>
            </a:r>
            <a:r>
              <a:rPr lang="en-US" altLang="en-US" sz="4800">
                <a:solidFill>
                  <a:srgbClr val="FF632B"/>
                </a:solidFill>
                <a:latin typeface="Plus Jakarta Sans ExtraBold"/>
                <a:ea typeface="Plus Jakarta Sans ExtraBold"/>
                <a:cs typeface="Plus Jakarta Sans ExtraBold"/>
                <a:sym typeface="Plus Jakarta Sans ExtraBold"/>
              </a:rPr>
              <a:t> Caso Real (Práctica)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7106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Instrucciones:</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Identificar un proceso ineficiente.</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Seleccionar 1 o 2 tecnologías </a:t>
            </a:r>
            <a:r>
              <a:rPr lang="es-AR" altLang="en-US">
                <a:solidFill>
                  <a:srgbClr val="171717"/>
                </a:solidFill>
                <a:latin typeface="Plus Jakarta Sans Light"/>
                <a:ea typeface="Plus Jakarta Sans Light"/>
                <a:cs typeface="Plus Jakarta Sans Light"/>
                <a:sym typeface="Plus Jakarta Sans Light"/>
              </a:rPr>
              <a:t>pilares tecnologicos</a:t>
            </a:r>
            <a:r>
              <a:rPr lang="en-US" altLang="en-US">
                <a:solidFill>
                  <a:srgbClr val="171717"/>
                </a:solidFill>
                <a:latin typeface="Plus Jakarta Sans Light"/>
                <a:ea typeface="Plus Jakarta Sans Light"/>
                <a:cs typeface="Plus Jakarta Sans Light"/>
                <a:sym typeface="Plus Jakarta Sans Light"/>
              </a:rPr>
              <a:t>.</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Definir el KPI (métrica) que se va a mejorar con datos.</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Recurso: "Utilicen la plantilla proporcionada".</a:t>
            </a:r>
          </a:p>
        </p:txBody>
      </p:sp>
      <p:sp>
        <p:nvSpPr>
          <p:cNvPr id="242" name="Google Shape;242;p38"/>
          <p:cNvSpPr txBox="1"/>
          <p:nvPr/>
        </p:nvSpPr>
        <p:spPr>
          <a:xfrm>
            <a:off x="538480" y="55054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Actividad Grupal: </a:t>
            </a:r>
          </a:p>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Diseño de Plan Ejecutivo</a:t>
            </a:r>
          </a:p>
        </p:txBody>
      </p:sp>
      <p:graphicFrame>
        <p:nvGraphicFramePr>
          <p:cNvPr id="2" name="Table 1"/>
          <p:cNvGraphicFramePr/>
          <p:nvPr>
            <p:custDataLst>
              <p:tags r:id="rId1"/>
            </p:custDataLst>
          </p:nvPr>
        </p:nvGraphicFramePr>
        <p:xfrm>
          <a:off x="1334770" y="5177155"/>
          <a:ext cx="9222740" cy="1376680"/>
        </p:xfrm>
        <a:graphic>
          <a:graphicData uri="http://schemas.openxmlformats.org/drawingml/2006/table">
            <a:tbl>
              <a:tblPr/>
              <a:tblGrid>
                <a:gridCol w="2263140">
                  <a:extLst>
                    <a:ext uri="{9D8B030D-6E8A-4147-A177-3AD203B41FA5}">
                      <a16:colId xmlns:a16="http://schemas.microsoft.com/office/drawing/2014/main" val="20000"/>
                    </a:ext>
                  </a:extLst>
                </a:gridCol>
                <a:gridCol w="6959600">
                  <a:extLst>
                    <a:ext uri="{9D8B030D-6E8A-4147-A177-3AD203B41FA5}">
                      <a16:colId xmlns:a16="http://schemas.microsoft.com/office/drawing/2014/main" val="20001"/>
                    </a:ext>
                  </a:extLst>
                </a:gridCol>
              </a:tblGrid>
              <a:tr h="247015">
                <a:tc>
                  <a:txBody>
                    <a:bodyPr/>
                    <a:lstStyle/>
                    <a:p>
                      <a:pPr>
                        <a:spcBef>
                          <a:spcPct val="0"/>
                        </a:spcBef>
                        <a:spcAft>
                          <a:spcPct val="0"/>
                        </a:spcAft>
                      </a:pPr>
                      <a:r>
                        <a:rPr sz="1100">
                          <a:latin typeface="Google Sans Text"/>
                          <a:ea typeface="Google Sans Text"/>
                        </a:rPr>
                        <a:t>Sección</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spcAft>
                          <a:spcPct val="0"/>
                        </a:spcAft>
                      </a:pPr>
                      <a:r>
                        <a:rPr sz="1100">
                          <a:latin typeface="Google Sans Text"/>
                          <a:ea typeface="Google Sans Text"/>
                        </a:rPr>
                        <a:t>Contenido Sugerido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247015">
                <a:tc>
                  <a:txBody>
                    <a:bodyPr/>
                    <a:lstStyle/>
                    <a:p>
                      <a:pPr>
                        <a:spcBef>
                          <a:spcPct val="0"/>
                        </a:spcBef>
                      </a:pPr>
                      <a:r>
                        <a:rPr sz="1100" b="1">
                          <a:latin typeface="Google Sans Text"/>
                          <a:ea typeface="Google Sans Text"/>
                        </a:rPr>
                        <a:t>Problema</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¿Qué proceso es ineficiente hoy? (ej. Logística, Calidad).</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246380">
                <a:tc>
                  <a:txBody>
                    <a:bodyPr/>
                    <a:lstStyle/>
                    <a:p>
                      <a:pPr>
                        <a:spcBef>
                          <a:spcPct val="0"/>
                        </a:spcBef>
                      </a:pPr>
                      <a:r>
                        <a:rPr sz="1100" b="1">
                          <a:latin typeface="Google Sans Text"/>
                          <a:ea typeface="Google Sans Text"/>
                        </a:rPr>
                        <a:t>Tecnología 4.0</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¿Qué usaremos? (ej. Sensores IoT + Dashboard en Power BI).</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389255">
                <a:tc>
                  <a:txBody>
                    <a:bodyPr/>
                    <a:lstStyle/>
                    <a:p>
                      <a:pPr>
                        <a:spcBef>
                          <a:spcPct val="0"/>
                        </a:spcBef>
                      </a:pPr>
                      <a:r>
                        <a:rPr sz="1100" b="1">
                          <a:latin typeface="Google Sans Text"/>
                          <a:ea typeface="Google Sans Text"/>
                        </a:rPr>
                        <a:t>Dato Crítico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¿Qué métrica específica queremos mejorar? (ej. Reducir scrap en 10%).</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247015">
                <a:tc>
                  <a:txBody>
                    <a:bodyPr/>
                    <a:lstStyle/>
                    <a:p>
                      <a:pPr>
                        <a:spcBef>
                          <a:spcPct val="0"/>
                        </a:spcBef>
                      </a:pPr>
                      <a:r>
                        <a:rPr sz="1100" b="1">
                          <a:latin typeface="Google Sans Text"/>
                          <a:ea typeface="Google Sans Text"/>
                        </a:rPr>
                        <a:t>Impacto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¿Cómo ayuda esto al negocio?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7106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Proyecto: Control de calidad inteligente.</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Tecnología: Visión artificial + IA.</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Dato: </a:t>
            </a:r>
            <a:r>
              <a:rPr lang="es-AR" altLang="en-US">
                <a:solidFill>
                  <a:srgbClr val="171717"/>
                </a:solidFill>
                <a:latin typeface="Plus Jakarta Sans Light"/>
                <a:ea typeface="Plus Jakarta Sans Light"/>
                <a:cs typeface="Plus Jakarta Sans Light"/>
                <a:sym typeface="Plus Jakarta Sans Light"/>
              </a:rPr>
              <a:t>Precision basada en historicos aprendizaje</a:t>
            </a: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Valor: Reducción de devoluciones en un 20%.</a:t>
            </a:r>
          </a:p>
        </p:txBody>
      </p:sp>
      <p:sp>
        <p:nvSpPr>
          <p:cNvPr id="242" name="Google Shape;242;p38"/>
          <p:cNvSpPr txBox="1"/>
          <p:nvPr/>
        </p:nvSpPr>
        <p:spPr>
          <a:xfrm>
            <a:off x="538480" y="55054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Ejemplo de Plan Data-Driven (Guía)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50645" y="883920"/>
            <a:ext cx="6096000" cy="829945"/>
          </a:xfrm>
          <a:prstGeom prst="rect">
            <a:avLst/>
          </a:prstGeom>
          <a:noFill/>
        </p:spPr>
        <p:txBody>
          <a:bodyPr wrap="square" rtlCol="0" anchor="t">
            <a:spAutoFit/>
          </a:bodyPr>
          <a:lstStyle/>
          <a:p>
            <a:pPr marL="0" lvl="0" indent="0" algn="l" rtl="0">
              <a:spcBef>
                <a:spcPts val="0"/>
              </a:spcBef>
              <a:spcAft>
                <a:spcPts val="0"/>
              </a:spcAft>
              <a:buNone/>
            </a:pPr>
            <a:r>
              <a:rPr lang="es-AR" sz="4800">
                <a:solidFill>
                  <a:srgbClr val="FF632B"/>
                </a:solidFill>
                <a:latin typeface="Plus Jakarta Sans ExtraBold"/>
                <a:ea typeface="Plus Jakarta Sans ExtraBold"/>
                <a:cs typeface="Plus Jakarta Sans ExtraBold"/>
                <a:sym typeface="Plus Jakarta Sans ExtraBold"/>
              </a:rPr>
              <a:t>Fallo sensor</a:t>
            </a:r>
          </a:p>
        </p:txBody>
      </p:sp>
      <p:pic>
        <p:nvPicPr>
          <p:cNvPr id="4" name="Picture 3"/>
          <p:cNvPicPr>
            <a:picLocks noChangeAspect="1"/>
          </p:cNvPicPr>
          <p:nvPr/>
        </p:nvPicPr>
        <p:blipFill>
          <a:blip r:embed="rId2"/>
          <a:stretch>
            <a:fillRect/>
          </a:stretch>
        </p:blipFill>
        <p:spPr>
          <a:xfrm>
            <a:off x="2397760" y="2375535"/>
            <a:ext cx="8181975" cy="39528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7106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La evolución es constante.</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La conectividad es la base de la 4.0.</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La cultura data-driven es necesaria para la transformación digital.</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s-AR" altLang="en-US">
                <a:solidFill>
                  <a:srgbClr val="171717"/>
                </a:solidFill>
                <a:latin typeface="Plus Jakarta Sans Light"/>
                <a:ea typeface="Plus Jakarta Sans Light"/>
                <a:cs typeface="Plus Jakarta Sans Light"/>
                <a:sym typeface="Plus Jakarta Sans Light"/>
              </a:rPr>
              <a:t>Algo Mas de IA:</a:t>
            </a: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https://www.youtube.com/shorts/pv_I4k4y8Z4</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538480" y="55054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Resumen:</a:t>
            </a:r>
          </a:p>
          <a:p>
            <a:pPr marL="0" lvl="0" indent="0" algn="l" rtl="0">
              <a:spcBef>
                <a:spcPts val="0"/>
              </a:spcBef>
              <a:spcAft>
                <a:spcPts val="0"/>
              </a:spcAft>
              <a:buNone/>
            </a:pPr>
            <a:endParaRPr lang="en-US" altLang="en-US" sz="480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762000" y="2900233"/>
            <a:ext cx="8617200" cy="2000000"/>
          </a:xfrm>
          <a:prstGeom prst="rect">
            <a:avLst/>
          </a:prstGeom>
          <a:noFill/>
          <a:ln>
            <a:noFill/>
          </a:ln>
        </p:spPr>
        <p:txBody>
          <a:bodyPr spcFirstLastPara="1" wrap="square" lIns="121900" tIns="121900" rIns="121900" bIns="121900" anchor="t" anchorCtr="0">
            <a:noAutofit/>
          </a:bodyPr>
          <a:lstStyle/>
          <a:p>
            <a:pPr marL="0" lvl="0" indent="0" algn="l" rtl="0">
              <a:lnSpc>
                <a:spcPct val="70000"/>
              </a:lnSpc>
              <a:spcBef>
                <a:spcPts val="0"/>
              </a:spcBef>
              <a:spcAft>
                <a:spcPts val="0"/>
              </a:spcAft>
              <a:buNone/>
            </a:pPr>
            <a:r>
              <a:rPr lang="en-US" sz="8135">
                <a:solidFill>
                  <a:srgbClr val="260700"/>
                </a:solidFill>
                <a:latin typeface="Plus Jakarta Sans ExtraBold"/>
                <a:ea typeface="Plus Jakarta Sans ExtraBold"/>
                <a:cs typeface="Plus Jakarta Sans ExtraBold"/>
                <a:sym typeface="Plus Jakarta Sans ExtraBold"/>
              </a:rPr>
              <a:t>¡Muchas</a:t>
            </a:r>
            <a:endParaRPr sz="8135">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n-US" sz="8135">
                <a:solidFill>
                  <a:srgbClr val="260700"/>
                </a:solidFill>
                <a:latin typeface="Plus Jakarta Sans ExtraBold"/>
                <a:ea typeface="Plus Jakarta Sans ExtraBold"/>
                <a:cs typeface="Plus Jakarta Sans ExtraBold"/>
                <a:sym typeface="Plus Jakarta Sans ExtraBold"/>
              </a:rPr>
              <a:t>gracias!</a:t>
            </a:r>
            <a:endParaRPr sz="8135">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762000" y="5056200"/>
            <a:ext cx="10668000" cy="12084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n-US" sz="8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8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8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n-US" sz="8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8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stretch>
            <a:fillRect/>
          </a:stretch>
        </p:blipFill>
        <p:spPr>
          <a:xfrm>
            <a:off x="9678767" y="650767"/>
            <a:ext cx="1629101" cy="475733"/>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26*108"/>
  <p:tag name="TABLE_ENDDRAG_RECT" val="105*407*726*10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895</Words>
  <Application>Microsoft Office PowerPoint</Application>
  <PresentationFormat>Panorámica</PresentationFormat>
  <Paragraphs>146</Paragraphs>
  <Slides>22</Slides>
  <Notes>18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22</vt:i4>
      </vt:variant>
    </vt:vector>
  </HeadingPairs>
  <TitlesOfParts>
    <vt:vector size="30" baseType="lpstr">
      <vt:lpstr>Arial</vt:lpstr>
      <vt:lpstr>Calibri</vt:lpstr>
      <vt:lpstr>Calibri Light</vt:lpstr>
      <vt:lpstr>Google Sans Text</vt:lpstr>
      <vt:lpstr>Plus Jakarta Sans</vt:lpstr>
      <vt:lpstr>Plus Jakarta Sans ExtraBold</vt:lpstr>
      <vt:lpstr>Plus Jakarta Sans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Turi</cp:lastModifiedBy>
  <cp:revision>5</cp:revision>
  <dcterms:created xsi:type="dcterms:W3CDTF">2026-04-18T01:58:00Z</dcterms:created>
  <dcterms:modified xsi:type="dcterms:W3CDTF">2026-06-09T21:34:52Z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1A73B9B21D9E41648235B28E430E66D1_11</vt:lpwstr>
  </property>
  <property fmtid="{D5CDD505-2E9C-101B-9397-08002B2CF9AE}" pid="3" name="KSOProductBuildVer">
    <vt:lpwstr>1033-12.2.0.20782</vt:lpwstr>
  </property>
</Properties>
</file>