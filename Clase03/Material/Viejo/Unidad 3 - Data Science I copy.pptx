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6" r:id="rId1"/>
    <p:sldMasterId id="2147483717" r:id="rId2"/>
    <p:sldMasterId id="2147483718" r:id="rId3"/>
    <p:sldMasterId id="2147483719" r:id="rId4"/>
  </p:sldMasterIdLst>
  <p:notesMasterIdLst>
    <p:notesMasterId r:id="rId46"/>
  </p:notesMasterIdLst>
  <p:sldIdLst>
    <p:sldId id="297" r:id="rId5"/>
    <p:sldId id="298" r:id="rId6"/>
    <p:sldId id="299" r:id="rId7"/>
    <p:sldId id="258" r:id="rId8"/>
    <p:sldId id="300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303" r:id="rId17"/>
    <p:sldId id="268" r:id="rId18"/>
    <p:sldId id="304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305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302" r:id="rId44"/>
    <p:sldId id="301" r:id="rId45"/>
  </p:sldIdLst>
  <p:sldSz cx="9144000" cy="5143500" type="screen16x9"/>
  <p:notesSz cx="6858000" cy="9144000"/>
  <p:embeddedFontLst>
    <p:embeddedFont>
      <p:font typeface="Helvetica Neue" panose="020B0604020202020204" charset="0"/>
      <p:regular r:id="rId47"/>
      <p:bold r:id="rId48"/>
      <p:italic r:id="rId49"/>
      <p:boldItalic r:id="rId50"/>
    </p:embeddedFont>
    <p:embeddedFont>
      <p:font typeface="Helvetica Neue Light" panose="020B0604020202020204" charset="0"/>
      <p:regular r:id="rId51"/>
      <p:bold r:id="rId52"/>
      <p:italic r:id="rId53"/>
      <p:boldItalic r:id="rId54"/>
    </p:embeddedFont>
    <p:embeddedFont>
      <p:font typeface="Plus Jakarta Sans ExtraBold" panose="020B0604020202020204" charset="0"/>
      <p:bold r:id="rId55"/>
      <p:boldItalic r:id="rId56"/>
    </p:embeddedFont>
    <p:embeddedFont>
      <p:font typeface="DM Sans" panose="020B0604020202020204" charset="0"/>
      <p:regular r:id="rId57"/>
      <p:bold r:id="rId58"/>
      <p:italic r:id="rId59"/>
      <p:boldItalic r:id="rId60"/>
    </p:embeddedFont>
    <p:embeddedFont>
      <p:font typeface="Plus Jakarta Sans" panose="020B0604020202020204" charset="0"/>
      <p:regular r:id="rId61"/>
      <p:bold r:id="rId62"/>
      <p:italic r:id="rId63"/>
      <p:boldItalic r:id="rId64"/>
    </p:embeddedFont>
    <p:embeddedFont>
      <p:font typeface="Consolas" panose="020B0609020204030204" pitchFamily="49" charset="0"/>
      <p:regular r:id="rId65"/>
      <p:bold r:id="rId66"/>
      <p:italic r:id="rId67"/>
      <p:boldItalic r:id="rId68"/>
    </p:embeddedFont>
    <p:embeddedFont>
      <p:font typeface="Roboto Mono" panose="020B0604020202020204" charset="0"/>
      <p:regular r:id="rId69"/>
      <p:bold r:id="rId70"/>
      <p:italic r:id="rId71"/>
      <p:boldItalic r:id="rId7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28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orient="horz" pos="295"/>
        <p:guide pos="5460"/>
        <p:guide pos="300"/>
        <p:guide orient="horz" pos="2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63" Type="http://schemas.openxmlformats.org/officeDocument/2006/relationships/font" Target="fonts/font17.fntdata"/><Relationship Id="rId68" Type="http://schemas.openxmlformats.org/officeDocument/2006/relationships/font" Target="fonts/font2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font" Target="fonts/font20.fntdata"/><Relationship Id="rId74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1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font" Target="fonts/font23.fntdata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72" Type="http://schemas.openxmlformats.org/officeDocument/2006/relationships/font" Target="fonts/font26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font" Target="fonts/font21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openxmlformats.org/officeDocument/2006/relationships/font" Target="fonts/font24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73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76" Type="http://schemas.openxmlformats.org/officeDocument/2006/relationships/tableStyles" Target="tableStyles.xml"/><Relationship Id="rId7" Type="http://schemas.openxmlformats.org/officeDocument/2006/relationships/slide" Target="slides/slide3.xml"/><Relationship Id="rId71" Type="http://schemas.openxmlformats.org/officeDocument/2006/relationships/font" Target="fonts/font2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vieCGzAPuYf5vWsu8Xgbn_2Ax4QNLnXO/edit?usp=sharing&amp;ouid=103396586770751045195&amp;rtpof=true&amp;sd=true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youtube.com/watch?v=PJL8iYTIY3E&amp;feature=youtu.be" TargetMode="Externa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8413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b91f55cac_0_3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b91f55cac_0_3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814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8826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Indican aquello que se pretende que el estudiante logre con la clase. Recuerda que se enuncian en principio con el verbo en infinitivo delante (por ejemplo: “Comprender…”, “Analizar…”, “conocer…”, etc). Se debe destacar en negrita el verbo. </a:t>
            </a: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objetivos deben ser concretos, medibles y coherentes con los contenidos.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893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Profe, te invitamos a que puedas compartir pantalla y mostrar cómo realizar esta práctica.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05463099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2054630994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Plantea esta pregunta a los estudiantes mediante una encuesta de Zoom.</a:t>
            </a:r>
            <a:br>
              <a:rPr lang="es"/>
            </a:br>
            <a:r>
              <a:rPr lang="es"/>
              <a:t>Una vez que los estudiantes hayan votado, comparte los resultados de la encuesta en tiempo real con la clase. </a:t>
            </a:r>
            <a:br>
              <a:rPr lang="es"/>
            </a:br>
            <a:r>
              <a:rPr lang="es"/>
              <a:t/>
            </a:r>
            <a:br>
              <a:rPr lang="es"/>
            </a:br>
            <a:r>
              <a:rPr lang="es" sz="1400" b="1"/>
              <a:t>Puesta en común </a:t>
            </a:r>
            <a:r>
              <a:rPr lang="es"/>
              <a:t> Invita a algunos estudiantes a justificar sus respuestas, generando una discusión sobre los puntos más destacados. Por ejemplo, algunos pueden argumentar la capacidad de los DataFrames para manejar datos heterogéneos o su flexibilidad en la manipulación de grandes volúmenes de datos.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b="1"/>
              <a:t>Tiempo estimado: 10 min</a:t>
            </a:r>
            <a:endParaRPr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6079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Tiempo estimado: 15 min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4248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e170233d81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e170233d81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Antes de empezar, toma en cuenta lo siguiente...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e170233d81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e170233d81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Antes de empezar, toma en cuenta lo siguiente...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texto. Si no alcanza, no sobrecargar, usar otra con el mismo título para indicar que continúa el mismo módulo.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0568a1c7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220568a1c7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134710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Realizaremos dos actividades de clase para comprender y </a:t>
            </a:r>
            <a:r>
              <a:rPr lang="es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llevar a la práctica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conceptos teóricos vistos. En sala general, el profesor hace la tarea los estudiantes lo acompañan haciendola en paralelo en sus pcs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que se puede llevar a cabo en formato “Breakout Rooms”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el profesor: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 breakout rooms para los equipos. De no saber cómo, favor de revisar el siguiente tutorial: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PPT: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https://docs.google.com/presentation/d/1vieCGzAPuYf5vWsu8Xgbn_2Ax4QNLnXO/edit?usp=sharing&amp;ouid=103396586770751045195&amp;rtpof=true&amp;sd=true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lphaL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video: </a:t>
            </a:r>
            <a:r>
              <a:rPr lang="es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https://www.youtube.com/watch?v=PJL8iYTIY3E&amp;feature=youtu.be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"/>
              <a:buAutoNum type="arabicPeriod"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 recomienda que los equipos sean de números pares, máximo 4 participantes por equipo y de así requerirse, ser acompañados por un tutor. 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Realizaremos dos actividades de clase para comprender y </a:t>
            </a:r>
            <a:r>
              <a:rPr lang="es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llevar a la práctica </a:t>
            </a:r>
            <a:r>
              <a:rPr lang="es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conceptos teóricos vistos. En sala general, el profesor hace la tarea los estudiantes lo acompañan haciendola en paralelo en sus pcs</a:t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204e13b0d5_2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2" name="Google Shape;402;g2204e13b0d5_2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204e13b0d5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2204e13b0d5_2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204e13b0d5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2204e13b0d5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204e13b0d5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204e13b0d5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204e13b0d5_2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2204e13b0d5_2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204e13b0d5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g2204e13b0d5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204e13b0d5_2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2204e13b0d5_2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204e13b0d5_2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2204e13b0d5_2_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204e13b0d5_2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g2204e13b0d5_2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204e13b0d5_2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204e13b0d5_2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204e13b0d5_2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2204e13b0d5_2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Hacer encuesta de zoom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204e13b0d5_2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1" name="Google Shape;511;g2204e13b0d5_2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204e13b0d5_2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0" name="Google Shape;520;g2204e13b0d5_2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204e13b0d5_2_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4" name="Google Shape;534;g2204e13b0d5_2_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14760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b53643a157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b53643a157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528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5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2">
  <p:cSld name="SECTION_HEADER_1_1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 2">
  <p:cSld name="CUSTOM_37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0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1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32" name="Google Shape;32;p12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5663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759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02-B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686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o 1" type="title">
  <p:cSld name="TITL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sz="4000" b="1"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6" name="Google Shape;46;p17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8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2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3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0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1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3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3">
  <p:cSld name="SECTION_HEADER_1_1_1_1_1_1_1_1_1_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3" name="Google Shape;93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1" name="Google Shape;101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7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60348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diente">
  <p:cSld name="Gradient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2" title="Coder Facebook (6)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11725" y="0"/>
            <a:ext cx="9255725" cy="52063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74398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7" name="Google Shape;137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5" name="Google Shape;14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9" name="Google Shape;149;p5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0" name="Google Shape;150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56" name="Google Shape;156;p5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7" name="Google Shape;157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0" name="Google Shape;160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4" name="Google Shape;164;p5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5" name="Google Shape;165;p5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9" name="Google Shape;169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2" name="Google Shape;172;p5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3" name="Google Shape;173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ndo blanco">
  <p:cSld name="SECTION_HEADER_1_1_1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1" title="logo coderhous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62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2">
  <p:cSld name="SECTION_HEADER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3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3">
  <p:cSld name="SECTION_HEADER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64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">
  <p:cSld name="SECTION_HEADER_1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5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65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átula 1">
  <p:cSld name="SECTION_HEADER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66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1">
  <p:cSld name="SECTION_HEADER_1_1_1_1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8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68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 imagen 2">
  <p:cSld name="SECTION_HEADER_1_1_1_1_1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9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69" title="logo coderhou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7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 1">
  <p:cSld name="SECTION_HEADER_1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7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72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2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ardecer">
  <p:cSld name="Atardecer">
    <p:bg>
      <p:bgPr>
        <a:solidFill>
          <a:srgbClr val="F8F2E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2" name="Google Shape;52;p13" title="Group 132131818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2076162"/>
            <a:ext cx="9143997" cy="3067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17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68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slideLayout" Target="../slideLayouts/slideLayout64.xml"/><Relationship Id="rId2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63.xml"/><Relationship Id="rId20" Type="http://schemas.openxmlformats.org/officeDocument/2006/relationships/slideLayout" Target="../slideLayouts/slideLayout67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6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720" r:id="rId13"/>
    <p:sldLayoutId id="2147483721" r:id="rId14"/>
    <p:sldLayoutId id="214748372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723" r:id="rId21"/>
    <p:sldLayoutId id="2147483724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22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JJTorresDS/stocks-ds-edu/main/stocks.csv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41"/>
          <p:cNvSpPr txBox="1"/>
          <p:nvPr/>
        </p:nvSpPr>
        <p:spPr>
          <a:xfrm>
            <a:off x="1494075" y="115090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UNIDAD </a:t>
            </a:r>
            <a:r>
              <a:rPr lang="es" sz="1800" b="1" dirty="0" smtClean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 </a:t>
            </a:r>
            <a:r>
              <a:rPr lang="es" sz="1800" b="1" dirty="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  DATA SCIENCE I</a:t>
            </a:r>
            <a:endParaRPr sz="1600" b="1" i="0" u="none" strike="noStrike" cap="none" dirty="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" name="Google Shape;117;p41"/>
          <p:cNvSpPr txBox="1"/>
          <p:nvPr/>
        </p:nvSpPr>
        <p:spPr>
          <a:xfrm>
            <a:off x="1461300" y="2252975"/>
            <a:ext cx="6221400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y Nu</a:t>
            </a:r>
            <a:r>
              <a:rPr lang="es-AR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mPy</a:t>
            </a: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247578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1"/>
          <p:cNvSpPr txBox="1"/>
          <p:nvPr/>
        </p:nvSpPr>
        <p:spPr>
          <a:xfrm>
            <a:off x="652525" y="1336525"/>
            <a:ext cx="3873300" cy="17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¡Esta clase va a ser     grabada!	</a:t>
            </a:r>
            <a:endParaRPr sz="48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73" name="Google Shape;473;p61"/>
          <p:cNvSpPr/>
          <p:nvPr/>
        </p:nvSpPr>
        <p:spPr>
          <a:xfrm>
            <a:off x="4003875" y="1483250"/>
            <a:ext cx="228300" cy="228300"/>
          </a:xfrm>
          <a:prstGeom prst="ellipse">
            <a:avLst/>
          </a:prstGeom>
          <a:solidFill>
            <a:srgbClr val="FDA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7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35" y="988175"/>
            <a:ext cx="3175975" cy="3167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20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sobre la clase práctica en vivo anterior?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062126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5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endParaRPr sz="30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7" name="Google Shape;227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5"/>
          <p:cNvSpPr txBox="1"/>
          <p:nvPr/>
        </p:nvSpPr>
        <p:spPr>
          <a:xfrm>
            <a:off x="2690561" y="1451613"/>
            <a:ext cx="42813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las estructuras de datos en Pandas.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el uso de Pandas para la manipulación de grandes volúmenes de datos.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29" name="Google Shape;229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" name="Google Shape;230;p75"/>
          <p:cNvCxnSpPr>
            <a:stCxn id="227" idx="2"/>
            <a:endCxn id="229" idx="0"/>
          </p:cNvCxnSpPr>
          <p:nvPr/>
        </p:nvCxnSpPr>
        <p:spPr>
          <a:xfrm rot="-5400000" flipH="1">
            <a:off x="2052976" y="1960238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1" name="Google Shape;231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2288" y="28121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75"/>
          <p:cNvSpPr txBox="1"/>
          <p:nvPr/>
        </p:nvSpPr>
        <p:spPr>
          <a:xfrm>
            <a:off x="2690561" y="2719938"/>
            <a:ext cx="42813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Conocer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estructuras de datos y su implementación en Python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Entender </a:t>
            </a: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el uso básico del paquete NumPy 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33" name="Google Shape;233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71988" y="3445513"/>
            <a:ext cx="196975" cy="19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4" name="Google Shape;234;p75"/>
          <p:cNvCxnSpPr>
            <a:stCxn id="231" idx="2"/>
            <a:endCxn id="233" idx="0"/>
          </p:cNvCxnSpPr>
          <p:nvPr/>
        </p:nvCxnSpPr>
        <p:spPr>
          <a:xfrm rot="-5400000" flipH="1">
            <a:off x="2052825" y="3227038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75"/>
          <p:cNvCxnSpPr/>
          <p:nvPr/>
        </p:nvCxnSpPr>
        <p:spPr>
          <a:xfrm rot="-5400000" flipH="1">
            <a:off x="2052975" y="2542763"/>
            <a:ext cx="436500" cy="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¿Estructuras de datos en Pandas?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81241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7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77"/>
          <p:cNvSpPr txBox="1"/>
          <p:nvPr/>
        </p:nvSpPr>
        <p:spPr>
          <a:xfrm>
            <a:off x="473350" y="1626100"/>
            <a:ext cx="71694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A continuación veremos los pasos para construir un Data Frame en vivo.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100" b="1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10 minutos</a:t>
            </a:r>
            <a:endParaRPr sz="2100" b="1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1" i="0" u="none" strike="noStrike" cap="none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47" name="Google Shape;247;p77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248" name="Google Shape;248;p77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9" name="Google Shape;249;p77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8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5" name="Google Shape;255;p78"/>
          <p:cNvSpPr txBox="1"/>
          <p:nvPr/>
        </p:nvSpPr>
        <p:spPr>
          <a:xfrm>
            <a:off x="473350" y="1908175"/>
            <a:ext cx="3834600" cy="18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Definir las listas que contienen la información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Construir las Series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78"/>
          <p:cNvSpPr txBox="1"/>
          <p:nvPr/>
        </p:nvSpPr>
        <p:spPr>
          <a:xfrm>
            <a:off x="4447550" y="1477150"/>
            <a:ext cx="3987300" cy="1856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modelos = [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'A4 3.0 Quattro 4dr manual'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'A4 3.0 Quattro 4dr auto'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'A6 3.0 4dr'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'A6 3.0 Quattro 4dr'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'A4 3.0 convertible 2dr'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peso = [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3583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3627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3561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3880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3814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precios = [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'$33,430'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'$34,480'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'$36,640'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'$39,640'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'$42,490'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57" name="Google Shape;257;p78"/>
          <p:cNvSpPr txBox="1"/>
          <p:nvPr/>
        </p:nvSpPr>
        <p:spPr>
          <a:xfrm>
            <a:off x="4447550" y="3440800"/>
            <a:ext cx="3987300" cy="79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Autos_peso = pd.Series(peso,index=modelos)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Consolas"/>
                <a:ea typeface="Consolas"/>
                <a:cs typeface="Consolas"/>
                <a:sym typeface="Consolas"/>
              </a:rPr>
              <a:t>Autos_precio = pd.Series(precios,index=modelos) 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79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3" name="Google Shape;263;p79"/>
          <p:cNvSpPr txBox="1"/>
          <p:nvPr/>
        </p:nvSpPr>
        <p:spPr>
          <a:xfrm>
            <a:off x="473350" y="1908175"/>
            <a:ext cx="38346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Hasta ahora...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4" name="Google Shape;264;p79"/>
          <p:cNvSpPr txBox="1"/>
          <p:nvPr/>
        </p:nvSpPr>
        <p:spPr>
          <a:xfrm>
            <a:off x="786688" y="2735350"/>
            <a:ext cx="36420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3CEFAB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(Autos_precio)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5" name="Google Shape;265;p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3323" y="3330532"/>
            <a:ext cx="3108613" cy="1055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81938" y="3298292"/>
            <a:ext cx="3108616" cy="1120358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9"/>
          <p:cNvSpPr txBox="1"/>
          <p:nvPr/>
        </p:nvSpPr>
        <p:spPr>
          <a:xfrm>
            <a:off x="4715303" y="2756723"/>
            <a:ext cx="36420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3CEFAB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(Autos_peso)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0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3" name="Google Shape;273;p80"/>
          <p:cNvSpPr txBox="1"/>
          <p:nvPr/>
        </p:nvSpPr>
        <p:spPr>
          <a:xfrm>
            <a:off x="473350" y="1908175"/>
            <a:ext cx="3834600" cy="15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Construir el Data Frame a partir de las Series: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4" name="Google Shape;274;p80"/>
          <p:cNvSpPr txBox="1"/>
          <p:nvPr/>
        </p:nvSpPr>
        <p:spPr>
          <a:xfrm>
            <a:off x="1101548" y="3138871"/>
            <a:ext cx="3790500" cy="1218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Autos = pd.DataFrame({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'Peso'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:Autos_peso,</a:t>
            </a:r>
            <a:r>
              <a:rPr lang="es" sz="12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'Precio'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:Autos_precio})</a:t>
            </a:r>
            <a:b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Autos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5" name="Google Shape;275;p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8651" y="2460193"/>
            <a:ext cx="3088147" cy="202840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0"/>
          <p:cNvSpPr txBox="1"/>
          <p:nvPr/>
        </p:nvSpPr>
        <p:spPr>
          <a:xfrm>
            <a:off x="6829010" y="2195150"/>
            <a:ext cx="15378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… voilà!</a:t>
            </a:r>
            <a:r>
              <a:rPr lang="es" sz="135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7" name="Google Shape;277;p80"/>
          <p:cNvSpPr txBox="1"/>
          <p:nvPr/>
        </p:nvSpPr>
        <p:spPr>
          <a:xfrm>
            <a:off x="4891995" y="3361280"/>
            <a:ext cx="386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1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 Frames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3" name="Google Shape;283;p81"/>
          <p:cNvSpPr txBox="1"/>
          <p:nvPr/>
        </p:nvSpPr>
        <p:spPr>
          <a:xfrm>
            <a:off x="473350" y="1908175"/>
            <a:ext cx="3834600" cy="15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Construyendo un Data Frame manualmente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Construyamos ahora un tablero de ajedrez ♟️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4" name="Google Shape;284;p81"/>
          <p:cNvSpPr txBox="1"/>
          <p:nvPr/>
        </p:nvSpPr>
        <p:spPr>
          <a:xfrm>
            <a:off x="884725" y="3017000"/>
            <a:ext cx="4553700" cy="140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Ajedrez_64 = np.arange(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).reshape(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Ajedrez_df = pd.DataFrame(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Ajedrez_64,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columns=range(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D36363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9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),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index=[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'A'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'B'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'C'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'D'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'E'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'F'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'G'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000" b="0" i="0" u="none" strike="noStrike" cap="none">
                <a:solidFill>
                  <a:srgbClr val="A2FCA2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'H'</a:t>
            </a: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]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) 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Ajedrez_df</a:t>
            </a:r>
            <a:endParaRPr sz="10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85" name="Google Shape;285;p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815" y="2404325"/>
            <a:ext cx="1969160" cy="2169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81"/>
          <p:cNvSpPr txBox="1"/>
          <p:nvPr/>
        </p:nvSpPr>
        <p:spPr>
          <a:xfrm>
            <a:off x="5687513" y="3389875"/>
            <a:ext cx="537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2"/>
          <p:cNvSpPr txBox="1"/>
          <p:nvPr/>
        </p:nvSpPr>
        <p:spPr>
          <a:xfrm>
            <a:off x="473350" y="619525"/>
            <a:ext cx="81411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Pandas DataFrames 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82"/>
          <p:cNvSpPr txBox="1"/>
          <p:nvPr/>
        </p:nvSpPr>
        <p:spPr>
          <a:xfrm>
            <a:off x="640300" y="1632675"/>
            <a:ext cx="3834600" cy="30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resumen las series son objetos 2D (filas x columnas) con las siguientes propiedades: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Índices: Pueden ser cualquier tipo de variable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Valores: Asociados a cada índice y a cada columna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DM Sans"/>
              <a:buChar char="✔"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Nombre: Que caracteriza al Dataframe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Son, entonces, una generalización de series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3" name="Google Shape;293;p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6723" y="1632675"/>
            <a:ext cx="3265075" cy="269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3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9" name="Google Shape;299;p83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Pensando en ajedrez </a:t>
            </a:r>
            <a:endParaRPr sz="2500" b="0" i="0" u="none" strike="noStrike" cap="none">
              <a:solidFill>
                <a:srgbClr val="DEFC5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00" name="Google Shape;300;p83"/>
          <p:cNvSpPr txBox="1"/>
          <p:nvPr/>
        </p:nvSpPr>
        <p:spPr>
          <a:xfrm>
            <a:off x="473350" y="219550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¿Cuál es la principal ventaja de usar un DataFrame en Pandas en comparación con una estructura de datos como un diccionario en Python?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01" name="Google Shape;301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350" y="588416"/>
            <a:ext cx="870425" cy="8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err="1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Manipulacion</a:t>
            </a: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datos en Pandas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715960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5"/>
          <p:cNvSpPr txBox="1"/>
          <p:nvPr/>
        </p:nvSpPr>
        <p:spPr>
          <a:xfrm>
            <a:off x="14451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2" name="Google Shape;312;p85"/>
          <p:cNvSpPr txBox="1"/>
          <p:nvPr/>
        </p:nvSpPr>
        <p:spPr>
          <a:xfrm>
            <a:off x="473350" y="1626100"/>
            <a:ext cx="7169400" cy="2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¡Llevemos lo visto hasta el momento a la acción!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Utilizaremos de l</a:t>
            </a: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os recursos complementarios</a:t>
            </a: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 los archivos </a:t>
            </a:r>
            <a:r>
              <a:rPr lang="es" sz="2500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Unidad_03</a:t>
            </a: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.ipynb con el fin de manipular series y dataframes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3" name="Google Shape;313;p85"/>
          <p:cNvGrpSpPr/>
          <p:nvPr/>
        </p:nvGrpSpPr>
        <p:grpSpPr>
          <a:xfrm>
            <a:off x="473351" y="619523"/>
            <a:ext cx="738900" cy="738900"/>
            <a:chOff x="473351" y="619523"/>
            <a:chExt cx="738900" cy="738900"/>
          </a:xfrm>
        </p:grpSpPr>
        <p:sp>
          <p:nvSpPr>
            <p:cNvPr id="314" name="Google Shape;314;p8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15" name="Google Shape;315;p85" title="ícono de ejemplo en viv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 title="logo gradient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803" y="4523150"/>
            <a:ext cx="1547950" cy="4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7;p41"/>
          <p:cNvSpPr txBox="1"/>
          <p:nvPr/>
        </p:nvSpPr>
        <p:spPr>
          <a:xfrm>
            <a:off x="1642054" y="1568525"/>
            <a:ext cx="62214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90000"/>
              </a:lnSpc>
              <a:buSzPts val="4000"/>
            </a:pPr>
            <a:r>
              <a:rPr lang="es-MX" sz="4000" b="1" dirty="0" smtClean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Lectura de archivos con Python</a:t>
            </a:r>
            <a:endParaRPr lang="es-MX" sz="4000" b="1" dirty="0">
              <a:solidFill>
                <a:schemeClr val="bg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 dirty="0">
              <a:solidFill>
                <a:srgbClr val="FF632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072938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7"/>
          <p:cNvSpPr txBox="1"/>
          <p:nvPr/>
        </p:nvSpPr>
        <p:spPr>
          <a:xfrm>
            <a:off x="1461300" y="2273825"/>
            <a:ext cx="622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 .csb y .txt</a:t>
            </a:r>
            <a:endParaRPr sz="3800" b="1">
              <a:solidFill>
                <a:schemeClr val="dk1"/>
              </a:solidFill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8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.csv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88"/>
          <p:cNvSpPr txBox="1"/>
          <p:nvPr/>
        </p:nvSpPr>
        <p:spPr>
          <a:xfrm>
            <a:off x="668035" y="1771870"/>
            <a:ext cx="73815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32" name="Google Shape;332;p88"/>
          <p:cNvSpPr txBox="1"/>
          <p:nvPr/>
        </p:nvSpPr>
        <p:spPr>
          <a:xfrm>
            <a:off x="3968077" y="2369364"/>
            <a:ext cx="44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8"/>
          <p:cNvSpPr txBox="1"/>
          <p:nvPr/>
        </p:nvSpPr>
        <p:spPr>
          <a:xfrm>
            <a:off x="551538" y="1703475"/>
            <a:ext cx="3472200" cy="26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drive.mount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2C6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%cd 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'/content/gdrive/MyDrive'</a:t>
            </a:r>
            <a:endParaRPr sz="120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df= pd.read_csv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'winequality-red.csv'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sep=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','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'density'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'pH'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'sulphates'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'alcohol'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'quality'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34" name="Google Shape;334;p88"/>
          <p:cNvSpPr txBox="1"/>
          <p:nvPr/>
        </p:nvSpPr>
        <p:spPr>
          <a:xfrm>
            <a:off x="4415268" y="1996993"/>
            <a:ext cx="4177200" cy="132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density    pH  sulphates  alcohol  quality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0   0.9978  3.51       0.56      9.4        5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1   0.9968  3.20       0.68      9.8        5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2   0.9970  3.26       0.65      9.8        5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3   0.9980  3.16       0.58      9.8        6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4   0.9978  3.51       0.56      9.4        5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9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.txt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0" name="Google Shape;340;p89"/>
          <p:cNvSpPr txBox="1"/>
          <p:nvPr/>
        </p:nvSpPr>
        <p:spPr>
          <a:xfrm>
            <a:off x="599685" y="1671275"/>
            <a:ext cx="75105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1" name="Google Shape;341;p89"/>
          <p:cNvSpPr txBox="1"/>
          <p:nvPr/>
        </p:nvSpPr>
        <p:spPr>
          <a:xfrm>
            <a:off x="3964814" y="2187668"/>
            <a:ext cx="4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9"/>
          <p:cNvSpPr txBox="1"/>
          <p:nvPr/>
        </p:nvSpPr>
        <p:spPr>
          <a:xfrm>
            <a:off x="481150" y="1715508"/>
            <a:ext cx="3532800" cy="287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drive.mount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2C6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%cd 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'/content/gdrive/MyDrive'</a:t>
            </a:r>
            <a:endParaRPr sz="120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df= pd.read_csv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'pokemon_data.txt'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delimiter=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'\t'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'Name'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'Type 1'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'HP'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'Attack'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'Defense'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25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43" name="Google Shape;343;p89"/>
          <p:cNvSpPr txBox="1"/>
          <p:nvPr/>
        </p:nvSpPr>
        <p:spPr>
          <a:xfrm>
            <a:off x="4412451" y="1865840"/>
            <a:ext cx="4250400" cy="249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   Name  Type 1  HP  Attack  Defense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           Bulbasaur  Grass  45      49       49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             Ivysaur  Grass  60      62       63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            Venusaur  Grass  80      82       83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VenusaurMega Venusaur  Grass  80     100      123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          Charmander   Fire  39      52       43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0"/>
          <p:cNvSpPr txBox="1"/>
          <p:nvPr/>
        </p:nvSpPr>
        <p:spPr>
          <a:xfrm>
            <a:off x="1461300" y="2273825"/>
            <a:ext cx="6221400" cy="7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8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 .xlsx</a:t>
            </a:r>
            <a:endParaRPr sz="3800" b="1">
              <a:solidFill>
                <a:schemeClr val="dk1"/>
              </a:solidFill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1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.xlsx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91"/>
          <p:cNvSpPr txBox="1"/>
          <p:nvPr/>
        </p:nvSpPr>
        <p:spPr>
          <a:xfrm>
            <a:off x="944579" y="1624650"/>
            <a:ext cx="68583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55" name="Google Shape;355;p91"/>
          <p:cNvSpPr txBox="1"/>
          <p:nvPr/>
        </p:nvSpPr>
        <p:spPr>
          <a:xfrm>
            <a:off x="4028616" y="2069435"/>
            <a:ext cx="361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1"/>
          <p:cNvSpPr txBox="1"/>
          <p:nvPr/>
        </p:nvSpPr>
        <p:spPr>
          <a:xfrm>
            <a:off x="836338" y="1659198"/>
            <a:ext cx="3226200" cy="303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google.colab </a:t>
            </a:r>
            <a:r>
              <a:rPr lang="es" sz="11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drive</a:t>
            </a:r>
            <a:endParaRPr sz="11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os</a:t>
            </a:r>
            <a:endParaRPr sz="11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drive.mount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endParaRPr sz="1150" b="0" i="0" u="none" strike="noStrike" cap="none">
              <a:solidFill>
                <a:srgbClr val="82C6F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%cd 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'/content/gdrive/MyDrive'</a:t>
            </a:r>
            <a:endParaRPr sz="115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df= pd.read_excel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'defaultoutput.xlsx'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" sz="11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'index'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'ID'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'Year_Birth'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'Education'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1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'Income'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1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1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1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endParaRPr sz="1250" b="0" i="0" u="none" strike="noStrike" cap="none">
              <a:solidFill>
                <a:srgbClr val="C586C0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57" name="Google Shape;357;p91"/>
          <p:cNvSpPr txBox="1"/>
          <p:nvPr/>
        </p:nvSpPr>
        <p:spPr>
          <a:xfrm>
            <a:off x="4426255" y="1788916"/>
            <a:ext cx="3881400" cy="249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index    ID  Year_Birth   Education   Income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   0  5524        1957  Graduation  58138.0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   1  2174        1954  Graduation  46344.0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   2  4141        1965  Graduation  71613.0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    3  6182        1984  Graduation  26646.0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   4  5324        1981         PhD  58293.0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2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Github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3" name="Google Shape;363;p92"/>
          <p:cNvSpPr txBox="1"/>
          <p:nvPr/>
        </p:nvSpPr>
        <p:spPr>
          <a:xfrm>
            <a:off x="786460" y="1647425"/>
            <a:ext cx="71571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64" name="Google Shape;364;p92"/>
          <p:cNvSpPr txBox="1"/>
          <p:nvPr/>
        </p:nvSpPr>
        <p:spPr>
          <a:xfrm>
            <a:off x="4176415" y="1945916"/>
            <a:ext cx="377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2"/>
          <p:cNvSpPr txBox="1"/>
          <p:nvPr/>
        </p:nvSpPr>
        <p:spPr>
          <a:xfrm>
            <a:off x="673500" y="1690901"/>
            <a:ext cx="3514500" cy="245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s" sz="12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s" sz="125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2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 = 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'https://raw.githubusercontent.com/JJTorresDS/stocks-ds-edu/main/stocks.csv'</a:t>
            </a:r>
            <a:endParaRPr sz="125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 = pd.read_csv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url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index_col=</a:t>
            </a:r>
            <a:r>
              <a:rPr lang="es" sz="12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df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'AMZN'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'MCD'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'SBUX'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'GOOG'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5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'MSFT'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]]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.head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s" sz="125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50" b="0" i="0" u="none" strike="noStrike" cap="none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5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s" sz="125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35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6" name="Google Shape;366;p92"/>
          <p:cNvSpPr txBox="1"/>
          <p:nvPr/>
        </p:nvSpPr>
        <p:spPr>
          <a:xfrm>
            <a:off x="4515899" y="1690892"/>
            <a:ext cx="3954600" cy="2900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                AMZN    MCD  SBUX   GOOG  MSFT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formatted_date                                 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2016-01-01      587.0  106.3  54.4  743.0  49.9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2016-02-01      552.5  100.7  52.1  697.8  46.0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2016-03-01      593.6  108.8  53.6  745.0  50.3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2016-04-01      659.6  109.5  50.5  693.0  45.5</a:t>
            </a:r>
            <a:endParaRPr sz="11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2016-05-01      722.8  105.6  49.3  735.7  48.3</a:t>
            </a:r>
            <a:endParaRPr sz="7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93"/>
          <p:cNvSpPr txBox="1"/>
          <p:nvPr/>
        </p:nvSpPr>
        <p:spPr>
          <a:xfrm>
            <a:off x="473350" y="619525"/>
            <a:ext cx="8141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Lectura desde APIs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2" name="Google Shape;372;p93"/>
          <p:cNvSpPr txBox="1"/>
          <p:nvPr/>
        </p:nvSpPr>
        <p:spPr>
          <a:xfrm>
            <a:off x="748878" y="1796744"/>
            <a:ext cx="7106400" cy="15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/>
            </a:r>
            <a:br>
              <a:rPr lang="es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73" name="Google Shape;373;p93"/>
          <p:cNvSpPr txBox="1"/>
          <p:nvPr/>
        </p:nvSpPr>
        <p:spPr>
          <a:xfrm>
            <a:off x="4075056" y="2202591"/>
            <a:ext cx="414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3"/>
          <p:cNvSpPr txBox="1"/>
          <p:nvPr/>
        </p:nvSpPr>
        <p:spPr>
          <a:xfrm>
            <a:off x="636675" y="1635725"/>
            <a:ext cx="3478200" cy="2876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s" sz="1200" b="0" i="0" u="none" strike="noStrike" cap="none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82C6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wget -O cars_clus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csv https://s3-api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us-geo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objectstorage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softlayer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net/cf-courses-data/CognitiveClass/ML0101ENv3/labs/cars_clus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endParaRPr sz="1200" b="0" i="0" u="none" strike="noStrike" cap="none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 = 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'cars_clus.csv'</a:t>
            </a:r>
            <a:endParaRPr sz="1200" b="0" i="0" u="none" strike="noStrike" cap="none">
              <a:solidFill>
                <a:srgbClr val="CE9178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6AA94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#Lectura</a:t>
            </a:r>
            <a:endParaRPr sz="1200" b="0" i="0" u="none" strike="noStrike" cap="none">
              <a:solidFill>
                <a:srgbClr val="6AA94F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pdf = pd.read_csv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filename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print 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"Shape: "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pdf.shape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 b="0" i="0" u="none" strike="noStrike" cap="none">
              <a:solidFill>
                <a:srgbClr val="DCDCDC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orint(pdf.head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" sz="1200" b="0" i="0" u="none" strike="noStrike" cap="none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s" sz="1200" b="0" i="0" u="none" strike="noStrike" cap="none">
                <a:solidFill>
                  <a:srgbClr val="DCDCDC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5" name="Google Shape;375;p93"/>
          <p:cNvSpPr txBox="1"/>
          <p:nvPr/>
        </p:nvSpPr>
        <p:spPr>
          <a:xfrm>
            <a:off x="4451921" y="1841022"/>
            <a:ext cx="3861300" cy="153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manufact    model   sales  resale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0    Acura  Integra  16.919  16.360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1    Acura       TL  39.384  19.875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2    Acura       CL  14.114  18.225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3    Acura       RL   8.588  29.725</a:t>
            </a:r>
            <a:endParaRPr sz="13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FFFFFF"/>
                </a:solidFill>
                <a:highlight>
                  <a:srgbClr val="000000"/>
                </a:highlight>
                <a:latin typeface="Roboto Mono"/>
                <a:ea typeface="Roboto Mono"/>
                <a:cs typeface="Roboto Mono"/>
                <a:sym typeface="Roboto Mono"/>
              </a:rPr>
              <a:t>4     Audi       A4  20.397  22.255</a:t>
            </a:r>
            <a:endParaRPr sz="1200" b="0" i="0" u="none" strike="noStrike" cap="none">
              <a:solidFill>
                <a:srgbClr val="FFFFFF"/>
              </a:solidFill>
              <a:highlight>
                <a:srgbClr val="000000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s" sz="5000" b="0" i="0" u="none" strike="noStrike" cap="none">
                <a:solidFill>
                  <a:srgbClr val="E8E7E3"/>
                </a:solidFill>
                <a:latin typeface="Arial"/>
                <a:ea typeface="Arial"/>
                <a:cs typeface="Arial"/>
                <a:sym typeface="Arial"/>
              </a:rPr>
              <a:t>☕</a:t>
            </a:r>
            <a:endParaRPr sz="5000" b="0" i="0" u="none" strike="noStrike" cap="none">
              <a:solidFill>
                <a:srgbClr val="E8E7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FF632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Break</a:t>
            </a:r>
            <a:endParaRPr sz="4000" b="1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63" name="Google Shape;263;p61"/>
          <p:cNvSpPr txBox="1"/>
          <p:nvPr/>
        </p:nvSpPr>
        <p:spPr>
          <a:xfrm>
            <a:off x="2998200" y="2971950"/>
            <a:ext cx="3147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¡10 minutos y volvemos!</a:t>
            </a:r>
            <a:endParaRPr sz="2000" b="0" i="0" u="none" strike="noStrike" cap="non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94449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5"/>
          <p:cNvSpPr txBox="1"/>
          <p:nvPr/>
        </p:nvSpPr>
        <p:spPr>
          <a:xfrm>
            <a:off x="474750" y="1586300"/>
            <a:ext cx="7222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Manejo de datos según cotización en la bolsa</a:t>
            </a:r>
            <a:endParaRPr sz="25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7" name="Google Shape;387;p95"/>
          <p:cNvSpPr txBox="1"/>
          <p:nvPr/>
        </p:nvSpPr>
        <p:spPr>
          <a:xfrm>
            <a:off x="473350" y="405675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" sz="2000" b="1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20 min </a:t>
            </a:r>
            <a:endParaRPr sz="2000" b="1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8" name="Google Shape;388;p95"/>
          <p:cNvSpPr txBox="1"/>
          <p:nvPr/>
        </p:nvSpPr>
        <p:spPr>
          <a:xfrm>
            <a:off x="473350" y="24241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Manipulación de datos según cotizaciones de diversas compañías por medio de Pandas Data Frames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9" name="Google Shape;389;p95"/>
          <p:cNvSpPr txBox="1"/>
          <p:nvPr/>
        </p:nvSpPr>
        <p:spPr>
          <a:xfrm>
            <a:off x="144515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Hands on lab</a:t>
            </a:r>
            <a:endParaRPr sz="3500" b="1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0" name="Google Shape;390;p95"/>
          <p:cNvGrpSpPr/>
          <p:nvPr/>
        </p:nvGrpSpPr>
        <p:grpSpPr>
          <a:xfrm>
            <a:off x="473351" y="468273"/>
            <a:ext cx="738900" cy="738900"/>
            <a:chOff x="473351" y="619523"/>
            <a:chExt cx="738900" cy="738900"/>
          </a:xfrm>
        </p:grpSpPr>
        <p:sp>
          <p:nvSpPr>
            <p:cNvPr id="391" name="Google Shape;391;p95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92" name="Google Shape;392;p95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6"/>
          <p:cNvSpPr txBox="1"/>
          <p:nvPr/>
        </p:nvSpPr>
        <p:spPr>
          <a:xfrm>
            <a:off x="501450" y="990513"/>
            <a:ext cx="7310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Manejo de datos según cotización en la bolsa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p96"/>
          <p:cNvSpPr txBox="1"/>
          <p:nvPr/>
        </p:nvSpPr>
        <p:spPr>
          <a:xfrm>
            <a:off x="457350" y="2145000"/>
            <a:ext cx="74391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Importar datos de Acciones Globales (que están hosteados en GITHUB en el siguiente enlace </a:t>
            </a:r>
            <a:r>
              <a:rPr lang="es" sz="1350" b="0" i="0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Monitoreo de Acciones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Graficar cotizaciones y recomendar elegir 2 acciones para comprar. 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Justificar la decisión.</a:t>
            </a:r>
            <a:endParaRPr sz="1350" b="1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9" name="Google Shape;399;p96"/>
          <p:cNvSpPr txBox="1"/>
          <p:nvPr/>
        </p:nvSpPr>
        <p:spPr>
          <a:xfrm>
            <a:off x="457350" y="4514225"/>
            <a:ext cx="705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 b="1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NOTA:</a:t>
            </a:r>
            <a:r>
              <a:rPr lang="es" sz="1100" b="0" i="0" u="none" strike="noStrike" cap="none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200">
                <a:solidFill>
                  <a:srgbClr val="666666"/>
                </a:solidFill>
                <a:latin typeface="DM Sans"/>
                <a:ea typeface="DM Sans"/>
                <a:cs typeface="DM Sans"/>
                <a:sym typeface="DM Sans"/>
              </a:rPr>
              <a:t>En sala general, el profesor hace la tarea los estudiantes lo acompañan realizándola en paralelo en sus pcs</a:t>
            </a:r>
            <a:endParaRPr sz="1000" b="0" i="1" u="sng" strike="noStrike" cap="none">
              <a:solidFill>
                <a:srgbClr val="66666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97"/>
          <p:cNvSpPr txBox="1"/>
          <p:nvPr/>
        </p:nvSpPr>
        <p:spPr>
          <a:xfrm>
            <a:off x="1404863" y="19413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Numpy y ndarrays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98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410" name="Google Shape;410;p98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1" name="Google Shape;411;p98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2" name="Google Shape;412;p98"/>
          <p:cNvSpPr txBox="1"/>
          <p:nvPr/>
        </p:nvSpPr>
        <p:spPr>
          <a:xfrm>
            <a:off x="1461300" y="2208625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Probando estructuras en Python</a:t>
            </a:r>
            <a:endParaRPr sz="4000" b="1" i="0" u="none" strike="noStrike" cap="none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3" name="Google Shape;413;p98"/>
          <p:cNvSpPr txBox="1"/>
          <p:nvPr/>
        </p:nvSpPr>
        <p:spPr>
          <a:xfrm>
            <a:off x="987300" y="384913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lang="es" sz="2000" b="1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15 minutos</a:t>
            </a:r>
            <a:endParaRPr sz="2000" b="1" i="0" u="none" strike="noStrike" cap="non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4" name="Google Shape;414;p98"/>
          <p:cNvSpPr txBox="1"/>
          <p:nvPr/>
        </p:nvSpPr>
        <p:spPr>
          <a:xfrm>
            <a:off x="987300" y="294753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oogle Shape;419;p99"/>
          <p:cNvGrpSpPr/>
          <p:nvPr/>
        </p:nvGrpSpPr>
        <p:grpSpPr>
          <a:xfrm>
            <a:off x="457347" y="468298"/>
            <a:ext cx="431074" cy="431074"/>
            <a:chOff x="974706" y="2467173"/>
            <a:chExt cx="738900" cy="738900"/>
          </a:xfrm>
        </p:grpSpPr>
        <p:sp>
          <p:nvSpPr>
            <p:cNvPr id="420" name="Google Shape;420;p99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21" name="Google Shape;421;p99" title="ícono de actividad en clas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2" name="Google Shape;422;p99"/>
          <p:cNvSpPr txBox="1"/>
          <p:nvPr/>
        </p:nvSpPr>
        <p:spPr>
          <a:xfrm>
            <a:off x="501450" y="1081750"/>
            <a:ext cx="59901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Probando estructuras en Python</a:t>
            </a:r>
            <a:endParaRPr sz="4000" b="1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23" name="Google Shape;423;p9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99"/>
          <p:cNvSpPr txBox="1"/>
          <p:nvPr/>
        </p:nvSpPr>
        <p:spPr>
          <a:xfrm>
            <a:off x="549525" y="2710938"/>
            <a:ext cx="49872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Deberán resolver dos problemas reales, utilizando las estructuras aprendidas de programación en Python en una notebook.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5" name="Google Shape;425;p99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 EN CLASE</a:t>
            </a:r>
            <a:endParaRPr sz="1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00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Creación de ndarrays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1"/>
          <p:cNvSpPr txBox="1"/>
          <p:nvPr/>
        </p:nvSpPr>
        <p:spPr>
          <a:xfrm>
            <a:off x="653975" y="514350"/>
            <a:ext cx="7140600" cy="9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Creación de  ndarrays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6" name="Google Shape;436;p101"/>
          <p:cNvSpPr txBox="1"/>
          <p:nvPr/>
        </p:nvSpPr>
        <p:spPr>
          <a:xfrm>
            <a:off x="509550" y="1943275"/>
            <a:ext cx="3962400" cy="15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librería Numpy provee una forma particular de array llamada ndarray o Numpy Array.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Helvetica Neue Light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Recordar: los ndarrays, al ser un tipo de array, sólo pueden almacenar datos de un mismo tipo.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37" name="Google Shape;437;p101"/>
          <p:cNvSpPr txBox="1"/>
          <p:nvPr/>
        </p:nvSpPr>
        <p:spPr>
          <a:xfrm>
            <a:off x="5326050" y="2354575"/>
            <a:ext cx="26316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Npa = np.array(range(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Npa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38" name="Google Shape;438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6785" y="3921625"/>
            <a:ext cx="410996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01"/>
          <p:cNvSpPr txBox="1"/>
          <p:nvPr/>
        </p:nvSpPr>
        <p:spPr>
          <a:xfrm>
            <a:off x="5326050" y="1943275"/>
            <a:ext cx="2631600" cy="3693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3CEFAB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 numpy </a:t>
            </a:r>
            <a:r>
              <a:rPr lang="es" sz="1200" b="0" i="0" u="none" strike="noStrike" cap="none">
                <a:solidFill>
                  <a:srgbClr val="3CEFAB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 np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0" name="Google Shape;440;p101"/>
          <p:cNvSpPr txBox="1"/>
          <p:nvPr/>
        </p:nvSpPr>
        <p:spPr>
          <a:xfrm rot="5400000" flipH="1">
            <a:off x="6357450" y="321505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2"/>
          <p:cNvSpPr txBox="1"/>
          <p:nvPr/>
        </p:nvSpPr>
        <p:spPr>
          <a:xfrm>
            <a:off x="461600" y="1105225"/>
            <a:ext cx="82101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6" name="Google Shape;446;p102"/>
          <p:cNvSpPr txBox="1"/>
          <p:nvPr/>
        </p:nvSpPr>
        <p:spPr>
          <a:xfrm>
            <a:off x="683100" y="483350"/>
            <a:ext cx="594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Veamos ejemplos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47" name="Google Shape;447;p102"/>
          <p:cNvSpPr txBox="1"/>
          <p:nvPr/>
        </p:nvSpPr>
        <p:spPr>
          <a:xfrm>
            <a:off x="683100" y="319110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Np_uno = np.ones(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Np_uno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8" name="Google Shape;448;p102"/>
          <p:cNvSpPr txBox="1"/>
          <p:nvPr/>
        </p:nvSpPr>
        <p:spPr>
          <a:xfrm>
            <a:off x="683100" y="165585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 = np.zeros(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49" name="Google Shape;449;p102"/>
          <p:cNvSpPr txBox="1"/>
          <p:nvPr/>
        </p:nvSpPr>
        <p:spPr>
          <a:xfrm flipH="1">
            <a:off x="4432200" y="25068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02"/>
          <p:cNvSpPr txBox="1"/>
          <p:nvPr/>
        </p:nvSpPr>
        <p:spPr>
          <a:xfrm>
            <a:off x="683100" y="241785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Np_cero_int = np.zeros(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, dtype=</a:t>
            </a:r>
            <a:r>
              <a:rPr lang="es" sz="1200" b="0" i="0" u="none" strike="noStrike" cap="none">
                <a:solidFill>
                  <a:srgbClr val="A6FFCA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Np_cero_int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451" name="Google Shape;451;p102"/>
          <p:cNvSpPr txBox="1"/>
          <p:nvPr/>
        </p:nvSpPr>
        <p:spPr>
          <a:xfrm>
            <a:off x="683100" y="3985975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Np_relleno = np.full(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256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Np_relleno</a:t>
            </a:r>
            <a:endParaRPr sz="12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52" name="Google Shape;452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86500" y="4091125"/>
            <a:ext cx="4071450" cy="367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0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72200" y="3345508"/>
            <a:ext cx="3749100" cy="395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0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86500" y="1813725"/>
            <a:ext cx="3379075" cy="33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0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62700" y="2564925"/>
            <a:ext cx="3118098" cy="3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02"/>
          <p:cNvSpPr txBox="1"/>
          <p:nvPr/>
        </p:nvSpPr>
        <p:spPr>
          <a:xfrm flipH="1">
            <a:off x="4432200" y="16686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02"/>
          <p:cNvSpPr txBox="1"/>
          <p:nvPr/>
        </p:nvSpPr>
        <p:spPr>
          <a:xfrm flipH="1">
            <a:off x="4432200" y="3278338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02"/>
          <p:cNvSpPr txBox="1"/>
          <p:nvPr/>
        </p:nvSpPr>
        <p:spPr>
          <a:xfrm flipH="1">
            <a:off x="4432200" y="4049875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9" name="Google Shape;459;p102"/>
          <p:cNvPicPr preferRelativeResize="0"/>
          <p:nvPr/>
        </p:nvPicPr>
        <p:blipFill rotWithShape="1">
          <a:blip r:embed="rId7">
            <a:alphaModFix/>
          </a:blip>
          <a:srcRect r="60527"/>
          <a:stretch/>
        </p:blipFill>
        <p:spPr>
          <a:xfrm>
            <a:off x="8406750" y="89300"/>
            <a:ext cx="698326" cy="7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03"/>
          <p:cNvSpPr txBox="1"/>
          <p:nvPr/>
        </p:nvSpPr>
        <p:spPr>
          <a:xfrm>
            <a:off x="582900" y="1417225"/>
            <a:ext cx="7978200" cy="20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Numpy provee objetos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rango: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5" name="Google Shape;465;p103"/>
          <p:cNvSpPr txBox="1"/>
          <p:nvPr/>
        </p:nvSpPr>
        <p:spPr>
          <a:xfrm>
            <a:off x="582900" y="1883150"/>
            <a:ext cx="3749100" cy="6465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Np_rango = np.arange(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Np_rango</a:t>
            </a:r>
            <a:endParaRPr sz="1200" b="0" i="0" u="none" strike="noStrike" cap="none">
              <a:solidFill>
                <a:schemeClr val="lt1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66" name="Google Shape;466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3200" y="2040375"/>
            <a:ext cx="3123125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03"/>
          <p:cNvSpPr txBox="1"/>
          <p:nvPr/>
        </p:nvSpPr>
        <p:spPr>
          <a:xfrm flipH="1">
            <a:off x="4408200" y="18959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03"/>
          <p:cNvSpPr txBox="1"/>
          <p:nvPr/>
        </p:nvSpPr>
        <p:spPr>
          <a:xfrm>
            <a:off x="563850" y="2684288"/>
            <a:ext cx="79782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90FF"/>
              </a:buClr>
              <a:buSzPts val="1350"/>
              <a:buFont typeface="Arial"/>
              <a:buChar char="✓"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Ndarrays con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valores aleatorios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 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dos dimensiones</a:t>
            </a: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35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69" name="Google Shape;469;p103"/>
          <p:cNvSpPr txBox="1"/>
          <p:nvPr/>
        </p:nvSpPr>
        <p:spPr>
          <a:xfrm>
            <a:off x="640050" y="3313863"/>
            <a:ext cx="5539800" cy="5817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Np_random_dimensiones = np.random.randint(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10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, size=(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" sz="1200" b="0" i="0" u="none" strike="noStrike" cap="none">
                <a:solidFill>
                  <a:srgbClr val="D36363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200" b="0" i="0" u="none" strike="noStrike" cap="none">
              <a:solidFill>
                <a:srgbClr val="FFFFFF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FFFFFF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</a:rPr>
              <a:t>Np_random_dimensiones</a:t>
            </a:r>
            <a:endParaRPr sz="1200" b="0" i="0" u="none" strike="noStrike" cap="none">
              <a:solidFill>
                <a:srgbClr val="FFFFFF"/>
              </a:solidFill>
              <a:highlight>
                <a:schemeClr val="dk1"/>
              </a:highlight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470" name="Google Shape;470;p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6050" y="3324338"/>
            <a:ext cx="23241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03"/>
          <p:cNvPicPr preferRelativeResize="0"/>
          <p:nvPr/>
        </p:nvPicPr>
        <p:blipFill rotWithShape="1">
          <a:blip r:embed="rId5">
            <a:alphaModFix/>
          </a:blip>
          <a:srcRect r="60527"/>
          <a:stretch/>
        </p:blipFill>
        <p:spPr>
          <a:xfrm>
            <a:off x="8406750" y="89300"/>
            <a:ext cx="698326" cy="70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03"/>
          <p:cNvSpPr txBox="1"/>
          <p:nvPr/>
        </p:nvSpPr>
        <p:spPr>
          <a:xfrm>
            <a:off x="683100" y="483350"/>
            <a:ext cx="594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Veamos ejemplos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4"/>
          <p:cNvSpPr txBox="1"/>
          <p:nvPr/>
        </p:nvSpPr>
        <p:spPr>
          <a:xfrm>
            <a:off x="1257299" y="1648200"/>
            <a:ext cx="66294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básicas: </a:t>
            </a: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reshape, concatenación,</a:t>
            </a: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splitting</a:t>
            </a:r>
            <a:endParaRPr sz="4000" b="1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05"/>
          <p:cNvSpPr/>
          <p:nvPr/>
        </p:nvSpPr>
        <p:spPr>
          <a:xfrm>
            <a:off x="3522125" y="893450"/>
            <a:ext cx="2229300" cy="5364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 w="9525" cap="flat" cmpd="sng">
            <a:solidFill>
              <a:srgbClr val="1212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05"/>
          <p:cNvSpPr txBox="1"/>
          <p:nvPr/>
        </p:nvSpPr>
        <p:spPr>
          <a:xfrm>
            <a:off x="3562475" y="966950"/>
            <a:ext cx="2189100" cy="38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básicas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4" name="Google Shape;484;p105"/>
          <p:cNvSpPr txBox="1"/>
          <p:nvPr/>
        </p:nvSpPr>
        <p:spPr>
          <a:xfrm flipH="1">
            <a:off x="3721250" y="42250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5" name="Google Shape;485;p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4825" y="2300775"/>
            <a:ext cx="492600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1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8463" y="2235274"/>
            <a:ext cx="699800" cy="6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10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9325" y="2300775"/>
            <a:ext cx="568801" cy="5688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105"/>
          <p:cNvCxnSpPr/>
          <p:nvPr/>
        </p:nvCxnSpPr>
        <p:spPr>
          <a:xfrm rot="10800000">
            <a:off x="2045050" y="1551100"/>
            <a:ext cx="41496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489" name="Google Shape;489;p105"/>
          <p:cNvCxnSpPr/>
          <p:nvPr/>
        </p:nvCxnSpPr>
        <p:spPr>
          <a:xfrm rot="10800000">
            <a:off x="5930750" y="1551100"/>
            <a:ext cx="1423500" cy="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490" name="Google Shape;490;p105"/>
          <p:cNvCxnSpPr/>
          <p:nvPr/>
        </p:nvCxnSpPr>
        <p:spPr>
          <a:xfrm>
            <a:off x="7313725" y="1551100"/>
            <a:ext cx="0" cy="5364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491" name="Google Shape;491;p105"/>
          <p:cNvCxnSpPr/>
          <p:nvPr/>
        </p:nvCxnSpPr>
        <p:spPr>
          <a:xfrm>
            <a:off x="2083025" y="1536675"/>
            <a:ext cx="0" cy="615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492" name="Google Shape;492;p105"/>
          <p:cNvCxnSpPr/>
          <p:nvPr/>
        </p:nvCxnSpPr>
        <p:spPr>
          <a:xfrm flipH="1">
            <a:off x="4695675" y="1551099"/>
            <a:ext cx="5400" cy="6507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oval" w="med" len="med"/>
          </a:ln>
        </p:spPr>
      </p:cxnSp>
      <p:sp>
        <p:nvSpPr>
          <p:cNvPr id="493" name="Google Shape;493;p105"/>
          <p:cNvSpPr/>
          <p:nvPr/>
        </p:nvSpPr>
        <p:spPr>
          <a:xfrm>
            <a:off x="1006475" y="2984613"/>
            <a:ext cx="2229300" cy="536400"/>
          </a:xfrm>
          <a:prstGeom prst="roundRect">
            <a:avLst>
              <a:gd name="adj" fmla="val 16667"/>
            </a:avLst>
          </a:prstGeom>
          <a:solidFill>
            <a:srgbClr val="EA90FF"/>
          </a:solidFill>
          <a:ln w="9525" cap="flat" cmpd="sng">
            <a:solidFill>
              <a:srgbClr val="EA9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4" name="Google Shape;494;p105"/>
          <p:cNvSpPr/>
          <p:nvPr/>
        </p:nvSpPr>
        <p:spPr>
          <a:xfrm>
            <a:off x="3602775" y="2984613"/>
            <a:ext cx="2229300" cy="536400"/>
          </a:xfrm>
          <a:prstGeom prst="roundRect">
            <a:avLst>
              <a:gd name="adj" fmla="val 16667"/>
            </a:avLst>
          </a:prstGeom>
          <a:solidFill>
            <a:srgbClr val="EAFF6A"/>
          </a:solidFill>
          <a:ln w="9525" cap="flat" cmpd="sng">
            <a:solidFill>
              <a:srgbClr val="EAFF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Concatenación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5" name="Google Shape;495;p105"/>
          <p:cNvSpPr/>
          <p:nvPr/>
        </p:nvSpPr>
        <p:spPr>
          <a:xfrm>
            <a:off x="6199075" y="2984613"/>
            <a:ext cx="2229300" cy="536400"/>
          </a:xfrm>
          <a:prstGeom prst="roundRect">
            <a:avLst>
              <a:gd name="adj" fmla="val 16667"/>
            </a:avLst>
          </a:prstGeom>
          <a:solidFill>
            <a:srgbClr val="83AEFB"/>
          </a:solidFill>
          <a:ln w="9525" cap="flat" cmpd="sng">
            <a:solidFill>
              <a:srgbClr val="83AE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Splitting</a:t>
            </a:r>
            <a:endParaRPr sz="135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06"/>
          <p:cNvSpPr txBox="1"/>
          <p:nvPr/>
        </p:nvSpPr>
        <p:spPr>
          <a:xfrm>
            <a:off x="1461300" y="220230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4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4000"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07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pensar</a:t>
            </a:r>
            <a:endParaRPr sz="3500" b="1" i="0" u="none" strike="noStrike" cap="non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6" name="Google Shape;506;p107"/>
          <p:cNvSpPr txBox="1"/>
          <p:nvPr/>
        </p:nvSpPr>
        <p:spPr>
          <a:xfrm>
            <a:off x="473350" y="1626100"/>
            <a:ext cx="77139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Pensando en ajedrez </a:t>
            </a:r>
            <a:endParaRPr sz="2500" b="0" i="0" u="none" strike="noStrike" cap="none">
              <a:solidFill>
                <a:srgbClr val="DEFC52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07" name="Google Shape;507;p107"/>
          <p:cNvSpPr txBox="1"/>
          <p:nvPr/>
        </p:nvSpPr>
        <p:spPr>
          <a:xfrm>
            <a:off x="473350" y="2195500"/>
            <a:ext cx="71694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Si tuviésemos que rellenar una grilla de 8x8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0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con números desde 1 a 64, </a:t>
            </a: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2500" b="1" i="0" u="none" strike="noStrike" cap="none">
                <a:solidFill>
                  <a:srgbClr val="B7B7B7"/>
                </a:solidFill>
                <a:latin typeface="DM Sans"/>
                <a:ea typeface="DM Sans"/>
                <a:cs typeface="DM Sans"/>
                <a:sym typeface="DM Sans"/>
              </a:rPr>
              <a:t>¿Cómo lo haríamos?</a:t>
            </a:r>
            <a:endParaRPr sz="2500" b="1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2500" b="0" i="0" u="none" strike="noStrike" cap="none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08" name="Google Shape;50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350" y="588416"/>
            <a:ext cx="870425" cy="8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08"/>
          <p:cNvSpPr txBox="1"/>
          <p:nvPr/>
        </p:nvSpPr>
        <p:spPr>
          <a:xfrm>
            <a:off x="547750" y="2178450"/>
            <a:ext cx="2856600" cy="7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Permite modificar la dimensión de un arreglo (siempre y cuando las dimensiones de salida están relacionadas con las de entrada)</a:t>
            </a: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4" name="Google Shape;514;p108"/>
          <p:cNvSpPr txBox="1"/>
          <p:nvPr/>
        </p:nvSpPr>
        <p:spPr>
          <a:xfrm flipH="1">
            <a:off x="3721250" y="42250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60125" y="1105925"/>
            <a:ext cx="5483874" cy="29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108"/>
          <p:cNvSpPr txBox="1"/>
          <p:nvPr/>
        </p:nvSpPr>
        <p:spPr>
          <a:xfrm>
            <a:off x="547750" y="3246100"/>
            <a:ext cx="30078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¿Que patrón curioso observan? </a:t>
            </a:r>
            <a:endParaRPr sz="1350" b="1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7" name="Google Shape;517;p108"/>
          <p:cNvSpPr txBox="1"/>
          <p:nvPr/>
        </p:nvSpPr>
        <p:spPr>
          <a:xfrm>
            <a:off x="547750" y="834250"/>
            <a:ext cx="62214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9"/>
          <p:cNvSpPr txBox="1"/>
          <p:nvPr/>
        </p:nvSpPr>
        <p:spPr>
          <a:xfrm>
            <a:off x="461600" y="1532725"/>
            <a:ext cx="67710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s" sz="1350" b="0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Permite modificar la dimensión de un arreglo, retornando otro con distinta dimensión y forma pero manteniendo los mismos elementos.</a:t>
            </a: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3" name="Google Shape;523;p109"/>
          <p:cNvSpPr txBox="1"/>
          <p:nvPr/>
        </p:nvSpPr>
        <p:spPr>
          <a:xfrm flipH="1">
            <a:off x="3721250" y="42250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09"/>
          <p:cNvSpPr txBox="1"/>
          <p:nvPr/>
        </p:nvSpPr>
        <p:spPr>
          <a:xfrm>
            <a:off x="673250" y="3264025"/>
            <a:ext cx="3938400" cy="646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Ajedrez_64 = np.arange(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).reshape(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8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b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Ajedrez_64</a:t>
            </a:r>
            <a:endParaRPr sz="12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25" name="Google Shape;525;p109"/>
          <p:cNvSpPr txBox="1"/>
          <p:nvPr/>
        </p:nvSpPr>
        <p:spPr>
          <a:xfrm>
            <a:off x="659150" y="2388575"/>
            <a:ext cx="2908500" cy="36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np.arange(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es" sz="1200" b="0" i="0" u="none" strike="noStrike" cap="none">
                <a:solidFill>
                  <a:srgbClr val="D36363"/>
                </a:solidFill>
                <a:latin typeface="Roboto Mono"/>
                <a:ea typeface="Roboto Mono"/>
                <a:cs typeface="Roboto Mono"/>
                <a:sym typeface="Roboto Mono"/>
              </a:rPr>
              <a:t>65</a:t>
            </a:r>
            <a:r>
              <a:rPr lang="es" sz="1200" b="0" i="0" u="none" strike="noStrike" cap="none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200" b="0" i="0" u="none" strike="noStrike" cap="none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26" name="Google Shape;526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750" y="2407025"/>
            <a:ext cx="30670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0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0100" y="2946524"/>
            <a:ext cx="4085600" cy="157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09"/>
          <p:cNvSpPr txBox="1"/>
          <p:nvPr/>
        </p:nvSpPr>
        <p:spPr>
          <a:xfrm>
            <a:off x="951250" y="4227925"/>
            <a:ext cx="3056400" cy="10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9" name="Google Shape;529;p109"/>
          <p:cNvSpPr txBox="1"/>
          <p:nvPr/>
        </p:nvSpPr>
        <p:spPr>
          <a:xfrm flipH="1">
            <a:off x="3872450" y="2326925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09"/>
          <p:cNvSpPr txBox="1"/>
          <p:nvPr/>
        </p:nvSpPr>
        <p:spPr>
          <a:xfrm flipH="1">
            <a:off x="4558250" y="3284700"/>
            <a:ext cx="568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9"/>
          <p:cNvSpPr txBox="1"/>
          <p:nvPr/>
        </p:nvSpPr>
        <p:spPr>
          <a:xfrm>
            <a:off x="517800" y="824425"/>
            <a:ext cx="62214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Reshape</a:t>
            </a: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10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lang="es" sz="4000" b="1" i="0" u="none" strike="noStrike" cap="none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4000" b="1" i="0" u="none" strike="noStrike" cap="none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s" sz="4000" b="1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7" name="Google Shape;537;p110"/>
          <p:cNvSpPr txBox="1"/>
          <p:nvPr/>
        </p:nvSpPr>
        <p:spPr>
          <a:xfrm>
            <a:off x="356550" y="1948875"/>
            <a:ext cx="4261800" cy="33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Introducción a NumPy y ndarrays, acceso e indexado.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básicas con ndarrays.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Agregaciones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vectorizada</a:t>
            </a:r>
            <a:b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Nociones básicas de Pandas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14325" algn="l" rtl="0"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Las estructuras de datos en Pandas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38" name="Google Shape;538;p110"/>
          <p:cNvSpPr txBox="1"/>
          <p:nvPr/>
        </p:nvSpPr>
        <p:spPr>
          <a:xfrm>
            <a:off x="5069900" y="2353875"/>
            <a:ext cx="3875100" cy="20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Series y Data Frames 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Selección de elementos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Operaciones con datos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Datos ausentes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1432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AFF6A"/>
              </a:buClr>
              <a:buSzPts val="1350"/>
              <a:buFont typeface="DM Sans"/>
              <a:buChar char="✓"/>
            </a:pPr>
            <a:r>
              <a:rPr lang="es" sz="135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Lectura de archivos con pandas</a:t>
            </a: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305685" y="2158410"/>
            <a:ext cx="8976538" cy="225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5400" dirty="0" smtClean="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Opina y valora esta clase</a:t>
            </a:r>
            <a:endParaRPr sz="5400" dirty="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2128" y="4698450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314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3"/>
          <p:cNvSpPr txBox="1"/>
          <p:nvPr/>
        </p:nvSpPr>
        <p:spPr>
          <a:xfrm>
            <a:off x="571500" y="2175175"/>
            <a:ext cx="64629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¡Muchas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6100">
                <a:solidFill>
                  <a:srgbClr val="260700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gracias!</a:t>
            </a:r>
            <a:endParaRPr sz="6100">
              <a:solidFill>
                <a:srgbClr val="260700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486" name="Google Shape;486;p63"/>
          <p:cNvSpPr txBox="1"/>
          <p:nvPr/>
        </p:nvSpPr>
        <p:spPr>
          <a:xfrm>
            <a:off x="571500" y="3792150"/>
            <a:ext cx="8001000" cy="9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2607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87" name="Google Shape;487;p63" title="Group 1321320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2950" y="4698450"/>
            <a:ext cx="1221826" cy="35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355586"/>
      </p:ext>
    </p:extLst>
  </p:cSld>
  <p:clrMapOvr>
    <a:masterClrMapping/>
  </p:clrMapOvr>
</p:sld>
</file>

<file path=ppt/theme/theme1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3914</TotalTime>
  <Words>1952</Words>
  <Application>Microsoft Office PowerPoint</Application>
  <PresentationFormat>Presentación en pantalla (16:9)</PresentationFormat>
  <Paragraphs>273</Paragraphs>
  <Slides>41</Slides>
  <Notes>41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41</vt:i4>
      </vt:variant>
    </vt:vector>
  </HeadingPairs>
  <TitlesOfParts>
    <vt:vector size="54" baseType="lpstr">
      <vt:lpstr>Helvetica Neue</vt:lpstr>
      <vt:lpstr>Helvetica Neue Light</vt:lpstr>
      <vt:lpstr>Plus Jakarta Sans ExtraBold</vt:lpstr>
      <vt:lpstr>Arial</vt:lpstr>
      <vt:lpstr>DM Sans</vt:lpstr>
      <vt:lpstr>Courier New</vt:lpstr>
      <vt:lpstr>Plus Jakarta Sans</vt:lpstr>
      <vt:lpstr>Consolas</vt:lpstr>
      <vt:lpstr>Roboto Mono</vt:lpstr>
      <vt:lpstr>Coder</vt:lpstr>
      <vt:lpstr>Coder</vt:lpstr>
      <vt:lpstr>Simple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Turi</cp:lastModifiedBy>
  <cp:revision>6</cp:revision>
  <dcterms:modified xsi:type="dcterms:W3CDTF">2026-05-01T15:06:16Z</dcterms:modified>
</cp:coreProperties>
</file>