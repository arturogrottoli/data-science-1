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56"/>
  </p:notesMasterIdLst>
  <p:sldIdLst>
    <p:sldId id="289" r:id="rId2"/>
    <p:sldId id="292" r:id="rId3"/>
    <p:sldId id="290" r:id="rId4"/>
    <p:sldId id="259" r:id="rId5"/>
    <p:sldId id="307" r:id="rId6"/>
    <p:sldId id="304" r:id="rId7"/>
    <p:sldId id="305" r:id="rId8"/>
    <p:sldId id="306" r:id="rId9"/>
    <p:sldId id="291" r:id="rId10"/>
    <p:sldId id="295" r:id="rId11"/>
    <p:sldId id="261" r:id="rId12"/>
    <p:sldId id="294" r:id="rId13"/>
    <p:sldId id="296" r:id="rId14"/>
    <p:sldId id="297" r:id="rId15"/>
    <p:sldId id="301" r:id="rId16"/>
    <p:sldId id="299" r:id="rId17"/>
    <p:sldId id="300" r:id="rId18"/>
    <p:sldId id="302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273" r:id="rId31"/>
    <p:sldId id="274" r:id="rId32"/>
    <p:sldId id="275" r:id="rId33"/>
    <p:sldId id="277" r:id="rId34"/>
    <p:sldId id="278" r:id="rId35"/>
    <p:sldId id="319" r:id="rId36"/>
    <p:sldId id="320" r:id="rId37"/>
    <p:sldId id="321" r:id="rId38"/>
    <p:sldId id="322" r:id="rId39"/>
    <p:sldId id="323" r:id="rId40"/>
    <p:sldId id="329" r:id="rId41"/>
    <p:sldId id="332" r:id="rId42"/>
    <p:sldId id="330" r:id="rId43"/>
    <p:sldId id="282" r:id="rId44"/>
    <p:sldId id="285" r:id="rId45"/>
    <p:sldId id="324" r:id="rId46"/>
    <p:sldId id="325" r:id="rId47"/>
    <p:sldId id="326" r:id="rId48"/>
    <p:sldId id="327" r:id="rId49"/>
    <p:sldId id="333" r:id="rId50"/>
    <p:sldId id="334" r:id="rId51"/>
    <p:sldId id="328" r:id="rId52"/>
    <p:sldId id="293" r:id="rId53"/>
    <p:sldId id="287" r:id="rId54"/>
    <p:sldId id="288" r:id="rId55"/>
  </p:sldIdLst>
  <p:sldSz cx="9144000" cy="5143500" type="screen16x9"/>
  <p:notesSz cx="6858000" cy="9144000"/>
  <p:embeddedFontLst>
    <p:embeddedFont>
      <p:font typeface="Plus Jakarta Sans ExtraBold" panose="020B0604020202020204" charset="0"/>
      <p:bold r:id="rId57"/>
      <p:boldItalic r:id="rId58"/>
    </p:embeddedFont>
    <p:embeddedFont>
      <p:font typeface="Plus Jakarta Sans" panose="020B0604020202020204" charset="0"/>
      <p:regular r:id="rId59"/>
      <p:bold r:id="rId60"/>
      <p:italic r:id="rId61"/>
      <p:boldItalic r:id="rId62"/>
    </p:embeddedFont>
    <p:embeddedFont>
      <p:font typeface="Helvetica Neue Light" panose="020B0604020202020204" charset="0"/>
      <p:regular r:id="rId63"/>
      <p:bold r:id="rId64"/>
      <p:italic r:id="rId65"/>
      <p:boldItalic r:id="rId66"/>
    </p:embeddedFont>
    <p:embeddedFont>
      <p:font typeface="DM Sans" panose="020B0604020202020204" charset="0"/>
      <p:regular r:id="rId67"/>
      <p:bold r:id="rId68"/>
      <p:italic r:id="rId69"/>
      <p:boldItalic r:id="rId70"/>
    </p:embeddedFont>
    <p:embeddedFont>
      <p:font typeface="Roboto Mono" panose="020B0604020202020204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615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b91f55cac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b91f55cac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983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719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442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926295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81325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98300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3667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8548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 Duración: 10 a 15 minutos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5304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45702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12767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061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690840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71228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1682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29860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9997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4749400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39104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2" name="Google Shape;58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92114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786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158915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813706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1" name="Google Shape;611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1397961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8" name="Google Shape;618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9053218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382080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“Para pensar”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crear encuestas de zoom? Disponible en </a:t>
            </a:r>
            <a:r>
              <a:rPr lang="es" u="sng">
                <a:solidFill>
                  <a:schemeClr val="accent5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generará </a:t>
            </a:r>
            <a:r>
              <a:rPr lang="es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encuesta de zoom</a:t>
            </a: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Sugerimos: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Char char="-"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 hay buena respuesta de este recurso, se recomienda utilizarlo de forma orgánica en más instancias de la clase.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4d19f05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2204d19f05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04d19f05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2204d19f05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0568a1c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220568a1c7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6222882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03785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04d19f05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2204d19f05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“Ejemplo en vivo”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docente realizará una tarea compartiendo la pantalla en vivo. Se centrará en los pasos y los aspectos a tener en cuenta.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04d19f05f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g2204d19f05f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53643a157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53643a157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5365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20568a1c71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220568a1c71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204d19f05f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204d19f05f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FF6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">
  <p:cSld name="Diseño personalizado 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FF6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diente">
  <p:cSld name="Gradient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title="Coder Facebook (6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75992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736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  <p:sldLayoutId id="2147483688" r:id="rId25"/>
    <p:sldLayoutId id="2147483689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8;p41"/>
          <p:cNvSpPr txBox="1"/>
          <p:nvPr/>
        </p:nvSpPr>
        <p:spPr>
          <a:xfrm>
            <a:off x="1494075" y="115090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UNIDAD 2 -  DATA SCIENCE I</a:t>
            </a:r>
            <a:endParaRPr sz="1600" b="1" i="0" u="none" strike="noStrike" cap="none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" name="Google Shape;117;p41"/>
          <p:cNvSpPr txBox="1"/>
          <p:nvPr/>
        </p:nvSpPr>
        <p:spPr>
          <a:xfrm>
            <a:off x="1461300" y="2252975"/>
            <a:ext cx="6221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Fundamentos de Python</a:t>
            </a:r>
            <a:endParaRPr sz="4000" b="1" i="0" u="none" strike="noStrike" cap="none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09890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/>
        </p:nvSpPr>
        <p:spPr>
          <a:xfrm>
            <a:off x="652525" y="1336525"/>
            <a:ext cx="3873300" cy="17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¡Esta clase va a ser     grabada!	</a:t>
            </a:r>
            <a:endParaRPr sz="48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4003875" y="1483250"/>
            <a:ext cx="228300" cy="228300"/>
          </a:xfrm>
          <a:prstGeom prst="ellipse">
            <a:avLst/>
          </a:prstGeom>
          <a:solidFill>
            <a:srgbClr val="FDA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335" y="988175"/>
            <a:ext cx="3175975" cy="31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31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 sobre la clase práctica en vivo anterior?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26595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4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de la clase</a:t>
            </a:r>
            <a:endParaRPr sz="3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9" name="Google Shape;13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588" y="1664901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4"/>
          <p:cNvSpPr txBox="1"/>
          <p:nvPr/>
        </p:nvSpPr>
        <p:spPr>
          <a:xfrm>
            <a:off x="2501699" y="1571213"/>
            <a:ext cx="46590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Realizar </a:t>
            </a: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primera aproximación al lenguaje de programación Python.</a:t>
            </a: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Conocer</a:t>
            </a: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las distintas formas de desarrollo con Python.</a:t>
            </a: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288" y="2298301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44"/>
          <p:cNvCxnSpPr>
            <a:stCxn id="139" idx="2"/>
            <a:endCxn id="141" idx="0"/>
          </p:cNvCxnSpPr>
          <p:nvPr/>
        </p:nvCxnSpPr>
        <p:spPr>
          <a:xfrm rot="-5400000" flipH="1">
            <a:off x="1864125" y="2079825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FF632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3" name="Google Shape;14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588" y="2947384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4"/>
          <p:cNvSpPr txBox="1"/>
          <p:nvPr/>
        </p:nvSpPr>
        <p:spPr>
          <a:xfrm>
            <a:off x="2501699" y="2764084"/>
            <a:ext cx="46590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Comprender</a:t>
            </a: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las nociones básicas de la programación estructurada.</a:t>
            </a: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45" name="Google Shape;145;p44"/>
          <p:cNvCxnSpPr>
            <a:endCxn id="143" idx="0"/>
          </p:cNvCxnSpPr>
          <p:nvPr/>
        </p:nvCxnSpPr>
        <p:spPr>
          <a:xfrm rot="-5400000" flipH="1">
            <a:off x="1819575" y="2684884"/>
            <a:ext cx="524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632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Programación en Python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33950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9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es la programación?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69"/>
          <p:cNvSpPr txBox="1"/>
          <p:nvPr/>
        </p:nvSpPr>
        <p:spPr>
          <a:xfrm>
            <a:off x="473350" y="1908175"/>
            <a:ext cx="40239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programación es una forma de ejecutar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algoritmo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algoritmo es una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secuencia de pasos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 lleva a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receta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un algoritmo.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se sigue el algoritmo, se llega al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6" name="Google Shape;24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200" y="1392175"/>
            <a:ext cx="2037075" cy="316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61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0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Programa y computadora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70"/>
          <p:cNvSpPr txBox="1"/>
          <p:nvPr/>
        </p:nvSpPr>
        <p:spPr>
          <a:xfrm>
            <a:off x="473350" y="1908175"/>
            <a:ext cx="38346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computadora nació para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resolver cálculos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programación es un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complemento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la computadora.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 una forma de que la computadora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entienda el funcionamiento de un algoritmo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lo ejecute.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70"/>
          <p:cNvSpPr txBox="1"/>
          <p:nvPr/>
        </p:nvSpPr>
        <p:spPr>
          <a:xfrm>
            <a:off x="5007700" y="1794275"/>
            <a:ext cx="30000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computadora entiende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ceros y unos (lenguaje binario)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nosotros no.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lo tanto, un programa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traduce un lenguaje humano a lenguaje binario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66019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1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Programación y lenguajes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71"/>
          <p:cNvSpPr txBox="1"/>
          <p:nvPr/>
        </p:nvSpPr>
        <p:spPr>
          <a:xfrm>
            <a:off x="473350" y="1908175"/>
            <a:ext cx="38346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 existe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solo lenguaje 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 solucione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los problemas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Cada lenguaje resuelve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conjunto de problemas posibles: 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Empresariales, Web, Ciencia, Salud, etc.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0" name="Google Shape;260;p71"/>
          <p:cNvGrpSpPr/>
          <p:nvPr/>
        </p:nvGrpSpPr>
        <p:grpSpPr>
          <a:xfrm>
            <a:off x="1433425" y="3651500"/>
            <a:ext cx="5886838" cy="1373575"/>
            <a:chOff x="1509625" y="3499100"/>
            <a:chExt cx="5886838" cy="1373575"/>
          </a:xfrm>
        </p:grpSpPr>
        <p:pic>
          <p:nvPicPr>
            <p:cNvPr id="261" name="Google Shape;261;p7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09625" y="3499100"/>
              <a:ext cx="931943" cy="931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7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79629" y="3499100"/>
              <a:ext cx="1196780" cy="931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7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43230" y="3499100"/>
              <a:ext cx="931944" cy="93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83452" y="3499100"/>
              <a:ext cx="575836" cy="931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71"/>
            <p:cNvSpPr txBox="1"/>
            <p:nvPr/>
          </p:nvSpPr>
          <p:spPr>
            <a:xfrm>
              <a:off x="1550488" y="4472463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Python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6" name="Google Shape;266;p71"/>
            <p:cNvSpPr txBox="1"/>
            <p:nvPr/>
          </p:nvSpPr>
          <p:spPr>
            <a:xfrm>
              <a:off x="3252913" y="4472450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R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7" name="Google Shape;267;p71"/>
            <p:cNvSpPr txBox="1"/>
            <p:nvPr/>
          </p:nvSpPr>
          <p:spPr>
            <a:xfrm>
              <a:off x="5084100" y="4472475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Julia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8" name="Google Shape;268;p71"/>
            <p:cNvSpPr txBox="1"/>
            <p:nvPr/>
          </p:nvSpPr>
          <p:spPr>
            <a:xfrm>
              <a:off x="6546263" y="4472475"/>
              <a:ext cx="85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000000"/>
                  </a:solidFill>
                  <a:highlight>
                    <a:srgbClr val="EAFF6A"/>
                  </a:highlight>
                  <a:latin typeface="DM Sans"/>
                  <a:ea typeface="DM Sans"/>
                  <a:cs typeface="DM Sans"/>
                  <a:sym typeface="DM Sans"/>
                </a:rPr>
                <a:t>Scala</a:t>
              </a:r>
              <a:endParaRPr sz="140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69" name="Google Shape;269;p71"/>
          <p:cNvSpPr txBox="1"/>
          <p:nvPr/>
        </p:nvSpPr>
        <p:spPr>
          <a:xfrm>
            <a:off x="4970750" y="1596300"/>
            <a:ext cx="3000000" cy="19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Data Science, existen algunos lenguajes que funcionan muy bien: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Python, R, Julia y Scala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son algunos de ellos.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\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864146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31422" y="1674851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usar Google </a:t>
            </a: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Collab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lang="es-MX" sz="4000" b="1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400690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4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 dirty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Google Colab</a:t>
            </a:r>
            <a:endParaRPr sz="4000" b="1" i="0" u="none" strike="noStrike" cap="none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5" name="Google Shape;365;p84"/>
          <p:cNvSpPr txBox="1"/>
          <p:nvPr/>
        </p:nvSpPr>
        <p:spPr>
          <a:xfrm>
            <a:off x="473350" y="19081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Permite trabajar en un entorno no local y la creación de Notebooks 🚀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84"/>
          <p:cNvSpPr txBox="1"/>
          <p:nvPr/>
        </p:nvSpPr>
        <p:spPr>
          <a:xfrm>
            <a:off x="4527575" y="1908175"/>
            <a:ext cx="38346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producto de Google Research. Está especialmente adecuado para tareas de aprendizaje automático, análisis de datos y educación.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Jupyter es el proyecto de código abierto en el que se basa Colab.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Nos permite compartir notebooks sin la necesidad de descargar ningún software extra.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código se ejecuta en una máquina virtual dedicada a tu cuenta y pueden eliminarse luego de cierto tiempo.</a:t>
            </a: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4211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6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" name="Google Shape;156;p46"/>
          <p:cNvSpPr txBox="1"/>
          <p:nvPr/>
        </p:nvSpPr>
        <p:spPr>
          <a:xfrm>
            <a:off x="473350" y="162610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podemos usar Google Colab como un entorno para programar lenguaje de Python?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¡Vamos a verl</a:t>
            </a: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</a:t>
            </a: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!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57" name="Google Shape;157;p46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158" name="Google Shape;158;p46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46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Nociones básicas: </a:t>
            </a:r>
            <a:r>
              <a:rPr lang="es-MX" sz="4000" b="1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Variable, asignación, expresiones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278014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9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Variables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94"/>
          <p:cNvSpPr txBox="1"/>
          <p:nvPr/>
        </p:nvSpPr>
        <p:spPr>
          <a:xfrm>
            <a:off x="473350" y="1908175"/>
            <a:ext cx="38346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variables se utilizan para almacenar información para ser referenciada y manipulada en un programa de computadora.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Proporcionan una forma de etiquetar los datos con un nombre descriptivo, para que los programas puedan ser entendidos con mayor claridad.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8" name="Google Shape;438;p94"/>
          <p:cNvSpPr txBox="1"/>
          <p:nvPr/>
        </p:nvSpPr>
        <p:spPr>
          <a:xfrm>
            <a:off x="4527575" y="1908175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útil pensar en las variables como contenedores de información.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 único propósito es etiquetar y almacenar datos en la memoria.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6929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9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Variables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44" name="Google Shape;444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6025" y="1205799"/>
            <a:ext cx="5411792" cy="325184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95"/>
          <p:cNvSpPr txBox="1"/>
          <p:nvPr/>
        </p:nvSpPr>
        <p:spPr>
          <a:xfrm>
            <a:off x="473350" y="1908175"/>
            <a:ext cx="2926200" cy="2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tipos de datos estándar o integrados de Python: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Numérico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Tipo de secuencia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Booleano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d)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Conjuntos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e)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Diccionario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587916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944840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7"/>
          <p:cNvSpPr txBox="1"/>
          <p:nvPr/>
        </p:nvSpPr>
        <p:spPr>
          <a:xfrm>
            <a:off x="3649500" y="1104863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6" name="Google Shape;456;p97"/>
          <p:cNvSpPr txBox="1"/>
          <p:nvPr/>
        </p:nvSpPr>
        <p:spPr>
          <a:xfrm>
            <a:off x="3649500" y="2211613"/>
            <a:ext cx="49872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Nombrar variables es una tarea compleja.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Cuando nombre variables, piense detenidamente en los nombres (Comprensible).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asignación de lleva a cabo por medio del símbolo =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nombre de la variable va a la izquierda y el valor que desea almacenar en la variable va a la derecha.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57" name="Google Shape;457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700" y="1993400"/>
            <a:ext cx="2982150" cy="1719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3401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9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3" name="Google Shape;463;p98"/>
          <p:cNvSpPr txBox="1"/>
          <p:nvPr/>
        </p:nvSpPr>
        <p:spPr>
          <a:xfrm>
            <a:off x="473350" y="1908175"/>
            <a:ext cx="3834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Reglas para asignación de variables en Python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nombre de una variable debe comenzar con una letra o el carácter de subrayado.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nombre de variable no puede comenzar con un número.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Un nombre de variable solo puede contener caracteres alfanuméricos y guiones bajos (A-z, 0-9 y _).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64" name="Google Shape;464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1600" y="3243950"/>
            <a:ext cx="3286551" cy="13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98"/>
          <p:cNvSpPr txBox="1"/>
          <p:nvPr/>
        </p:nvSpPr>
        <p:spPr>
          <a:xfrm>
            <a:off x="4527575" y="1908175"/>
            <a:ext cx="3834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nombres de las variables distinguen entre mayúsculas y minúsculas (nombre, Nombre y NOMBRE son tres variables diferentes).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palabras reservadas (palabras clave) no se pueden usar para nombrar la variable.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658025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596144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1"/>
          <p:cNvSpPr txBox="1"/>
          <p:nvPr/>
        </p:nvSpPr>
        <p:spPr>
          <a:xfrm>
            <a:off x="6652806" y="2264828"/>
            <a:ext cx="1685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REEMPLAZAR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IMAGEN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9" name="Google Shape;549;p111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0" name="Google Shape;55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11"/>
          <p:cNvSpPr txBox="1"/>
          <p:nvPr/>
        </p:nvSpPr>
        <p:spPr>
          <a:xfrm>
            <a:off x="549525" y="2192900"/>
            <a:ext cx="42342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 expresión es una combinación de operadores y operandos que se interpreta para producir algún otro valor.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cualquier lenguaje de programación, una expresión se evalúa según la precedencia de sus operadores.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2" name="Google Shape;552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4700" y="2092949"/>
            <a:ext cx="3601250" cy="18391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88105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12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8" name="Google Shape;558;p112"/>
          <p:cNvSpPr txBox="1"/>
          <p:nvPr/>
        </p:nvSpPr>
        <p:spPr>
          <a:xfrm>
            <a:off x="473350" y="19081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constantes: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son las expresiones que solo tienen valores constantes.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9" name="Google Shape;559;p112"/>
          <p:cNvSpPr txBox="1"/>
          <p:nvPr/>
        </p:nvSpPr>
        <p:spPr>
          <a:xfrm>
            <a:off x="473350" y="2721775"/>
            <a:ext cx="3704400" cy="56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1.3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 b="0" i="0" u="none" strike="noStrike" cap="none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0" name="Google Shape;560;p112"/>
          <p:cNvSpPr txBox="1"/>
          <p:nvPr/>
        </p:nvSpPr>
        <p:spPr>
          <a:xfrm>
            <a:off x="4993800" y="2827525"/>
            <a:ext cx="37044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16.3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1" name="Google Shape;561;p112"/>
          <p:cNvSpPr txBox="1"/>
          <p:nvPr/>
        </p:nvSpPr>
        <p:spPr>
          <a:xfrm>
            <a:off x="4367663" y="2758213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6478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13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7" name="Google Shape;567;p113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aritméticas: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una expresión aritmética es una combinación de valores numéricos, operadores y, a veces, paréntesis.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8" name="Google Shape;568;p113"/>
          <p:cNvSpPr txBox="1"/>
          <p:nvPr/>
        </p:nvSpPr>
        <p:spPr>
          <a:xfrm>
            <a:off x="769875" y="2799750"/>
            <a:ext cx="3704400" cy="1662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add = x +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 = x -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 = x *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 = x / y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9" name="Google Shape;569;p113"/>
          <p:cNvSpPr txBox="1"/>
          <p:nvPr/>
        </p:nvSpPr>
        <p:spPr>
          <a:xfrm>
            <a:off x="5567925" y="2994000"/>
            <a:ext cx="2806200" cy="86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52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28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480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3.3333333333333335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0" name="Google Shape;570;p113"/>
          <p:cNvSpPr txBox="1"/>
          <p:nvPr/>
        </p:nvSpPr>
        <p:spPr>
          <a:xfrm>
            <a:off x="4802988" y="3035838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63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14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p114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integrales: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este es el tipo de expresiones que producen solo resultados enteros después de todos los cálculos.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7" name="Google Shape;577;p114"/>
          <p:cNvSpPr txBox="1"/>
          <p:nvPr/>
        </p:nvSpPr>
        <p:spPr>
          <a:xfrm>
            <a:off x="958350" y="2874325"/>
            <a:ext cx="3704400" cy="100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12.0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 = a + </a:t>
            </a:r>
            <a:r>
              <a:rPr lang="es" sz="1050" b="0" i="0" u="none" strike="noStrike" cap="none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8" name="Google Shape;578;p114"/>
          <p:cNvSpPr txBox="1"/>
          <p:nvPr/>
        </p:nvSpPr>
        <p:spPr>
          <a:xfrm>
            <a:off x="5705850" y="3088375"/>
            <a:ext cx="24798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9" name="Google Shape;579;p114"/>
          <p:cNvSpPr txBox="1"/>
          <p:nvPr/>
        </p:nvSpPr>
        <p:spPr>
          <a:xfrm>
            <a:off x="4893388" y="3088363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665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5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115"/>
          <p:cNvSpPr txBox="1"/>
          <p:nvPr/>
        </p:nvSpPr>
        <p:spPr>
          <a:xfrm>
            <a:off x="473350" y="190817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Expresiones flotantes: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este es el tipo de expresiones que producen números de punto flotante como resultado de todos los cálculos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115"/>
          <p:cNvSpPr txBox="1"/>
          <p:nvPr/>
        </p:nvSpPr>
        <p:spPr>
          <a:xfrm>
            <a:off x="501375" y="2923975"/>
            <a:ext cx="3704400" cy="100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lang="es" sz="10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050" b="0" i="0" u="none" strike="noStrike" cap="none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 = a / b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7" name="Google Shape;587;p115"/>
          <p:cNvSpPr txBox="1"/>
          <p:nvPr/>
        </p:nvSpPr>
        <p:spPr>
          <a:xfrm>
            <a:off x="5271250" y="3199500"/>
            <a:ext cx="3343200" cy="35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2.6</a:t>
            </a:r>
            <a:endParaRPr sz="11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8" name="Google Shape;588;p115"/>
          <p:cNvSpPr txBox="1"/>
          <p:nvPr/>
        </p:nvSpPr>
        <p:spPr>
          <a:xfrm>
            <a:off x="4477438" y="3130188"/>
            <a:ext cx="43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153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Operadores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602693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17"/>
          <p:cNvSpPr txBox="1"/>
          <p:nvPr/>
        </p:nvSpPr>
        <p:spPr>
          <a:xfrm>
            <a:off x="3649500" y="1104863"/>
            <a:ext cx="4987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9" name="Google Shape;599;p117"/>
          <p:cNvSpPr txBox="1"/>
          <p:nvPr/>
        </p:nvSpPr>
        <p:spPr>
          <a:xfrm>
            <a:off x="3649500" y="2211613"/>
            <a:ext cx="4987200" cy="26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operadores permiten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trabajar sobre las variables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a la manera de las operaciones matemáticas.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Cada operador da un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resultado 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como salida.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Identificamos 4 tipo de operadores: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de asignaciones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marR="0" lvl="2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de identidad y pertinencia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0" name="Google Shape;600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50" y="1841125"/>
            <a:ext cx="3384901" cy="1122075"/>
          </a:xfrm>
          <a:prstGeom prst="rect">
            <a:avLst/>
          </a:prstGeom>
          <a:noFill/>
          <a:ln w="9525" cap="flat" cmpd="sng">
            <a:solidFill>
              <a:srgbClr val="E8E7E3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939734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18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6" name="Google Shape;606;p118"/>
          <p:cNvSpPr txBox="1"/>
          <p:nvPr/>
        </p:nvSpPr>
        <p:spPr>
          <a:xfrm>
            <a:off x="591600" y="1602125"/>
            <a:ext cx="4655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operadores aritméticos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son directamente operaciones matemáticas estándar.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07" name="Google Shape;607;p118"/>
          <p:cNvGraphicFramePr/>
          <p:nvPr/>
        </p:nvGraphicFramePr>
        <p:xfrm>
          <a:off x="910338" y="2292870"/>
          <a:ext cx="4405800" cy="23421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1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Aritméticos</a:t>
                      </a:r>
                      <a:endParaRPr sz="11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+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Suma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-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Resta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Multiplicación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/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División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//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División entera (resultado sin decimal)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%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Módulo (resto de la división entera)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** 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Exponenciación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-a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Negativo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08" name="Google Shape;608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576" y="1565175"/>
            <a:ext cx="3203875" cy="2880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544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19"/>
          <p:cNvSpPr txBox="1"/>
          <p:nvPr/>
        </p:nvSpPr>
        <p:spPr>
          <a:xfrm>
            <a:off x="457725" y="1071050"/>
            <a:ext cx="4730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asignaciones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4" name="Google Shape;614;p119"/>
          <p:cNvSpPr txBox="1"/>
          <p:nvPr/>
        </p:nvSpPr>
        <p:spPr>
          <a:xfrm>
            <a:off x="457725" y="2387175"/>
            <a:ext cx="47301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asignadores simplifican operadores aritméticos comunes.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15" name="Google Shape;615;p119"/>
          <p:cNvGraphicFramePr/>
          <p:nvPr/>
        </p:nvGraphicFramePr>
        <p:xfrm>
          <a:off x="5223138" y="1333563"/>
          <a:ext cx="3325100" cy="27113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7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Asignaciones</a:t>
                      </a:r>
                      <a:endParaRPr sz="13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+=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+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-=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-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*=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*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/=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/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//=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//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%=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%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**=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 a **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226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20"/>
          <p:cNvSpPr/>
          <p:nvPr/>
        </p:nvSpPr>
        <p:spPr>
          <a:xfrm>
            <a:off x="0" y="0"/>
            <a:ext cx="25251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20"/>
          <p:cNvSpPr txBox="1"/>
          <p:nvPr/>
        </p:nvSpPr>
        <p:spPr>
          <a:xfrm>
            <a:off x="3649500" y="1104863"/>
            <a:ext cx="4987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comparación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2" name="Google Shape;622;p120"/>
          <p:cNvSpPr txBox="1"/>
          <p:nvPr/>
        </p:nvSpPr>
        <p:spPr>
          <a:xfrm>
            <a:off x="3649500" y="2353800"/>
            <a:ext cx="47505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comparadores dan resultados lógicos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(si/no, true/false)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23" name="Google Shape;623;p120"/>
          <p:cNvGraphicFramePr/>
          <p:nvPr/>
        </p:nvGraphicFramePr>
        <p:xfrm>
          <a:off x="538050" y="1406026"/>
          <a:ext cx="2751800" cy="22114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9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Comparadores</a:t>
                      </a:r>
                      <a:endParaRPr sz="12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==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igual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!=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distinto de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&lt;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menor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&gt;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mayor a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&lt;=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menor o igual que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&gt;=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mayor o igual que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523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21"/>
          <p:cNvSpPr txBox="1"/>
          <p:nvPr/>
        </p:nvSpPr>
        <p:spPr>
          <a:xfrm>
            <a:off x="492850" y="905575"/>
            <a:ext cx="47301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Operadores de identidad y pertenencia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9" name="Google Shape;629;p121"/>
          <p:cNvSpPr txBox="1"/>
          <p:nvPr/>
        </p:nvSpPr>
        <p:spPr>
          <a:xfrm>
            <a:off x="457725" y="2750100"/>
            <a:ext cx="47301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operadores de identidad y pertenencia verifican relaciones entre objetos.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Dentro de esta categoría, los operadores “in”, como casos particulares, buscan objetos dentro de listas. ¡Son muy útiles!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30" name="Google Shape;630;p121"/>
          <p:cNvGraphicFramePr/>
          <p:nvPr/>
        </p:nvGraphicFramePr>
        <p:xfrm>
          <a:off x="5604813" y="1843363"/>
          <a:ext cx="3281825" cy="153179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8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0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Identidad y pertenencia</a:t>
                      </a:r>
                      <a:endParaRPr sz="120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is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es el mismo objeto que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is not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 es el mismo objeto que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in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está contenido en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not in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 no está contenido en b</a:t>
                      </a:r>
                      <a:endParaRPr sz="11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295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8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58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Examinemos un poco lo que se conoce como estructuras de control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minutos</a:t>
            </a: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39" name="Google Shape;239;p58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40" name="Google Shape;240;p5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" name="Google Shape;241;p58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59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247" name="Google Shape;247;p59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8" name="Google Shape;248;p59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59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pensar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" name="Google Shape;250;p59"/>
          <p:cNvSpPr txBox="1"/>
          <p:nvPr/>
        </p:nvSpPr>
        <p:spPr>
          <a:xfrm>
            <a:off x="473375" y="1463525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diferencia hay entre usar and/or? ¿Que significa el operador %?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1" name="Google Shape;251;p59"/>
          <p:cNvSpPr txBox="1"/>
          <p:nvPr/>
        </p:nvSpPr>
        <p:spPr>
          <a:xfrm>
            <a:off x="6466725" y="3431675"/>
            <a:ext cx="1884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Contesta mediante el chat de Zoom </a:t>
            </a:r>
            <a:endParaRPr sz="2000" b="0" i="0" u="none" strike="noStrike" cap="none">
              <a:solidFill>
                <a:srgbClr val="83AEF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2" name="Google Shape;25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551" y="2372225"/>
            <a:ext cx="5906101" cy="21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2"/>
          <p:cNvSpPr txBox="1"/>
          <p:nvPr/>
        </p:nvSpPr>
        <p:spPr>
          <a:xfrm>
            <a:off x="1461288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Estructuras de control</a:t>
            </a:r>
            <a:endParaRPr sz="400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3"/>
          <p:cNvSpPr txBox="1"/>
          <p:nvPr/>
        </p:nvSpPr>
        <p:spPr>
          <a:xfrm>
            <a:off x="237275" y="647100"/>
            <a:ext cx="7884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son y para qué sirven?</a:t>
            </a:r>
            <a:endParaRPr sz="4000" b="1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4" name="Google Shape;274;p63"/>
          <p:cNvSpPr txBox="1"/>
          <p:nvPr/>
        </p:nvSpPr>
        <p:spPr>
          <a:xfrm>
            <a:off x="592850" y="1916500"/>
            <a:ext cx="3760200" cy="18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estructuras de control sirven para</a:t>
            </a:r>
            <a:r>
              <a:rPr lang="es" sz="1350" b="1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dar claridad y orden al código. </a:t>
            </a:r>
            <a:endParaRPr sz="1350" b="1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 hay que hacer operaciones repetitivas, estas estructuras nos ayudan a organizarlas.</a:t>
            </a:r>
            <a:endParaRPr sz="135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5" name="Google Shape;275;p63"/>
          <p:cNvSpPr txBox="1"/>
          <p:nvPr/>
        </p:nvSpPr>
        <p:spPr>
          <a:xfrm>
            <a:off x="4624450" y="1857500"/>
            <a:ext cx="4059300" cy="25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Las estructuras de control más comunes son: 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For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While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If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👉 Switch (Otros lenguajes e.g 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Condicionales: if / elif /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A1A1A"/>
                </a:solidFill>
                <a:latin typeface="Plus Jakarta Sans"/>
              </a:rPr>
              <a:t>¿Para </a:t>
            </a:r>
            <a:r>
              <a:rPr sz="1500" b="1" dirty="0" err="1">
                <a:solidFill>
                  <a:srgbClr val="1A1A1A"/>
                </a:solidFill>
                <a:latin typeface="Plus Jakarta Sans"/>
              </a:rPr>
              <a:t>qué</a:t>
            </a:r>
            <a:r>
              <a:rPr sz="15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lus Jakarta Sans"/>
              </a:rPr>
              <a:t>sirven</a:t>
            </a:r>
            <a:r>
              <a:rPr sz="1500" b="1" dirty="0">
                <a:solidFill>
                  <a:srgbClr val="1A1A1A"/>
                </a:solidFill>
                <a:latin typeface="Plus Jakarta Sans"/>
              </a:rPr>
              <a:t>?</a:t>
            </a:r>
          </a:p>
          <a:p>
            <a:pPr algn="l"/>
            <a:endParaRPr sz="150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 dirty="0" err="1">
                <a:solidFill>
                  <a:srgbClr val="1A1A1A"/>
                </a:solidFill>
                <a:latin typeface="Plus Jakarta Sans"/>
              </a:rPr>
              <a:t>Permiten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que el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programa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tome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decisiones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: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ejecutar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distintas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instrucciones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según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si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una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condición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verdadera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o falsa.</a:t>
            </a:r>
          </a:p>
          <a:p>
            <a:pPr algn="l"/>
            <a:endParaRPr sz="13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 dirty="0" err="1">
                <a:solidFill>
                  <a:srgbClr val="1A1A1A"/>
                </a:solidFill>
                <a:latin typeface="Plus Jakarta Sans"/>
              </a:rPr>
              <a:t>Sintaxis</a:t>
            </a:r>
            <a:r>
              <a:rPr sz="1400" b="1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endParaRPr sz="140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if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condición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bloque_si_verdad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 err="1">
                <a:solidFill>
                  <a:srgbClr val="1A1A1A"/>
                </a:solidFill>
                <a:latin typeface="Plus Jakarta Sans"/>
              </a:rPr>
              <a:t>elif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otra_condición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bloque_alternativo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else:</a:t>
            </a: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   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bloque_por_defecto</a:t>
            </a:r>
            <a:endParaRPr sz="1300" b="0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7639" y="1127051"/>
            <a:ext cx="4937760" cy="36735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20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13: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un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niño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18: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adolescente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65: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Eres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adulto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")  # ←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se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ejecuta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Adulto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mayor")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Data Science: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clasificar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outliers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valor = 150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umbral = 100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valor &gt; umbral * 1.5: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outlier_alto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valor &lt; umbral * 0.5: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outlier_bajo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"normal"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f"Valor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{valor} →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Condicionales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combinando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condiciones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Operadores lógicos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Permiten combinar varias condiciones en una sola expresión: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and  →  ambas deben ser True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or   →  al menos una True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not  →  invierte el resultado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Tip Data Science: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Usá if/elif para limpiar datos, etiquetar rangos o filtrar filas antes de analizar.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8" y="713232"/>
            <a:ext cx="5081301" cy="4270248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Validar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rango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de un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37.5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humedad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80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 36 and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38: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"normal"</a:t>
            </a: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temperatura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&gt;= 38 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humedad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&gt; 90: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alerta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revisar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estado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columna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(Data Science)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pd.DataFrame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({"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": [10, 250, 80, 1500</a:t>
            </a:r>
            <a:r>
              <a:rPr sz="1050" b="0" dirty="0" smtClean="0">
                <a:solidFill>
                  <a:srgbClr val="1C1C2E"/>
                </a:solidFill>
                <a:latin typeface="Roboto Mono"/>
              </a:rPr>
              <a:t>]})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def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(p):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p &lt; 50: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bajo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elif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p &lt; 200: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medio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else: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return "alto"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["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categoria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"] =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["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"].apply(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etiquetar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26474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Bucle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for: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iterar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sobre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secuencias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¿Cuándo usar for?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Cuando sabemos cuántas veces queremos repetir o cuando iteramos sobre una colección (lista, rango, DataFrame…)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Sintaxis: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for  variable  in  secuencia: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    bloque_a_repetir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Funciones útiles: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range(n)  →  0 hasta n-1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enumerate()  →  índice + valor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zip()  →  iterar dos listas juntas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325880"/>
            <a:ext cx="493776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Iterar una lista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frutas = ["manzana", "banana", "naranja"]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fruta in frutas: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print(f"Me gusta la {fruta}")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range() – repetir N veces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i in range(5):      # 0, 1, 2, 3, 4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print(f"Paso {i}")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enumerate() – índice y valor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i, fruta in enumerate(frutas):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print(f"{i}: {fruta}")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Ejemplo Data Science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precios = [200, 225, 232, 221, 243, 256, 255]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dias    = ["Lun","Mar","Mié","Jue","Vie","Sáb","Dom"]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dia, precio in zip(dias, precios):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precio &gt; 240: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print(f"{dia}: {precio} ← precio alto")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else: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print(f"{dia}: {precio}")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051" y="98883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Bucle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while + break y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while – repetir mientras...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Útil cuando no sabemos cuántas iteraciones necesitamos. Se repite mientras la condición sea True.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break y continue: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break  →  sale del bucle inmediatamente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continue  →  salta al siguiente ciclo</a:t>
            </a:r>
          </a:p>
          <a:p>
            <a:pPr algn="l"/>
            <a:endParaRPr sz="12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200" b="0">
                <a:solidFill>
                  <a:srgbClr val="1A1A1A"/>
                </a:solidFill>
                <a:latin typeface="Plus Jakarta Sans"/>
              </a:rPr>
              <a:t>⚠️ Cuidado: un while sin condición de salida genera un bucle infinito.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712381"/>
            <a:ext cx="4937760" cy="427109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while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básico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0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while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&lt; 5: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contador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+= 1       # ¡no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olvidar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!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break –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salir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al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encontrar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algo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numeros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[3, 7, 1, 9, 4, 6]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n in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numeros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n == 9: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f"Encontré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el 9,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paro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.")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break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print(n</a:t>
            </a:r>
            <a:r>
              <a:rPr sz="1050" b="0" dirty="0" smtClean="0">
                <a:solidFill>
                  <a:srgbClr val="1C1C2E"/>
                </a:solidFill>
                <a:latin typeface="Roboto Mono"/>
              </a:rPr>
              <a:t>)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continue –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saltear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impares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in range(10):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% 2 != 0: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continue        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salta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impares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)            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imprime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solo pares</a:t>
            </a:r>
          </a:p>
          <a:p>
            <a:pPr algn="l"/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Caso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real: leer hasta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encontrar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NaN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5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 dirty="0" err="1">
                <a:solidFill>
                  <a:srgbClr val="1C1C2E"/>
                </a:solidFill>
                <a:latin typeface="Roboto Mono"/>
              </a:rPr>
              <a:t>datos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= [10, 20, None, 30]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for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in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datos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if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is None: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print("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Dato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faltante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, 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deteniendo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.")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    break</a:t>
            </a:r>
          </a:p>
          <a:p>
            <a:pPr algn="l"/>
            <a:r>
              <a:rPr sz="1050" b="0" dirty="0">
                <a:solidFill>
                  <a:srgbClr val="1C1C2E"/>
                </a:solidFill>
                <a:latin typeface="Roboto Mono"/>
              </a:rPr>
              <a:t>    print(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f"Procesando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: {</a:t>
            </a:r>
            <a:r>
              <a:rPr sz="1050" b="0" dirty="0" err="1">
                <a:solidFill>
                  <a:srgbClr val="1C1C2E"/>
                </a:solidFill>
                <a:latin typeface="Roboto Mono"/>
              </a:rPr>
              <a:t>val</a:t>
            </a:r>
            <a:r>
              <a:rPr sz="1050" b="0" dirty="0">
                <a:solidFill>
                  <a:srgbClr val="1C1C2E"/>
                </a:solidFill>
                <a:latin typeface="Roboto Mono"/>
              </a:rPr>
              <a:t>}")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Bucles en análisis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¿Cuándo combinar bucles e if?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Al procesar datasets: recorrer filas, validar valores, clasificar registros, calcular estadísticas por grupo.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Nota: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Plus Jakarta Sans"/>
              </a:rPr>
              <a:t>En Pandas, las operaciones vectorizadas son más rápidas que los bucles. Usamos for para entender la lógica; luego lo optimizamos con .apply() o .map().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325880"/>
            <a:ext cx="493776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Calcular estadísticas con un for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valores = [200, 225, 232, 221, 243, 256, 255]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total   = 0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maximo  = valores[0]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minimo  = valores[0]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for v in valores: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total += v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v &gt; maximo: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maximo = v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if v &lt; minimo: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minimo = v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promedio = total / len(valores)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print(f"Promedio : {promedio:.2f}")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print(f"Máximo   : {maximo}")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print(f"Mínimo   : {minimo}")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Equivalente en Pandas (más eficiente)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pandas as pd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s = pd.Series(valores)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print(s.describe())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1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" sz="5000" b="0" i="0" u="none" strike="noStrike" cap="non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sz="5000" b="0" i="0" u="none" strike="noStrike" cap="non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Break</a:t>
            </a:r>
            <a:endParaRPr sz="400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3" name="Google Shape;263;p61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¡10 minutos y volvemos!</a:t>
            </a:r>
            <a:endParaRPr sz="20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1376243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588891" y="1696116"/>
            <a:ext cx="62214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Funciones</a:t>
            </a:r>
            <a:endParaRPr lang="es-MX" sz="4000" b="1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462308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A1A1A"/>
                </a:solidFill>
                <a:latin typeface="Plus Jakarta Sans"/>
              </a:rPr>
              <a:t>¿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Qué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lang="es-MX" sz="4000" b="1" dirty="0" smtClean="0">
                <a:solidFill>
                  <a:srgbClr val="1A1A1A"/>
                </a:solidFill>
                <a:latin typeface="Plus Jakarta Sans"/>
              </a:rPr>
              <a:t>son las funciones</a:t>
            </a:r>
            <a:r>
              <a:rPr sz="4000" b="1" dirty="0" smtClean="0">
                <a:solidFill>
                  <a:srgbClr val="1A1A1A"/>
                </a:solidFill>
                <a:latin typeface="Plus Jakarta Sans"/>
              </a:rPr>
              <a:t>?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688990" y="1188295"/>
            <a:ext cx="6806963" cy="362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/>
              <a:t>Una función en Python es un bloque de código reutilizable que realiza una tarea específica.</a:t>
            </a:r>
            <a:br>
              <a:rPr lang="es-MX" sz="1200" dirty="0"/>
            </a:br>
            <a:r>
              <a:rPr lang="es-MX" sz="1200" dirty="0"/>
              <a:t>Permite organizar el programa, evitar repeticiones y facilitar su lectura y mantenimiento</a:t>
            </a:r>
            <a:r>
              <a:rPr lang="es-MX" sz="1200" dirty="0" smtClean="0"/>
              <a:t>.</a:t>
            </a: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sz="135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567353" y="3764919"/>
            <a:ext cx="6806963" cy="411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smtClean="0"/>
              <a:t>-Define </a:t>
            </a:r>
            <a:r>
              <a:rPr lang="es-MX" sz="1200" dirty="0"/>
              <a:t>una función llamada saludar que recibe un nombre</a:t>
            </a:r>
          </a:p>
          <a:p>
            <a:r>
              <a:rPr lang="es-MX" sz="1200" dirty="0" smtClean="0"/>
              <a:t>-Devuelve </a:t>
            </a:r>
            <a:r>
              <a:rPr lang="es-MX" sz="1200" dirty="0"/>
              <a:t>un saludo personalizado</a:t>
            </a:r>
          </a:p>
          <a:p>
            <a:r>
              <a:rPr lang="es-MX" sz="1200" dirty="0" smtClean="0"/>
              <a:t>-Luego </a:t>
            </a:r>
            <a:r>
              <a:rPr lang="es-MX" sz="1200" dirty="0"/>
              <a:t>se ejecuta la función con "Juan"</a:t>
            </a:r>
          </a:p>
          <a:p>
            <a:r>
              <a:rPr lang="es-MX" sz="1200" dirty="0" smtClean="0"/>
              <a:t>-Se </a:t>
            </a:r>
            <a:r>
              <a:rPr lang="es-MX" sz="1200" dirty="0"/>
              <a:t>muestra el resultado</a:t>
            </a: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>
              <a:solidFill>
                <a:srgbClr val="1A1A1A"/>
              </a:solidFill>
              <a:latin typeface="Plus Jakarta Sans"/>
            </a:endParaRPr>
          </a:p>
          <a:p>
            <a:endParaRPr lang="es-MX" sz="1200" b="1" dirty="0" smtClean="0">
              <a:solidFill>
                <a:srgbClr val="1A1A1A"/>
              </a:solidFill>
              <a:latin typeface="Plus Jakarta Sans"/>
            </a:endParaRPr>
          </a:p>
          <a:p>
            <a:endParaRPr sz="1350" b="1" dirty="0">
              <a:solidFill>
                <a:srgbClr val="1A1A1A"/>
              </a:solidFill>
              <a:latin typeface="Plus Jakarta Sans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782" y="1859914"/>
            <a:ext cx="2610214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653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en vivo</a:t>
            </a:r>
            <a:endParaRPr sz="35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" name="Google Shape;309;p67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el uso de funciones permite resolver 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problema real?</a:t>
            </a:r>
            <a:endParaRPr sz="2500" b="0" i="0" u="none" strike="noStrike" cap="non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minutos</a:t>
            </a:r>
            <a:endParaRPr sz="2500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10" name="Google Shape;310;p67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11" name="Google Shape;311;p6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2" name="Google Shape;312;p6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2"/>
          <p:cNvSpPr txBox="1"/>
          <p:nvPr/>
        </p:nvSpPr>
        <p:spPr>
          <a:xfrm>
            <a:off x="1461288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Visualización con Plotly</a:t>
            </a:r>
            <a:endParaRPr sz="400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¿Qué es Plotly?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lus Jakarta Sans"/>
              </a:rPr>
              <a:t>Librería de visualización interactiva</a:t>
            </a:r>
          </a:p>
          <a:p>
            <a:pPr algn="l"/>
            <a:endParaRPr sz="15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Plotly genera gráficos interactivos (zoom, hover, exportar) directamente en el navegador o en Jupyter/Colab.</a:t>
            </a:r>
          </a:p>
          <a:p>
            <a:pPr algn="l"/>
            <a:endParaRPr sz="135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>
                <a:solidFill>
                  <a:srgbClr val="1A1A1A"/>
                </a:solidFill>
                <a:latin typeface="Plus Jakarta Sans"/>
              </a:rPr>
              <a:t>Plotly Express (px)</a:t>
            </a:r>
          </a:p>
          <a:p>
            <a:pPr algn="l"/>
            <a:endParaRPr sz="1400" b="1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Plus Jakarta Sans"/>
              </a:rPr>
              <a:t>La interfaz de alto nivel de Plotly. Con una sola línea creás gráficos listos para presentar.</a:t>
            </a:r>
          </a:p>
          <a:p>
            <a:pPr algn="l"/>
            <a:endParaRPr sz="1300" b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>
                <a:solidFill>
                  <a:srgbClr val="1A1A1A"/>
                </a:solidFill>
                <a:latin typeface="Plus Jakarta Sans"/>
              </a:rPr>
              <a:t>Tipos de gráficos: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px.line()  →  series temporales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px.bar()   →  comparación por categoría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px.scatter()  →  relación entre variables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px.histogram()  →  distribuciones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Plus Jakarta Sans"/>
              </a:rPr>
              <a:t>px.box()  →  outliers y dispersión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60" y="1325880"/>
            <a:ext cx="4663440" cy="365760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Instalar (si no está disponible)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!pip install plotly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plotly.express as px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import pandas as pd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Datos de ejemplo: temperatura diaria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df = pd.DataFrame({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"dia"  : ["Lun","Mar","Mié",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           "Jue","Vie","Sáb","Dom"],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"temp" : [22, 25, 23, 27, 30, 28, 24],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"lluvia": [0, 0, 5, 0, 0, 10, 3]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})</a:t>
            </a:r>
          </a:p>
          <a:p>
            <a:pPr algn="l"/>
            <a:endParaRPr sz="1050" b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# Gráfico de línea interactivo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fig = px.line(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df,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x="dia", y="temp",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title="Temperatura semanal",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    markers=True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)</a:t>
            </a:r>
          </a:p>
          <a:p>
            <a:pPr algn="l"/>
            <a:r>
              <a:rPr sz="1050" b="0">
                <a:solidFill>
                  <a:srgbClr val="1C1C2E"/>
                </a:solidFill>
                <a:latin typeface="Roboto Mono"/>
              </a:rPr>
              <a:t>fig.show()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2679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Plotly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Express: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gráficos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frecuentes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Plus Jakarta Sans"/>
              </a:rPr>
              <a:t>Comparar y explorar datos con pocas líneas: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75911"/>
            <a:ext cx="8595360" cy="4061849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bIns="73152" rtlCol="0" anchor="ctr"/>
          <a:lstStyle/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import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plotly.express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as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import pandas as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pd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Dataset de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acciones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pd.DataFrame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({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: ["AAPL","AAPL","GOOG","GOOG","AMZN","AMZN"],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": ["Q1","Q2","Q1","Q2","Q1","Q2"],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 : [150, 165, 2800, 2950, 3300, 3450],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 : [1.2, 1.5, 0.8, 0.9, 1.0, 1.1]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})</a:t>
            </a: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Barras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agrupadas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fig1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px.bar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, x="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y="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color="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barmode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="group",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title="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por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y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trimestre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")</a:t>
            </a:r>
          </a:p>
          <a:p>
            <a:pPr algn="l"/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Scatter con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tamaño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variable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fig2 =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px.scatter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(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df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, x="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y="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color="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 size="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hover_name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empresa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              title="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Precio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vs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Volumen</a:t>
            </a:r>
            <a:r>
              <a:rPr sz="1000" b="0" dirty="0" smtClean="0">
                <a:solidFill>
                  <a:srgbClr val="1C1C2E"/>
                </a:solidFill>
                <a:latin typeface="Roboto Mono"/>
              </a:rPr>
              <a:t>")</a:t>
            </a:r>
            <a:endParaRPr sz="1000" b="0" dirty="0">
              <a:solidFill>
                <a:srgbClr val="1C1C2E"/>
              </a:solidFill>
              <a:latin typeface="Roboto Mono"/>
            </a:endParaRP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#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Personalizar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 layout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fig1.update_layout(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font_family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="sans-serif",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    </a:t>
            </a:r>
            <a:r>
              <a:rPr sz="1000" b="0" dirty="0" err="1">
                <a:solidFill>
                  <a:srgbClr val="1C1C2E"/>
                </a:solidFill>
                <a:latin typeface="Roboto Mono"/>
              </a:rPr>
              <a:t>plot_bgcolor</a:t>
            </a:r>
            <a:r>
              <a:rPr sz="1000" b="0" dirty="0">
                <a:solidFill>
                  <a:srgbClr val="1C1C2E"/>
                </a:solidFill>
                <a:latin typeface="Roboto Mono"/>
              </a:rPr>
              <a:t>="white"</a:t>
            </a:r>
          </a:p>
          <a:p>
            <a:pPr algn="l"/>
            <a:r>
              <a:rPr sz="1000" b="0" dirty="0">
                <a:solidFill>
                  <a:srgbClr val="1C1C2E"/>
                </a:solidFill>
                <a:latin typeface="Roboto Mono"/>
              </a:rPr>
              <a:t>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lus Jakarta Sans"/>
              </a:rPr>
              <a:t>Tipos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gráficos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con </a:t>
            </a:r>
            <a:r>
              <a:rPr sz="4000" b="1" dirty="0" err="1">
                <a:solidFill>
                  <a:srgbClr val="1A1A1A"/>
                </a:solidFill>
                <a:latin typeface="Plus Jakarta Sans"/>
              </a:rPr>
              <a:t>Plotly</a:t>
            </a:r>
            <a:r>
              <a:rPr sz="4000" b="1" dirty="0">
                <a:solidFill>
                  <a:srgbClr val="1A1A1A"/>
                </a:solidFill>
                <a:latin typeface="Plus Jakarta Sans"/>
              </a:rPr>
              <a:t>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9390" y="70988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dirty="0" err="1">
                <a:solidFill>
                  <a:srgbClr val="1A1A1A"/>
                </a:solidFill>
                <a:latin typeface="Plus Jakarta Sans"/>
              </a:rPr>
              <a:t>Tipo</a:t>
            </a:r>
            <a:endParaRPr sz="1350" b="1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35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px.line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Series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temporales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tendencias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px.bar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Comparar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categorías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/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grupos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px.scatter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Relación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entre dos variables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px.histogram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Distribución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una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variable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px.box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Outliers,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mediana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cuartiles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px.heatmap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 / </a:t>
            </a:r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px.imshow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Correlaciones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entre variables</a:t>
            </a: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px.pie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()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Proporciones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(con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moderación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4000" b="1" dirty="0" smtClean="0">
                <a:solidFill>
                  <a:srgbClr val="1A1A1A"/>
                </a:solidFill>
                <a:latin typeface="Plus Jakarta Sans"/>
              </a:rPr>
              <a:t>Como se ven los </a:t>
            </a:r>
            <a:r>
              <a:rPr lang="es-MX" sz="4000" b="1" dirty="0" err="1" smtClean="0">
                <a:solidFill>
                  <a:srgbClr val="1A1A1A"/>
                </a:solidFill>
                <a:latin typeface="Plus Jakarta Sans"/>
              </a:rPr>
              <a:t>graficos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33" y="975659"/>
            <a:ext cx="5129481" cy="398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493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8161"/>
            <a:ext cx="9065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4000" b="1" dirty="0" smtClean="0">
                <a:solidFill>
                  <a:srgbClr val="1A1A1A"/>
                </a:solidFill>
                <a:latin typeface="Plus Jakarta Sans"/>
              </a:rPr>
              <a:t>Como se ven los </a:t>
            </a:r>
            <a:r>
              <a:rPr lang="es-MX" sz="4000" b="1" dirty="0" err="1" smtClean="0">
                <a:solidFill>
                  <a:srgbClr val="1A1A1A"/>
                </a:solidFill>
                <a:latin typeface="Plus Jakarta Sans"/>
              </a:rPr>
              <a:t>graficos</a:t>
            </a:r>
            <a:endParaRPr sz="4000" b="1" dirty="0">
              <a:solidFill>
                <a:srgbClr val="1A1A1A"/>
              </a:solidFill>
              <a:latin typeface="Plus Jakarta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23" y="849083"/>
            <a:ext cx="5628100" cy="396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534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502920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lus Jakarta Sans"/>
              </a:rPr>
              <a:t>NumPy: arreglos y operaciones vectorizadas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10655" y="1137684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dirty="0">
                <a:solidFill>
                  <a:srgbClr val="1A1A1A"/>
                </a:solidFill>
                <a:latin typeface="Plus Jakarta Sans"/>
              </a:rPr>
              <a:t>¿</a:t>
            </a:r>
            <a:r>
              <a:rPr sz="1450" b="1" dirty="0" err="1">
                <a:solidFill>
                  <a:srgbClr val="1A1A1A"/>
                </a:solidFill>
                <a:latin typeface="Plus Jakarta Sans"/>
              </a:rPr>
              <a:t>Qué</a:t>
            </a:r>
            <a:r>
              <a:rPr sz="145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lus Jakarta Sans"/>
              </a:rPr>
              <a:t>es</a:t>
            </a:r>
            <a:r>
              <a:rPr sz="145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lus Jakarta Sans"/>
              </a:rPr>
              <a:t>NumPy</a:t>
            </a:r>
            <a:r>
              <a:rPr sz="1450" b="1" dirty="0">
                <a:solidFill>
                  <a:srgbClr val="1A1A1A"/>
                </a:solidFill>
                <a:latin typeface="Plus Jakarta Sans"/>
              </a:rPr>
              <a:t>?</a:t>
            </a:r>
          </a:p>
          <a:p>
            <a:pPr algn="l"/>
            <a:endParaRPr sz="145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50" b="0" dirty="0" err="1">
                <a:solidFill>
                  <a:srgbClr val="1A1A1A"/>
                </a:solidFill>
                <a:latin typeface="Plus Jakarta Sans"/>
              </a:rPr>
              <a:t>Librería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de Python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optimizada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para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cálculo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numérico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.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Escrita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en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C,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es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entre 10× y 100×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más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rápida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que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listas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50" b="0" dirty="0" err="1">
                <a:solidFill>
                  <a:srgbClr val="1A1A1A"/>
                </a:solidFill>
                <a:latin typeface="Plus Jakarta Sans"/>
              </a:rPr>
              <a:t>puras</a:t>
            </a:r>
            <a:r>
              <a:rPr sz="1350" b="0" dirty="0">
                <a:solidFill>
                  <a:srgbClr val="1A1A1A"/>
                </a:solidFill>
                <a:latin typeface="Plus Jakarta Sans"/>
              </a:rPr>
              <a:t>.</a:t>
            </a:r>
          </a:p>
          <a:p>
            <a:pPr algn="l"/>
            <a:endParaRPr sz="13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400" b="1" dirty="0" err="1">
                <a:solidFill>
                  <a:srgbClr val="1A1A1A"/>
                </a:solidFill>
                <a:latin typeface="Plus Jakarta Sans"/>
              </a:rPr>
              <a:t>ndarray</a:t>
            </a:r>
            <a:r>
              <a:rPr sz="1400" b="1" dirty="0">
                <a:solidFill>
                  <a:srgbClr val="1A1A1A"/>
                </a:solidFill>
                <a:latin typeface="Plus Jakarta Sans"/>
              </a:rPr>
              <a:t> – el </a:t>
            </a:r>
            <a:r>
              <a:rPr sz="1400" b="1" dirty="0" err="1">
                <a:solidFill>
                  <a:srgbClr val="1A1A1A"/>
                </a:solidFill>
                <a:latin typeface="Plus Jakarta Sans"/>
              </a:rPr>
              <a:t>arreglo</a:t>
            </a:r>
            <a:r>
              <a:rPr sz="1400" b="1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400" b="1" dirty="0" err="1">
                <a:solidFill>
                  <a:srgbClr val="1A1A1A"/>
                </a:solidFill>
                <a:latin typeface="Plus Jakarta Sans"/>
              </a:rPr>
              <a:t>NumPy</a:t>
            </a:r>
            <a:endParaRPr sz="1400" b="1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400" b="1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0" dirty="0">
                <a:solidFill>
                  <a:srgbClr val="1A1A1A"/>
                </a:solidFill>
                <a:latin typeface="Plus Jakarta Sans"/>
              </a:rPr>
              <a:t>Un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ndarray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es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una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tabla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de N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dimensiones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con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todos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los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elementos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del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mismo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tipo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 (</a:t>
            </a:r>
            <a:r>
              <a:rPr sz="1300" b="0" dirty="0" err="1">
                <a:solidFill>
                  <a:srgbClr val="1A1A1A"/>
                </a:solidFill>
                <a:latin typeface="Plus Jakarta Sans"/>
              </a:rPr>
              <a:t>dtype</a:t>
            </a:r>
            <a:r>
              <a:rPr sz="1300" b="0" dirty="0">
                <a:solidFill>
                  <a:srgbClr val="1A1A1A"/>
                </a:solidFill>
                <a:latin typeface="Plus Jakarta Sans"/>
              </a:rPr>
              <a:t>).</a:t>
            </a:r>
          </a:p>
          <a:p>
            <a:pPr algn="l"/>
            <a:endParaRPr sz="130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300" b="1" dirty="0" err="1">
                <a:solidFill>
                  <a:srgbClr val="1A1A1A"/>
                </a:solidFill>
                <a:latin typeface="Plus Jakarta Sans"/>
              </a:rPr>
              <a:t>Atributos</a:t>
            </a:r>
            <a:r>
              <a:rPr sz="1300" b="1" dirty="0">
                <a:solidFill>
                  <a:srgbClr val="1A1A1A"/>
                </a:solidFill>
                <a:latin typeface="Plus Jakarta Sans"/>
              </a:rPr>
              <a:t> clave:</a:t>
            </a: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shape  → 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dimensiones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(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filas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columnas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dtype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 → 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tipo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dato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(int64, float32…)</a:t>
            </a:r>
          </a:p>
          <a:p>
            <a:pPr algn="l"/>
            <a:r>
              <a:rPr sz="1250" b="0" dirty="0" err="1">
                <a:solidFill>
                  <a:srgbClr val="1A1A1A"/>
                </a:solidFill>
                <a:latin typeface="Plus Jakarta Sans"/>
              </a:rPr>
              <a:t>ndim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  → 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número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de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dimensiones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size   →  total de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elementos</a:t>
            </a:r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endParaRPr sz="1250" b="0" dirty="0">
              <a:solidFill>
                <a:srgbClr val="1A1A1A"/>
              </a:solidFill>
              <a:latin typeface="Plus Jakarta Sans"/>
            </a:endParaRPr>
          </a:p>
          <a:p>
            <a:pPr algn="l"/>
            <a:r>
              <a:rPr sz="1250" b="0" dirty="0">
                <a:solidFill>
                  <a:srgbClr val="1A1A1A"/>
                </a:solidFill>
                <a:latin typeface="Plus Jakarta Sans"/>
              </a:rPr>
              <a:t>Base de Pandas,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Scikit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-learn,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TensorFlow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 y </a:t>
            </a:r>
            <a:r>
              <a:rPr sz="1250" b="0" dirty="0" err="1">
                <a:solidFill>
                  <a:srgbClr val="1A1A1A"/>
                </a:solidFill>
                <a:latin typeface="Plus Jakarta Sans"/>
              </a:rPr>
              <a:t>PyTorch</a:t>
            </a:r>
            <a:r>
              <a:rPr sz="1250" b="0" dirty="0">
                <a:solidFill>
                  <a:srgbClr val="1A1A1A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571500" y="2175175"/>
            <a:ext cx="64629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¡Muchas</a:t>
            </a:r>
            <a:endParaRPr sz="61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gracias!</a:t>
            </a:r>
            <a:endParaRPr sz="61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571500" y="3792150"/>
            <a:ext cx="800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87" name="Google Shape;487;p63" title="Group 13213208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9075" y="488075"/>
            <a:ext cx="1221826" cy="35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69956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2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Resumen </a:t>
            </a:r>
            <a:endParaRPr sz="4000" b="1" i="0" u="none" strike="noStrike" cap="none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la clase hoy</a:t>
            </a:r>
            <a:endParaRPr sz="40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" name="Google Shape;350;p72"/>
          <p:cNvSpPr txBox="1"/>
          <p:nvPr/>
        </p:nvSpPr>
        <p:spPr>
          <a:xfrm>
            <a:off x="2109143" y="2502363"/>
            <a:ext cx="4925700" cy="2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Nociones básicas: variable, asignación y expresiones</a:t>
            </a: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Objetos y punteros</a:t>
            </a:r>
            <a:br>
              <a:rPr lang="es" sz="135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endParaRPr sz="135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FF632B"/>
              </a:buClr>
              <a:buSzPts val="1350"/>
              <a:buFont typeface="Plus Jakarta Sans"/>
              <a:buChar char="✓"/>
            </a:pPr>
            <a:r>
              <a:rPr lang="es" sz="135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Nociones básicas: Estructuras de Control, Operadores y Funciones.</a:t>
            </a:r>
            <a:endParaRPr sz="135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3"/>
          <p:cNvSpPr txBox="1"/>
          <p:nvPr/>
        </p:nvSpPr>
        <p:spPr>
          <a:xfrm>
            <a:off x="475500" y="2287050"/>
            <a:ext cx="8193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Educación digital</a:t>
            </a:r>
            <a:endParaRPr sz="3100" b="1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el mundo real</a:t>
            </a:r>
            <a:r>
              <a:rPr lang="es" sz="3100" b="1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3100" b="1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60700"/>
      </a:accent2>
      <a:accent3>
        <a:srgbClr val="78909C"/>
      </a:accent3>
      <a:accent4>
        <a:srgbClr val="FDAB2E"/>
      </a:accent4>
      <a:accent5>
        <a:srgbClr val="0097A7"/>
      </a:accent5>
      <a:accent6>
        <a:srgbClr val="FF632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FF632B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3508</Words>
  <Application>Microsoft Office PowerPoint</Application>
  <PresentationFormat>Presentación en pantalla (16:9)</PresentationFormat>
  <Paragraphs>585</Paragraphs>
  <Slides>54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62" baseType="lpstr">
      <vt:lpstr>Plus Jakarta Sans ExtraBold</vt:lpstr>
      <vt:lpstr>Arial</vt:lpstr>
      <vt:lpstr>Plus Jakarta Sans</vt:lpstr>
      <vt:lpstr>Courier New</vt:lpstr>
      <vt:lpstr>Helvetica Neue Light</vt:lpstr>
      <vt:lpstr>DM Sans</vt:lpstr>
      <vt:lpstr>Roboto Mono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13</cp:revision>
  <dcterms:modified xsi:type="dcterms:W3CDTF">2026-04-24T22:33:19Z</dcterms:modified>
</cp:coreProperties>
</file>