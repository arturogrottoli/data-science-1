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  <p:sldMasterId id="2147483687" r:id="rId2"/>
  </p:sldMasterIdLst>
  <p:notesMasterIdLst>
    <p:notesMasterId r:id="rId3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5143500" type="screen16x9"/>
  <p:notesSz cx="6858000" cy="9144000"/>
  <p:embeddedFontLst>
    <p:embeddedFont>
      <p:font typeface="Helvetica Neue Light" panose="020B0604020202020204" charset="0"/>
      <p:regular r:id="rId37"/>
      <p:bold r:id="rId38"/>
      <p:italic r:id="rId39"/>
      <p:boldItalic r:id="rId40"/>
    </p:embeddedFont>
    <p:embeddedFont>
      <p:font typeface="Roboto Mono" panose="020B0604020202020204" charset="0"/>
      <p:regular r:id="rId41"/>
      <p:bold r:id="rId42"/>
      <p:italic r:id="rId43"/>
      <p:boldItalic r:id="rId44"/>
    </p:embeddedFont>
    <p:embeddedFont>
      <p:font typeface="DM Sans" panose="020B060402020202020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xeJ3vjTLUjQJia1NVjWnCfNZZWcnbnS2/view?usp=sharing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xeJ3vjTLUjQJia1NVjWnCfNZZWcnbnS2/view?usp=sharing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xeJ3vjTLUjQJia1NVjWnCfNZZWcnbnS2/view?usp=sharing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vieCGzAPuYf5vWsu8Xgbn_2Ax4QNLnXO/edit?usp=sharing&amp;ouid=103396586770751045195&amp;rtpof=true&amp;sd=true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PJL8iYTIY3E&amp;feature=youtu.be" TargetMode="Externa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vieCGzAPuYf5vWsu8Xgbn_2Ax4QNLnXO/edit?usp=sharing&amp;ouid=103396586770751045195&amp;rtpof=true&amp;sd=true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PJL8iYTIY3E&amp;feature=youtu.be" TargetMode="Externa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204f2a95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2204f2a95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20568a1c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220568a1c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30e374372a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30e374372a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“Ejemplo en vivo” Duración: 10 a 15 minutos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realizará una tarea compartiendo la pantalla en vivo. Se centrará en los pasos y los aspectos a tener en cuenta.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30e374372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30e374372a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“Para pensar”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¿Cómo crear encuestas de zoom? Disponible en </a:t>
            </a:r>
            <a:r>
              <a:rPr lang="es" u="sng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este video.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generará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una encuesta de zoom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que los estudiantes respondan. Esto es una actividad de comprobación.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Sugerimos: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Utilizarlo antes del break para que los estudiantes puedan votar en la encuesta antes de ir al mismo.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 regresar, mostrar los resultados a los estudiantes.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hay buena respuesta de este recurso, se recomienda utilizarlo de forma orgánica en más instancias de la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“Para pensar”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¿Cómo crear encuestas de zoom? Disponible en </a:t>
            </a:r>
            <a:r>
              <a:rPr lang="es" u="sng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este video.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generará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una encuesta de zoom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que los estudiantes respondan. Esto es una actividad de comprobación.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Sugerimos: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Utilizarlo antes del break para que los estudiantes puedan votar en la encuesta antes de ir al mismo.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 regresar, mostrar los resultados a los estudiantes.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hay buena respuesta de este recurso, se recomienda utilizarlo de forma orgánica en más instancias de la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“Ejemplo en vivo”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realizará una tarea compartiendo la pantalla en vivo. Se centrará en los pasos y los aspectos a tener en cuenta.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“Para pensar”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¿Cómo crear encuestas de zoom? Disponible en </a:t>
            </a:r>
            <a:r>
              <a:rPr lang="es" u="sng">
                <a:solidFill>
                  <a:schemeClr val="accent5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este video.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generará </a:t>
            </a:r>
            <a:r>
              <a:rPr lang="es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una encuesta de zoom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que los estudiantes respondan. Esto es una actividad de comprobación.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Sugerimos: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Utilizarlo antes del break para que los estudiantes puedan votar en la encuesta antes de ir al mismo.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 regresar, mostrar los resultados a los estudiantes.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Char char="-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hay buena respuesta de este recurso, se recomienda utilizarlo de forma orgánica en más instancias de la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20568a1c7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220568a1c71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4d19f05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2204d19f05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204d19f05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2204d19f05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204d19f05f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2204d19f05f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que se puede llevar a cabo en formato “Breakout Rooms”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el profesor: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breakout rooms para los equipos. De no saber cómo, favor de revisar el siguiente tutorial: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lphaL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PPT: </a:t>
            </a:r>
            <a:r>
              <a:rPr lang="es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https://docs.google.com/presentation/d/1vieCGzAPuYf5vWsu8Xgbn_2Ax4QNLnXO/edit?usp=sharing&amp;ouid=103396586770751045195&amp;rtpof=true&amp;sd=true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lphaL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video: </a:t>
            </a:r>
            <a:r>
              <a:rPr lang="es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https://www.youtube.com/watch?v=PJL8iYTIY3E&amp;feature=youtu.be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recomienda que los equipos sean de números pares, máximo 4 participantes por equipo y de así requerirse, ser acompañados por un tutor.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204d19f05f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2204d19f05f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204d19f05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204d19f05f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204d19f05f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2204d19f05f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“Ejemplo en vivo”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El docente realizará una tarea compartiendo la pantalla en vivo. Se centrará en los pasos y los aspectos a tener en cuenta.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204d19f05f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2204d19f05f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que se puede llevar a cabo en formato “Breakout Rooms”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el profesor: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breakout rooms para los equipos. De no saber cómo, favor de revisar el siguiente tutorial: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lphaL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PPT: </a:t>
            </a:r>
            <a:r>
              <a:rPr lang="es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https://docs.google.com/presentation/d/1vieCGzAPuYf5vWsu8Xgbn_2Ax4QNLnXO/edit?usp=sharing&amp;ouid=103396586770751045195&amp;rtpof=true&amp;sd=true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lphaL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video: </a:t>
            </a:r>
            <a:r>
              <a:rPr lang="es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https://www.youtube.com/watch?v=PJL8iYTIY3E&amp;feature=youtu.be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recomienda que los equipos sean de números pares, máximo 4 participantes por equipo y de así requerirse, ser acompañados por un tutor. 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204d19f05f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g2204d19f05f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204d19f05f_0_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g2204d19f05f_0_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204d19f05f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g2204d19f05f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20568a1c71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g220568a1c71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204d19f05f_0_6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204d19f05f_0_6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2">
  <p:cSld name="SECTION_HEADER_1_1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>
  <p:cSld name="CUSTOM_37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 1">
  <p:cSld name="Diseño personalizado 2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1">
  <p:cSld name="SECTION_HEADER_1_1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1">
  <p:cSld name="SECTION_HEADER_1_1_1_1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7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 1">
  <p:cSld name="SECTION_HEADER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28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8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3">
  <p:cSld name="SECTION_HEADER_1_1_1_1_1_1_1_1_1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2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o 1" type="title">
  <p:cSld name="TITL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sz="4000" b="1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1" name="Google Shape;91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92" name="Google Shape;92;p31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2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3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3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6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" name="Google Shape;104;p36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37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8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9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40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1"/>
          <p:cNvSpPr txBox="1"/>
          <p:nvPr/>
        </p:nvSpPr>
        <p:spPr>
          <a:xfrm>
            <a:off x="1461300" y="2252975"/>
            <a:ext cx="62214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Fundamentos de Python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41"/>
          <p:cNvSpPr txBox="1"/>
          <p:nvPr/>
        </p:nvSpPr>
        <p:spPr>
          <a:xfrm>
            <a:off x="1461300" y="166525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UNIDAD 2 -  DATA SCIENCE I</a:t>
            </a:r>
            <a:endParaRPr sz="16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2"/>
          <p:cNvSpPr/>
          <p:nvPr/>
        </p:nvSpPr>
        <p:spPr>
          <a:xfrm>
            <a:off x="3080700" y="2547525"/>
            <a:ext cx="2982600" cy="793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2"/>
          <p:cNvSpPr txBox="1"/>
          <p:nvPr/>
        </p:nvSpPr>
        <p:spPr>
          <a:xfrm>
            <a:off x="1461300" y="1802163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 va a ser</a:t>
            </a:r>
            <a:endParaRPr sz="4000" b="1" i="0" u="none" strike="noStrike" cap="non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42"/>
          <p:cNvSpPr txBox="1"/>
          <p:nvPr/>
        </p:nvSpPr>
        <p:spPr>
          <a:xfrm>
            <a:off x="3655975" y="2541075"/>
            <a:ext cx="2344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grabada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42"/>
          <p:cNvSpPr/>
          <p:nvPr/>
        </p:nvSpPr>
        <p:spPr>
          <a:xfrm>
            <a:off x="3293875" y="2844525"/>
            <a:ext cx="199800" cy="199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100" y="3654844"/>
            <a:ext cx="3933794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3"/>
          <p:cNvSpPr txBox="1"/>
          <p:nvPr/>
        </p:nvSpPr>
        <p:spPr>
          <a:xfrm>
            <a:off x="1461300" y="1648200"/>
            <a:ext cx="6221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 </a:t>
            </a:r>
            <a:r>
              <a:rPr lang="es" sz="40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sobre la clase práctica en vivo anterior</a:t>
            </a: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4"/>
          <p:cNvSpPr txBox="1"/>
          <p:nvPr/>
        </p:nvSpPr>
        <p:spPr>
          <a:xfrm>
            <a:off x="501450" y="468275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Objetivos de la clase</a:t>
            </a:r>
            <a:endParaRPr sz="3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9" name="Google Shape;13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3588" y="1664901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4"/>
          <p:cNvSpPr txBox="1"/>
          <p:nvPr/>
        </p:nvSpPr>
        <p:spPr>
          <a:xfrm>
            <a:off x="2501699" y="1571213"/>
            <a:ext cx="46590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Realizar 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una primera aproximación al lenguaje de programación Python.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Conocer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las distintas formas de desarrollo con Python.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1" name="Google Shape;14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3288" y="2298301"/>
            <a:ext cx="196975" cy="19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44"/>
          <p:cNvCxnSpPr>
            <a:stCxn id="139" idx="2"/>
            <a:endCxn id="141" idx="0"/>
          </p:cNvCxnSpPr>
          <p:nvPr/>
        </p:nvCxnSpPr>
        <p:spPr>
          <a:xfrm rot="-5400000" flipH="1">
            <a:off x="1864125" y="2079825"/>
            <a:ext cx="436500" cy="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3" name="Google Shape;14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3588" y="2947384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4"/>
          <p:cNvSpPr txBox="1"/>
          <p:nvPr/>
        </p:nvSpPr>
        <p:spPr>
          <a:xfrm>
            <a:off x="2501699" y="2764084"/>
            <a:ext cx="46590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Comprender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las nociones básicas de la programación estructurada.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45" name="Google Shape;145;p44"/>
          <p:cNvCxnSpPr>
            <a:endCxn id="143" idx="0"/>
          </p:cNvCxnSpPr>
          <p:nvPr/>
        </p:nvCxnSpPr>
        <p:spPr>
          <a:xfrm rot="-5400000" flipH="1">
            <a:off x="1819575" y="2684884"/>
            <a:ext cx="5244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5"/>
          <p:cNvSpPr txBox="1"/>
          <p:nvPr/>
        </p:nvSpPr>
        <p:spPr>
          <a:xfrm>
            <a:off x="1461300" y="1953000"/>
            <a:ext cx="6221400" cy="29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¿Cómo usar Google Collab?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6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6" name="Google Shape;156;p46"/>
          <p:cNvSpPr txBox="1"/>
          <p:nvPr/>
        </p:nvSpPr>
        <p:spPr>
          <a:xfrm>
            <a:off x="473350" y="1626100"/>
            <a:ext cx="7169400" cy="2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¿Cómo podemos usar Google Colab como un entorno para programar lenguaje de Python?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¡Vamos a verl</a:t>
            </a:r>
            <a:r>
              <a:rPr lang="es" sz="2500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!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7" name="Google Shape;157;p46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158" name="Google Shape;158;p46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9" name="Google Shape;159;p46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7"/>
          <p:cNvSpPr txBox="1"/>
          <p:nvPr/>
        </p:nvSpPr>
        <p:spPr>
          <a:xfrm>
            <a:off x="1461300" y="1953000"/>
            <a:ext cx="62214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Objetos y punteros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8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8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Objetos y punteros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48"/>
          <p:cNvSpPr txBox="1"/>
          <p:nvPr/>
        </p:nvSpPr>
        <p:spPr>
          <a:xfrm>
            <a:off x="473350" y="1908175"/>
            <a:ext cx="3834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Python es un lenguaje orientado a objetos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así que en Python todo es un objeto, o sea, cuenta con: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48"/>
          <p:cNvSpPr txBox="1"/>
          <p:nvPr/>
        </p:nvSpPr>
        <p:spPr>
          <a:xfrm>
            <a:off x="4527575" y="1908175"/>
            <a:ext cx="38346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Datos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Metadatos, atributos o propiedades (un punto y una palabra sin paréntesis):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X.atributo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👉 Un atributo caracteriza al dato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Funcionalidad o métodos (un punto y una palabra con paréntesis):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x.método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()  👉 Un método es algo que el dato puede hacer, por lo tanto al ejecutarlo le estamos pidiendo al dato que ejecute una acción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9"/>
          <p:cNvSpPr txBox="1"/>
          <p:nvPr/>
        </p:nvSpPr>
        <p:spPr>
          <a:xfrm>
            <a:off x="233400" y="1711575"/>
            <a:ext cx="86772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x=1.0</a:t>
            </a:r>
            <a:endParaRPr sz="1400" b="0" i="0" u="none" strike="noStrike" cap="non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x.is_integer() # ¿es x un entero? se lo preguntamos con el método is_integer()</a:t>
            </a:r>
            <a:endParaRPr sz="1400" b="0" i="0" u="none" strike="noStrike" cap="non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x=1.4</a:t>
            </a:r>
            <a:endParaRPr sz="1400" b="0" i="0" u="none" strike="noStrike" cap="non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x.is_integer() # ¿y ahora? se lo preguntamos de vuelta</a:t>
            </a:r>
            <a:endParaRPr sz="1400" b="0" i="0" u="none" strike="noStrike" cap="non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print(x.real,x.imag) 	# miramos los atributos de x, en este caso su parte real </a:t>
            </a:r>
            <a:endParaRPr sz="1400" b="0" i="0" u="none" strike="noStrike" cap="non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8288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4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# y su parte imaginaria</a:t>
            </a:r>
            <a:endParaRPr sz="1400" b="0" i="0" u="none" strike="noStrike" cap="non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0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Objetos y punteros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50"/>
          <p:cNvSpPr txBox="1"/>
          <p:nvPr/>
        </p:nvSpPr>
        <p:spPr>
          <a:xfrm>
            <a:off x="473350" y="1908175"/>
            <a:ext cx="38346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Las variables en Python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 contienen los datos, sino que apuntan a los datos.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Esta es la forma de trabajo de los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punteros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, lo que hace que el lenguaje sea más eficiente.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4" name="Google Shape;184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7650" y="1814125"/>
            <a:ext cx="3944885" cy="184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51"/>
          <p:cNvGrpSpPr/>
          <p:nvPr/>
        </p:nvGrpSpPr>
        <p:grpSpPr>
          <a:xfrm>
            <a:off x="473370" y="619431"/>
            <a:ext cx="738905" cy="738905"/>
            <a:chOff x="575612" y="1950748"/>
            <a:chExt cx="431100" cy="431100"/>
          </a:xfrm>
        </p:grpSpPr>
        <p:sp>
          <p:nvSpPr>
            <p:cNvPr id="190" name="Google Shape;190;p51"/>
            <p:cNvSpPr/>
            <p:nvPr/>
          </p:nvSpPr>
          <p:spPr>
            <a:xfrm>
              <a:off x="575612" y="1950748"/>
              <a:ext cx="431100" cy="431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1" name="Google Shape;191;p51" title="ícono para pensar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5125" y="2030288"/>
              <a:ext cx="272000" cy="27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51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pensar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3" name="Google Shape;193;p51"/>
          <p:cNvSpPr txBox="1"/>
          <p:nvPr/>
        </p:nvSpPr>
        <p:spPr>
          <a:xfrm>
            <a:off x="473350" y="1358425"/>
            <a:ext cx="71694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¿Cuáles son las salidas de los siguientes bloques de código?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4" name="Google Shape;194;p51"/>
          <p:cNvSpPr txBox="1"/>
          <p:nvPr/>
        </p:nvSpPr>
        <p:spPr>
          <a:xfrm>
            <a:off x="4607475" y="4258250"/>
            <a:ext cx="322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 b="0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Contesta mediante el chat de Zoom </a:t>
            </a:r>
            <a:endParaRPr sz="1400" b="0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5" name="Google Shape;195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376" y="2352575"/>
            <a:ext cx="4056125" cy="230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52"/>
          <p:cNvGrpSpPr/>
          <p:nvPr/>
        </p:nvGrpSpPr>
        <p:grpSpPr>
          <a:xfrm>
            <a:off x="473370" y="619431"/>
            <a:ext cx="738905" cy="738905"/>
            <a:chOff x="575612" y="1950748"/>
            <a:chExt cx="431100" cy="431100"/>
          </a:xfrm>
        </p:grpSpPr>
        <p:sp>
          <p:nvSpPr>
            <p:cNvPr id="201" name="Google Shape;201;p52"/>
            <p:cNvSpPr/>
            <p:nvPr/>
          </p:nvSpPr>
          <p:spPr>
            <a:xfrm>
              <a:off x="575612" y="1950748"/>
              <a:ext cx="431100" cy="431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2" name="Google Shape;202;p52" title="ícono para pensar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5125" y="2030288"/>
              <a:ext cx="272000" cy="272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3" name="Google Shape;203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2763" y="238188"/>
            <a:ext cx="8698476" cy="466712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3"/>
          <p:cNvSpPr txBox="1"/>
          <p:nvPr/>
        </p:nvSpPr>
        <p:spPr>
          <a:xfrm>
            <a:off x="473350" y="1626100"/>
            <a:ext cx="71694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s" sz="3400" b="0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¿No notaste algo raro en el ejercicio anterior...?</a:t>
            </a:r>
            <a:endParaRPr sz="3400" b="0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400" b="0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4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Objetos y punteros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4" name="Google Shape;214;p54"/>
          <p:cNvSpPr txBox="1"/>
          <p:nvPr/>
        </p:nvSpPr>
        <p:spPr>
          <a:xfrm>
            <a:off x="473350" y="1908175"/>
            <a:ext cx="38346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Cuando operamos sobre una variable (método)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operamos sobre el objeto al que apunta.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5" name="Google Shape;215;p54"/>
          <p:cNvSpPr txBox="1"/>
          <p:nvPr/>
        </p:nvSpPr>
        <p:spPr>
          <a:xfrm>
            <a:off x="4527575" y="1908175"/>
            <a:ext cx="38346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Cuando realizamos una asignación (=) 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conectamos (apuntamos) la variable al objeto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 Aquí </a:t>
            </a:r>
            <a:r>
              <a:rPr lang="es" sz="1350" b="0" i="0" u="none" strike="noStrike" cap="none">
                <a:solidFill>
                  <a:srgbClr val="000000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no cambiamos el objeto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5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Objetos y punteros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1" name="Google Shape;221;p55"/>
          <p:cNvSpPr txBox="1"/>
          <p:nvPr/>
        </p:nvSpPr>
        <p:spPr>
          <a:xfrm>
            <a:off x="466950" y="1330575"/>
            <a:ext cx="8677200" cy="30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x = [1, 2, 3] 	# x es una </a:t>
            </a:r>
            <a:r>
              <a:rPr lang="es" sz="1350" b="1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lista</a:t>
            </a:r>
            <a:endParaRPr sz="1350" b="1" i="0" u="none" strike="noStrike" cap="non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y = x 			# el objeto al que apunta x ([1, 2, 3]) ahora </a:t>
            </a:r>
            <a:r>
              <a:rPr lang="es" sz="1350" b="1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es también</a:t>
            </a: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b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# </a:t>
            </a:r>
            <a:r>
              <a:rPr lang="es" sz="1350" b="1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apuntado por y</a:t>
            </a:r>
            <a:endParaRPr sz="1350" b="1" i="0" u="none" strike="noStrike" cap="non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print(y is x) 	# x e y </a:t>
            </a:r>
            <a:r>
              <a:rPr lang="es" sz="1350" b="1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son el mismo objeto</a:t>
            </a: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(True)</a:t>
            </a:r>
            <a:endParaRPr sz="1350" b="0" i="0" u="none" strike="noStrike" cap="non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print(x,y)		# [1, 2, 3] [1, 2, 3]</a:t>
            </a:r>
            <a:endParaRPr sz="1350" b="0" i="0" u="none" strike="noStrike" cap="non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x.append(4) 		# aquí operó </a:t>
            </a:r>
            <a:r>
              <a:rPr lang="es" sz="1350" b="1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sobre el objeto [1, 2, 3]</a:t>
            </a: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50" b="1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apuntado por x.</a:t>
            </a: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b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#</a:t>
            </a:r>
            <a:r>
              <a:rPr lang="es" sz="1350" b="1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Los métodos se identifican luego de un punto (</a:t>
            </a:r>
            <a:r>
              <a:rPr lang="es" sz="1350" b="1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x.método()</a:t>
            </a: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  </a:t>
            </a:r>
            <a:endParaRPr sz="1350" b="0" i="0" u="none" strike="noStrike" cap="non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print(y) 		# como x e y apuntan al mismo objeto, </a:t>
            </a:r>
            <a:r>
              <a:rPr lang="es" sz="1350" b="1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y refleja los cambios</a:t>
            </a:r>
            <a:endParaRPr sz="1350" b="1" i="0" u="none" strike="noStrike" cap="non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x = "hola" 		# al realizar asignación, ahora </a:t>
            </a:r>
            <a:r>
              <a:rPr lang="es" sz="1350" b="1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x apunta al objeto texto</a:t>
            </a: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b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# </a:t>
            </a:r>
            <a:r>
              <a:rPr lang="es" sz="1350" b="1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(string) "hola"</a:t>
            </a: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350" b="0" i="0" u="none" strike="noStrike" cap="non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print(x is y) 	# x e y ahora </a:t>
            </a:r>
            <a:r>
              <a:rPr lang="es" sz="1350" b="1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no apuntan al mismo objeto </a:t>
            </a: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(False)</a:t>
            </a:r>
            <a:endParaRPr sz="1350" b="0" i="0" u="none" strike="noStrike" cap="non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print(x,y) 		# x e y apuntan a </a:t>
            </a:r>
            <a:r>
              <a:rPr lang="es" sz="1350" b="1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dos objetos diferentes </a:t>
            </a:r>
            <a:r>
              <a:rPr lang="es" sz="1350" b="0" i="0" u="none" strike="noStrike" cap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(“hola” [1, 2, 3, 4])</a:t>
            </a:r>
            <a:endParaRPr sz="1350" b="0" i="0" u="none" strike="noStrike" cap="non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6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Objetos y punteros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7" name="Google Shape;227;p56"/>
          <p:cNvSpPr txBox="1"/>
          <p:nvPr/>
        </p:nvSpPr>
        <p:spPr>
          <a:xfrm>
            <a:off x="473350" y="1626100"/>
            <a:ext cx="71694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 diferencia es</a:t>
            </a:r>
            <a:r>
              <a:rPr lang="es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muy sutil</a:t>
            </a:r>
            <a:r>
              <a:rPr lang="es" sz="25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y en general no afecta el trabajo de Data Science. No obstante, </a:t>
            </a:r>
            <a:r>
              <a:rPr lang="es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 todos los lenguajes se comportan así.</a:t>
            </a:r>
            <a:endParaRPr sz="25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⚠</a:t>
            </a:r>
            <a:r>
              <a:rPr lang="es" sz="25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 Hay que tener en cuenta esto para no cometer errores. </a:t>
            </a:r>
            <a:endParaRPr sz="25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7"/>
          <p:cNvSpPr txBox="1"/>
          <p:nvPr/>
        </p:nvSpPr>
        <p:spPr>
          <a:xfrm>
            <a:off x="458575" y="975750"/>
            <a:ext cx="7169400" cy="3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87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2500"/>
              <a:buFont typeface="DM Sans"/>
              <a:buChar char="✔"/>
            </a:pPr>
            <a:r>
              <a:rPr lang="es" sz="25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 método comienza por un </a:t>
            </a:r>
            <a:r>
              <a:rPr lang="es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punto después de la variable.</a:t>
            </a:r>
            <a:endParaRPr sz="25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87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2500"/>
              <a:buFont typeface="DM Sans"/>
              <a:buChar char="✔"/>
            </a:pPr>
            <a:r>
              <a:rPr lang="es" sz="25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El método </a:t>
            </a:r>
            <a:r>
              <a:rPr lang="es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modifica el objeto apuntado</a:t>
            </a:r>
            <a:r>
              <a:rPr lang="es" sz="25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por la variable.</a:t>
            </a:r>
            <a:endParaRPr sz="25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87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2500"/>
              <a:buFont typeface="DM Sans"/>
              <a:buChar char="✔"/>
            </a:pPr>
            <a:r>
              <a:rPr lang="es" sz="25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 variable </a:t>
            </a:r>
            <a:r>
              <a:rPr lang="es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 es, ni contiene al objeto.</a:t>
            </a:r>
            <a:endParaRPr sz="25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873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2500"/>
              <a:buFont typeface="DM Sans"/>
              <a:buChar char="✔"/>
            </a:pPr>
            <a:r>
              <a:rPr lang="es" sz="25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 asignación </a:t>
            </a:r>
            <a:r>
              <a:rPr lang="es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“conecta” a la variable con el objeto apuntado.</a:t>
            </a:r>
            <a:endParaRPr sz="25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8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8" name="Google Shape;238;p58"/>
          <p:cNvSpPr txBox="1"/>
          <p:nvPr/>
        </p:nvSpPr>
        <p:spPr>
          <a:xfrm>
            <a:off x="473350" y="1626100"/>
            <a:ext cx="71694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Examinemos un poco lo que se conoce como estructuras de control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39" name="Google Shape;239;p58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240" name="Google Shape;240;p58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1" name="Google Shape;241;p58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59"/>
          <p:cNvGrpSpPr/>
          <p:nvPr/>
        </p:nvGrpSpPr>
        <p:grpSpPr>
          <a:xfrm>
            <a:off x="473370" y="619431"/>
            <a:ext cx="738905" cy="738905"/>
            <a:chOff x="575612" y="1950748"/>
            <a:chExt cx="431100" cy="431100"/>
          </a:xfrm>
        </p:grpSpPr>
        <p:sp>
          <p:nvSpPr>
            <p:cNvPr id="247" name="Google Shape;247;p59"/>
            <p:cNvSpPr/>
            <p:nvPr/>
          </p:nvSpPr>
          <p:spPr>
            <a:xfrm>
              <a:off x="575612" y="1950748"/>
              <a:ext cx="431100" cy="431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8" name="Google Shape;248;p59" title="ícono para pensar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5125" y="2030288"/>
              <a:ext cx="272000" cy="272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59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pensar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0" name="Google Shape;250;p59"/>
          <p:cNvSpPr txBox="1"/>
          <p:nvPr/>
        </p:nvSpPr>
        <p:spPr>
          <a:xfrm>
            <a:off x="473375" y="1463525"/>
            <a:ext cx="7169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¿Qué diferencia hay entre usar and/or? ¿Que significa el operador %?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1" name="Google Shape;251;p59"/>
          <p:cNvSpPr txBox="1"/>
          <p:nvPr/>
        </p:nvSpPr>
        <p:spPr>
          <a:xfrm>
            <a:off x="6466725" y="3431675"/>
            <a:ext cx="1884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 b="0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Contesta mediante el chat de Zoom </a:t>
            </a:r>
            <a:endParaRPr sz="2000" b="0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52" name="Google Shape;252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551" y="2372225"/>
            <a:ext cx="5906101" cy="216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0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1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" sz="5000" b="0" i="0" u="none" strike="noStrike" cap="none">
                <a:solidFill>
                  <a:srgbClr val="E8E7E3"/>
                </a:solidFill>
                <a:latin typeface="Arial"/>
                <a:ea typeface="Arial"/>
                <a:cs typeface="Arial"/>
                <a:sym typeface="Arial"/>
              </a:rPr>
              <a:t>☕</a:t>
            </a:r>
            <a:endParaRPr sz="5000" b="0" i="0" u="none" strike="noStrike" cap="none">
              <a:solidFill>
                <a:srgbClr val="E8E7E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61"/>
          <p:cNvSpPr txBox="1"/>
          <p:nvPr/>
        </p:nvSpPr>
        <p:spPr>
          <a:xfrm>
            <a:off x="2998200" y="2971950"/>
            <a:ext cx="314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¡10 minutos y volvemos!</a:t>
            </a:r>
            <a:endParaRPr sz="2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2"/>
          <p:cNvSpPr txBox="1"/>
          <p:nvPr/>
        </p:nvSpPr>
        <p:spPr>
          <a:xfrm>
            <a:off x="1461288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Estructuras de control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3"/>
          <p:cNvSpPr txBox="1"/>
          <p:nvPr/>
        </p:nvSpPr>
        <p:spPr>
          <a:xfrm>
            <a:off x="237275" y="647100"/>
            <a:ext cx="7884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¿Qué son y para qué sirven?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4" name="Google Shape;274;p63"/>
          <p:cNvSpPr txBox="1"/>
          <p:nvPr/>
        </p:nvSpPr>
        <p:spPr>
          <a:xfrm>
            <a:off x="592850" y="1916500"/>
            <a:ext cx="3760200" cy="18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Las estructuras de control sirven para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dar claridad y orden al código. 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hay que hacer operaciones repetitivas, estas estructuras nos ayudan a organizarlas.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highlight>
                <a:srgbClr val="FFFF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5" name="Google Shape;275;p63"/>
          <p:cNvSpPr txBox="1"/>
          <p:nvPr/>
        </p:nvSpPr>
        <p:spPr>
          <a:xfrm>
            <a:off x="4624450" y="1857500"/>
            <a:ext cx="4059300" cy="25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Las estructuras de control más comunes son: 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👉 For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👉 While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👉 If</a:t>
            </a:r>
            <a:endParaRPr sz="1350" b="0" i="0" u="none" strike="noStrike" cap="none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👉 Switch (Otros lenguajes e.g 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4"/>
          <p:cNvSpPr txBox="1"/>
          <p:nvPr/>
        </p:nvSpPr>
        <p:spPr>
          <a:xfrm>
            <a:off x="14315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Actividad colaborativa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1" name="Google Shape;281;p64"/>
          <p:cNvSpPr txBox="1"/>
          <p:nvPr/>
        </p:nvSpPr>
        <p:spPr>
          <a:xfrm>
            <a:off x="473350" y="1626100"/>
            <a:ext cx="7169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Probando estructuras en Python</a:t>
            </a:r>
            <a:endParaRPr sz="2500" b="0" i="0" u="none" strike="noStrike" cap="none">
              <a:solidFill>
                <a:srgbClr val="DEFC5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82" name="Google Shape;282;p64"/>
          <p:cNvSpPr txBox="1"/>
          <p:nvPr/>
        </p:nvSpPr>
        <p:spPr>
          <a:xfrm>
            <a:off x="473350" y="398055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lang="es" sz="2000" b="1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20 minutos</a:t>
            </a:r>
            <a:endParaRPr sz="2000" b="1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83" name="Google Shape;283;p64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284" name="Google Shape;284;p64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5" name="Google Shape;285;p64" title="ícono de actividad colaborativa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47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6" name="Google Shape;286;p64"/>
          <p:cNvSpPr txBox="1"/>
          <p:nvPr/>
        </p:nvSpPr>
        <p:spPr>
          <a:xfrm>
            <a:off x="473350" y="2195500"/>
            <a:ext cx="71694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Deberán resolver en grupo dos problemas reales, utilizando las estructuras aprendidas de programación en Python en una notebook.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65"/>
          <p:cNvGrpSpPr/>
          <p:nvPr/>
        </p:nvGrpSpPr>
        <p:grpSpPr>
          <a:xfrm>
            <a:off x="457350" y="468286"/>
            <a:ext cx="431074" cy="431074"/>
            <a:chOff x="473351" y="619523"/>
            <a:chExt cx="738900" cy="738900"/>
          </a:xfrm>
        </p:grpSpPr>
        <p:sp>
          <p:nvSpPr>
            <p:cNvPr id="292" name="Google Shape;292;p65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3" name="Google Shape;293;p65" title="ícono de actividad colaborativa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47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4" name="Google Shape;294;p65"/>
          <p:cNvSpPr txBox="1"/>
          <p:nvPr/>
        </p:nvSpPr>
        <p:spPr>
          <a:xfrm>
            <a:off x="501450" y="990513"/>
            <a:ext cx="7310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5" name="Google Shape;295;p65"/>
          <p:cNvSpPr txBox="1"/>
          <p:nvPr/>
        </p:nvSpPr>
        <p:spPr>
          <a:xfrm>
            <a:off x="930550" y="468275"/>
            <a:ext cx="291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COLABORATIVA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6" name="Google Shape;296;p65"/>
          <p:cNvSpPr txBox="1"/>
          <p:nvPr/>
        </p:nvSpPr>
        <p:spPr>
          <a:xfrm>
            <a:off x="577275" y="1161300"/>
            <a:ext cx="38346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Consigna: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Se tiene una lista con Valores= [200, 225, 232, 221, 243, 256, 255] que representan los precios de una acción de la compañía X la semana pasada (cada dato representa el promedio diario)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Escribir el código para calcular los días de la semana donde hubo un retroceso respecto al día anterior en el valor de la acción de la compañía X.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7" name="Google Shape;297;p65"/>
          <p:cNvSpPr txBox="1"/>
          <p:nvPr/>
        </p:nvSpPr>
        <p:spPr>
          <a:xfrm>
            <a:off x="4555675" y="1161300"/>
            <a:ext cx="3834600" cy="28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Sugerencia: Crear otra lista   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Dias=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'Lunes'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'Martes'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'Miercoles'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'Jueves'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'Viernes'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'Sabado'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'Domingo'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hacer la iteración y utilice un ciclo con la siguiente estructura 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x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 </a:t>
            </a:r>
            <a:r>
              <a:rPr lang="es" sz="1050" b="0" i="0" u="none" strike="noStrike" cap="none">
                <a:solidFill>
                  <a:srgbClr val="82C6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" sz="10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Dias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Valores</a:t>
            </a:r>
            <a:r>
              <a:rPr lang="es" sz="10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hacer uso de la función</a:t>
            </a:r>
            <a:r>
              <a:rPr lang="es" sz="1600" b="0" i="1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lang="es" sz="10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np.diff 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de condicionales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8" name="Google Shape;298;p65"/>
          <p:cNvSpPr txBox="1"/>
          <p:nvPr/>
        </p:nvSpPr>
        <p:spPr>
          <a:xfrm>
            <a:off x="457350" y="4648750"/>
            <a:ext cx="7056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NOTA:</a:t>
            </a:r>
            <a:r>
              <a:rPr lang="es" sz="1100" b="0" i="0" u="none" strike="noStrike" cap="non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 usaremos los breakouts rooms. El tutor/a tendrá el rol de facilitador/a.</a:t>
            </a:r>
            <a:endParaRPr sz="1000" b="0" i="1" u="sng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6"/>
          <p:cNvSpPr txBox="1"/>
          <p:nvPr/>
        </p:nvSpPr>
        <p:spPr>
          <a:xfrm>
            <a:off x="1461300" y="19252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Funciones</a:t>
            </a:r>
            <a:endParaRPr sz="38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7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9" name="Google Shape;309;p67"/>
          <p:cNvSpPr txBox="1"/>
          <p:nvPr/>
        </p:nvSpPr>
        <p:spPr>
          <a:xfrm>
            <a:off x="473350" y="1626100"/>
            <a:ext cx="7169400" cy="28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¿Cómo el uso de funciones permite resolver 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un problema real?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10" name="Google Shape;310;p67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311" name="Google Shape;311;p67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2" name="Google Shape;312;p67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8"/>
          <p:cNvSpPr txBox="1"/>
          <p:nvPr/>
        </p:nvSpPr>
        <p:spPr>
          <a:xfrm>
            <a:off x="14315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Actividad colaborativa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8" name="Google Shape;318;p68"/>
          <p:cNvSpPr txBox="1"/>
          <p:nvPr/>
        </p:nvSpPr>
        <p:spPr>
          <a:xfrm>
            <a:off x="473350" y="1626100"/>
            <a:ext cx="7713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Cálculo de estadística descriptiva básica</a:t>
            </a:r>
            <a:endParaRPr sz="2500" b="0" i="0" u="none" strike="noStrike" cap="none">
              <a:solidFill>
                <a:srgbClr val="DEFC5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19" name="Google Shape;319;p68"/>
          <p:cNvSpPr txBox="1"/>
          <p:nvPr/>
        </p:nvSpPr>
        <p:spPr>
          <a:xfrm>
            <a:off x="473350" y="398055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lang="es" sz="2000" b="1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20 minutos</a:t>
            </a:r>
            <a:endParaRPr sz="2000" b="1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20" name="Google Shape;320;p68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321" name="Google Shape;321;p68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2" name="Google Shape;322;p68" title="ícono de actividad colaborativa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47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3" name="Google Shape;323;p68"/>
          <p:cNvSpPr txBox="1"/>
          <p:nvPr/>
        </p:nvSpPr>
        <p:spPr>
          <a:xfrm>
            <a:off x="473350" y="2195500"/>
            <a:ext cx="7169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Aplicando conceptos de programación estructurada para obtener resúmenes numéricos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69"/>
          <p:cNvGrpSpPr/>
          <p:nvPr/>
        </p:nvGrpSpPr>
        <p:grpSpPr>
          <a:xfrm>
            <a:off x="457350" y="468286"/>
            <a:ext cx="431074" cy="431074"/>
            <a:chOff x="473351" y="619523"/>
            <a:chExt cx="738900" cy="738900"/>
          </a:xfrm>
        </p:grpSpPr>
        <p:sp>
          <p:nvSpPr>
            <p:cNvPr id="329" name="Google Shape;329;p69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0" name="Google Shape;330;p69" title="ícono de actividad colaborativa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47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1" name="Google Shape;331;p69"/>
          <p:cNvSpPr txBox="1"/>
          <p:nvPr/>
        </p:nvSpPr>
        <p:spPr>
          <a:xfrm>
            <a:off x="930550" y="468275"/>
            <a:ext cx="291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COLABORATIVA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457350" y="1331050"/>
            <a:ext cx="3834600" cy="2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Consigna:</a:t>
            </a: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Utilizaremos la información asociada con las acciones de diversas compañías para resolver las siguientes consignas: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👉 Por medio de un ciclo (For o While) obtener el promedio, desviación estándar y varianza de cada una de las acciones en cada columna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4511575" y="1331050"/>
            <a:ext cx="38346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👉 Crear una función que itere sobre cada columna de las acciones e identifique valor maximo y minimo 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Hint: Pueden usar las funciones .mean(), .std(), .var(), .min(), .max() de Pandas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recomienda trabajar en grupos de 2 o 3 estudiantes. 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4" name="Google Shape;334;p69"/>
          <p:cNvSpPr txBox="1"/>
          <p:nvPr/>
        </p:nvSpPr>
        <p:spPr>
          <a:xfrm>
            <a:off x="457350" y="4648750"/>
            <a:ext cx="7056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NOTA:</a:t>
            </a:r>
            <a:r>
              <a:rPr lang="es" sz="1100" b="0" i="0" u="none" strike="noStrike" cap="non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 usaremos los breakouts rooms. El tutor/a tendrá el rol de facilitador/a.</a:t>
            </a:r>
            <a:endParaRPr sz="1000" b="0" i="1" u="sng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0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sz="4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1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 b="0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72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r>
              <a:rPr lang="es" sz="4000" b="1" i="0" u="none" strike="noStrike" cap="non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000" b="1" i="0" u="none" strike="noStrike" cap="non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 la clase hoy</a:t>
            </a:r>
            <a:endParaRPr sz="4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0" name="Google Shape;350;p72"/>
          <p:cNvSpPr txBox="1"/>
          <p:nvPr/>
        </p:nvSpPr>
        <p:spPr>
          <a:xfrm>
            <a:off x="2109143" y="2502363"/>
            <a:ext cx="4925700" cy="20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Nociones básicas: variable, asignación y expresiones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Objetos y punteros</a:t>
            </a:r>
            <a:b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Nociones básicas: Estructuras de Control, Operadores y Funciones.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3"/>
          <p:cNvSpPr txBox="1"/>
          <p:nvPr/>
        </p:nvSpPr>
        <p:spPr>
          <a:xfrm>
            <a:off x="475500" y="2287050"/>
            <a:ext cx="8193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Educación digital</a:t>
            </a:r>
            <a:endParaRPr sz="3100" b="1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1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para el mundo real</a:t>
            </a:r>
            <a:r>
              <a:rPr lang="es" sz="31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3100" b="1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1613</Words>
  <Application>Microsoft Office PowerPoint</Application>
  <PresentationFormat>Presentación en pantalla (16:9)</PresentationFormat>
  <Paragraphs>171</Paragraphs>
  <Slides>33</Slides>
  <Notes>33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33</vt:i4>
      </vt:variant>
    </vt:vector>
  </HeadingPairs>
  <TitlesOfParts>
    <vt:vector size="40" baseType="lpstr">
      <vt:lpstr>Helvetica Neue Light</vt:lpstr>
      <vt:lpstr>Roboto Mono</vt:lpstr>
      <vt:lpstr>DM Sans</vt:lpstr>
      <vt:lpstr>Arial</vt:lpstr>
      <vt:lpstr>Courier New</vt:lpstr>
      <vt:lpstr>Simple Light</vt:lpstr>
      <vt:lpstr>Coder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Turi</cp:lastModifiedBy>
  <cp:revision>1</cp:revision>
  <dcterms:modified xsi:type="dcterms:W3CDTF">2026-04-20T22:32:24Z</dcterms:modified>
</cp:coreProperties>
</file>