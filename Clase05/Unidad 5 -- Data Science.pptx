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6" r:id="rId2"/>
    <p:sldMasterId id="2147483685" r:id="rId3"/>
  </p:sldMasterIdLst>
  <p:notesMasterIdLst>
    <p:notesMasterId r:id="rId58"/>
  </p:notesMasterIdLst>
  <p:sldIdLst>
    <p:sldId id="297" r:id="rId4"/>
    <p:sldId id="298" r:id="rId5"/>
    <p:sldId id="299" r:id="rId6"/>
    <p:sldId id="368" r:id="rId7"/>
    <p:sldId id="406" r:id="rId8"/>
    <p:sldId id="321" r:id="rId9"/>
    <p:sldId id="374" r:id="rId10"/>
    <p:sldId id="407" r:id="rId11"/>
    <p:sldId id="369" r:id="rId12"/>
    <p:sldId id="370" r:id="rId13"/>
    <p:sldId id="371" r:id="rId14"/>
    <p:sldId id="372" r:id="rId15"/>
    <p:sldId id="408" r:id="rId16"/>
    <p:sldId id="373" r:id="rId17"/>
    <p:sldId id="409" r:id="rId18"/>
    <p:sldId id="375" r:id="rId19"/>
    <p:sldId id="410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89" r:id="rId34"/>
    <p:sldId id="390" r:id="rId35"/>
    <p:sldId id="391" r:id="rId36"/>
    <p:sldId id="392" r:id="rId37"/>
    <p:sldId id="393" r:id="rId38"/>
    <p:sldId id="394" r:id="rId39"/>
    <p:sldId id="305" r:id="rId40"/>
    <p:sldId id="352" r:id="rId41"/>
    <p:sldId id="304" r:id="rId42"/>
    <p:sldId id="395" r:id="rId43"/>
    <p:sldId id="396" r:id="rId44"/>
    <p:sldId id="397" r:id="rId45"/>
    <p:sldId id="398" r:id="rId46"/>
    <p:sldId id="399" r:id="rId47"/>
    <p:sldId id="404" r:id="rId48"/>
    <p:sldId id="401" r:id="rId49"/>
    <p:sldId id="402" r:id="rId50"/>
    <p:sldId id="411" r:id="rId51"/>
    <p:sldId id="412" r:id="rId52"/>
    <p:sldId id="403" r:id="rId53"/>
    <p:sldId id="342" r:id="rId54"/>
    <p:sldId id="405" r:id="rId55"/>
    <p:sldId id="302" r:id="rId56"/>
    <p:sldId id="301" r:id="rId57"/>
  </p:sldIdLst>
  <p:sldSz cx="9144000" cy="5143500" type="screen16x9"/>
  <p:notesSz cx="6858000" cy="9144000"/>
  <p:embeddedFontLst>
    <p:embeddedFont>
      <p:font typeface="Helvetica Neue Light" panose="020B0604020202020204" charset="0"/>
      <p:regular r:id="rId59"/>
      <p:bold r:id="rId60"/>
      <p:italic r:id="rId61"/>
      <p:boldItalic r:id="rId62"/>
    </p:embeddedFont>
    <p:embeddedFont>
      <p:font typeface="Helvetica Neue" panose="020B0604020202020204" charset="0"/>
      <p:regular r:id="rId63"/>
      <p:bold r:id="rId64"/>
      <p:italic r:id="rId65"/>
      <p:boldItalic r:id="rId66"/>
    </p:embeddedFont>
    <p:embeddedFont>
      <p:font typeface="Roboto Mono" panose="020B0604020202020204" charset="0"/>
      <p:regular r:id="rId67"/>
      <p:bold r:id="rId68"/>
      <p:italic r:id="rId69"/>
      <p:boldItalic r:id="rId70"/>
    </p:embeddedFont>
    <p:embeddedFont>
      <p:font typeface="Plus Jakarta Sans" panose="020B0604020202020204" charset="0"/>
      <p:regular r:id="rId71"/>
    </p:embeddedFont>
    <p:embeddedFont>
      <p:font typeface="Plus Jakarta Sans ExtraBold" panose="020B0604020202020204" charset="0"/>
      <p:bold r:id="rId72"/>
    </p:embeddedFont>
    <p:embeddedFont>
      <p:font typeface="DM Sans" panose="020B060402020202020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5" userDrawn="1">
          <p15:clr>
            <a:srgbClr val="A4A3A4"/>
          </p15:clr>
        </p15:guide>
        <p15:guide id="2" pos="5460" userDrawn="1">
          <p15:clr>
            <a:srgbClr val="A4A3A4"/>
          </p15:clr>
        </p15:guide>
        <p15:guide id="3" pos="300" userDrawn="1">
          <p15:clr>
            <a:srgbClr val="9AA0A6"/>
          </p15:clr>
        </p15:guide>
        <p15:guide id="4" orient="horz" pos="2892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16" y="78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font" Target="fonts/font16.fntdata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font" Target="fonts/font3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4.fntdata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8.fntdata"/><Relationship Id="rId7" Type="http://schemas.openxmlformats.org/officeDocument/2006/relationships/slide" Target="slides/slide4.xml"/><Relationship Id="rId71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06769faed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2206769faed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43135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900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527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158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0280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804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808771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133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556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70091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240985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415679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249645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Hacer observaciones y conclusiones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82704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613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99559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531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30dc5126c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30dc5126c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704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04948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3916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756448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Profe: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Estas slides son de guía, debes mostrar el paso a paso haciéndolo en vivo, junto a los estudiantes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2663922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279411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3952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2594644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0514211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44808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20566eaff2_4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220566eaff2_4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2399241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8505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20566eaff2_4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g220566eaff2_4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-419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-419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599330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5840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20566eaff2_4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g220566eaff2_4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645114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4250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20566eaff2_4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g220566eaff2_4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-419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-419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14598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20566eaff2_4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220566eaff2_4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913480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20566eaff2_4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2" name="Google Shape;662;g220566eaff2_4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 al archivo mencionado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644892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20566eaff2_4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6" name="Google Shape;676;g220566eaff2_4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621134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3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4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02-B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03-B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3185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03-B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01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4">
  <p:cSld name="03-B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0946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3">
  <p:cSld name="Con imagen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752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03-B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8123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68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9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33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5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5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0" name="Google Shape;150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4" name="Google Shape;164;p5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5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9" name="Google Shape;169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2" name="Google Shape;172;p5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1" title="logo coderhous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62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3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4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5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8" name="Google Shape;188;p65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6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8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5" name="Google Shape;195;p68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8" name="Google Shape;198;p69" title="logo coderhous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70" title="logo coderhouse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1" title="logo coderhouse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72" title="logo coderhouse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2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  <p:sldLayoutId id="2147483661" r:id="rId11"/>
    <p:sldLayoutId id="2147483664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1800"/>
            </a:pPr>
            <a:r>
              <a:rPr lang="en-US" sz="1800" b="1" dirty="0" smtClean="0">
                <a:solidFill>
                  <a:schemeClr val="lt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UNIDAD </a:t>
            </a:r>
            <a:r>
              <a:rPr lang="es-419" sz="18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r>
              <a:rPr lang="en-US" sz="1800" b="1" dirty="0" smtClean="0">
                <a:solidFill>
                  <a:schemeClr val="lt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 </a:t>
            </a:r>
            <a:r>
              <a:rPr lang="en-US" sz="1800" b="1" dirty="0">
                <a:solidFill>
                  <a:schemeClr val="lt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Visualizaciones Avanzadas</a:t>
            </a: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60700"/>
                </a:solidFill>
                <a:latin typeface="Plus Jakarta Sans ExtraBold" panose="020B0704020202020204"/>
                <a:ea typeface="Plus Jakarta Sans ExtraBold" panose="020B0704020202020204"/>
                <a:cs typeface="Plus Jakarta Sans ExtraBold" panose="020B0704020202020204"/>
                <a:sym typeface="Plus Jakarta Sans ExtraBold" panose="020B0704020202020204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 panose="020B0704020202020204"/>
              <a:ea typeface="Plus Jakarta Sans ExtraBold" panose="020B0704020202020204"/>
              <a:cs typeface="Plus Jakarta Sans ExtraBold" panose="020B0704020202020204"/>
              <a:sym typeface="Plus Jakarta Sans ExtraBold" panose="020B0704020202020204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3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419" sz="3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sz="3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5" name="Google Shape;305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238" y="13929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3"/>
          <p:cNvSpPr txBox="1"/>
          <p:nvPr/>
        </p:nvSpPr>
        <p:spPr>
          <a:xfrm>
            <a:off x="1260775" y="1299225"/>
            <a:ext cx="73818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 relevancia de la visualización de datos.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Identificar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cómo lograr una comunicación efectiva.  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 análisis básico, las relaciones entre elementos y la distribución.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 en más de dos dimensiones.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librerías más utilizadas para visualización Python.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Aprender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 graficar datos en Python.</a:t>
            </a:r>
            <a:b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uso básico de las librerías más utilizadas: Matplotlib y Seaborn.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7" name="Google Shape;307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1808101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2228588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8613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103"/>
          <p:cNvCxnSpPr>
            <a:stCxn id="305" idx="2"/>
            <a:endCxn id="307" idx="0"/>
          </p:cNvCxnSpPr>
          <p:nvPr/>
        </p:nvCxnSpPr>
        <p:spPr>
          <a:xfrm rot="-5400000" flipH="1">
            <a:off x="942975" y="1698638"/>
            <a:ext cx="218100" cy="600"/>
          </a:xfrm>
          <a:prstGeom prst="bentConnector3">
            <a:avLst>
              <a:gd name="adj1" fmla="val 50026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103"/>
          <p:cNvCxnSpPr>
            <a:stCxn id="307" idx="2"/>
            <a:endCxn id="308" idx="0"/>
          </p:cNvCxnSpPr>
          <p:nvPr/>
        </p:nvCxnSpPr>
        <p:spPr>
          <a:xfrm rot="-5400000" flipH="1">
            <a:off x="939975" y="2116525"/>
            <a:ext cx="2235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103"/>
          <p:cNvCxnSpPr>
            <a:stCxn id="308" idx="2"/>
            <a:endCxn id="309" idx="0"/>
          </p:cNvCxnSpPr>
          <p:nvPr/>
        </p:nvCxnSpPr>
        <p:spPr>
          <a:xfrm rot="-5400000" flipH="1">
            <a:off x="333825" y="3143163"/>
            <a:ext cx="14358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3" name="Google Shape;31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2649076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030076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445700"/>
            <a:ext cx="196975" cy="196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299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1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Tipos de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graficos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0"/>
          <p:cNvSpPr/>
          <p:nvPr/>
        </p:nvSpPr>
        <p:spPr>
          <a:xfrm>
            <a:off x="3237750" y="735175"/>
            <a:ext cx="2727000" cy="593100"/>
          </a:xfrm>
          <a:prstGeom prst="roundRect">
            <a:avLst>
              <a:gd name="adj" fmla="val 16667"/>
            </a:avLst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110"/>
          <p:cNvCxnSpPr/>
          <p:nvPr/>
        </p:nvCxnSpPr>
        <p:spPr>
          <a:xfrm>
            <a:off x="1044150" y="2064775"/>
            <a:ext cx="711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110"/>
          <p:cNvCxnSpPr/>
          <p:nvPr/>
        </p:nvCxnSpPr>
        <p:spPr>
          <a:xfrm>
            <a:off x="1045063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rgbClr val="393B43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358" name="Google Shape;358;p110"/>
          <p:cNvSpPr txBox="1"/>
          <p:nvPr/>
        </p:nvSpPr>
        <p:spPr>
          <a:xfrm>
            <a:off x="4035300" y="776575"/>
            <a:ext cx="1131900" cy="5103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Gráficos 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9" name="Google Shape;359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775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110"/>
          <p:cNvCxnSpPr/>
          <p:nvPr/>
        </p:nvCxnSpPr>
        <p:spPr>
          <a:xfrm>
            <a:off x="4572000" y="1420675"/>
            <a:ext cx="0" cy="51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361" name="Google Shape;361;p110"/>
          <p:cNvCxnSpPr/>
          <p:nvPr/>
        </p:nvCxnSpPr>
        <p:spPr>
          <a:xfrm>
            <a:off x="2823550" y="2074850"/>
            <a:ext cx="0" cy="490200"/>
          </a:xfrm>
          <a:prstGeom prst="straightConnector1">
            <a:avLst/>
          </a:prstGeom>
          <a:noFill/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2" name="Google Shape;362;p110"/>
          <p:cNvCxnSpPr/>
          <p:nvPr/>
        </p:nvCxnSpPr>
        <p:spPr>
          <a:xfrm>
            <a:off x="4572000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3" name="Google Shape;363;p110"/>
          <p:cNvCxnSpPr/>
          <p:nvPr/>
        </p:nvCxnSpPr>
        <p:spPr>
          <a:xfrm>
            <a:off x="6322025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4" name="Google Shape;364;p110"/>
          <p:cNvCxnSpPr/>
          <p:nvPr/>
        </p:nvCxnSpPr>
        <p:spPr>
          <a:xfrm>
            <a:off x="8161182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365" name="Google Shape;365;p110"/>
          <p:cNvSpPr/>
          <p:nvPr/>
        </p:nvSpPr>
        <p:spPr>
          <a:xfrm>
            <a:off x="333325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D1C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Líneas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110"/>
          <p:cNvSpPr/>
          <p:nvPr/>
        </p:nvSpPr>
        <p:spPr>
          <a:xfrm>
            <a:off x="2083363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D1C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Puntos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7" name="Google Shape;367;p110"/>
          <p:cNvSpPr/>
          <p:nvPr/>
        </p:nvSpPr>
        <p:spPr>
          <a:xfrm>
            <a:off x="3833400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Barras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110"/>
          <p:cNvSpPr/>
          <p:nvPr/>
        </p:nvSpPr>
        <p:spPr>
          <a:xfrm>
            <a:off x="5583425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Histograma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110"/>
          <p:cNvSpPr/>
          <p:nvPr/>
        </p:nvSpPr>
        <p:spPr>
          <a:xfrm>
            <a:off x="7333450" y="26076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Boxplot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0" name="Google Shape;370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4775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950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3328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83038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101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6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Seaborn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: Comandos básicos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930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Diferencias entre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Seaborn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y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Matplotlib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2335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Google Shape;330;p106"/>
          <p:cNvGraphicFramePr/>
          <p:nvPr/>
        </p:nvGraphicFramePr>
        <p:xfrm>
          <a:off x="247988" y="708750"/>
          <a:ext cx="8648000" cy="22495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Características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Matplotlib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Seaborn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Funcionalidad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Gráficos básicos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Temas fascinantes. Compila datos a gráficos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 larga y compleja e.g matplotlib.pyplot.bar(x_axis, y_axis)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 simple y fácil de entender e.g seaborn.barplot(x_axis,y_axis)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Múltiples figuras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 pueden tener figuras múltiples simultáneamente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Puede tener más problemas de memorias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1" name="Google Shape;331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9253" y="790950"/>
            <a:ext cx="330675" cy="3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0845" y="790950"/>
            <a:ext cx="330675" cy="330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106"/>
          <p:cNvGraphicFramePr/>
          <p:nvPr/>
        </p:nvGraphicFramePr>
        <p:xfrm>
          <a:off x="248000" y="2958350"/>
          <a:ext cx="8648000" cy="1577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Flexibilidad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Altamente customizable y robusto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Evita superposición de temas 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DataFrames y Arrays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Funciona eficientemente y trata a figuras y ejes como objetos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Más funcional y organizado y trata datasets como unidad simple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Casos de uso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Gráficas diversas usando Numpy y Pandas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Versión extendida de Matplotlib con el uso de Numpy y Pandas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71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Tipo de funciones en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Seaborn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</a:t>
            </a: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1989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 &amp; Figure-level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108"/>
          <p:cNvSpPr txBox="1"/>
          <p:nvPr/>
        </p:nvSpPr>
        <p:spPr>
          <a:xfrm>
            <a:off x="473350" y="1908175"/>
            <a:ext cx="3834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Axes-level: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grafican datos en un objeto matplotlib.pyplot.Axes que retorna el valor de la función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Figure-level: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interactúa con matplotlib mediante un objeto Seaborn que usualmente es </a:t>
            </a:r>
            <a:r>
              <a:rPr lang="es-419" sz="1350" b="1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FacetGrid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08"/>
          <p:cNvSpPr txBox="1"/>
          <p:nvPr/>
        </p:nvSpPr>
        <p:spPr>
          <a:xfrm>
            <a:off x="4582200" y="1551225"/>
            <a:ext cx="3834600" cy="2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EFF41"/>
                </a:highlight>
                <a:latin typeface="DM Sans"/>
                <a:ea typeface="DM Sans"/>
                <a:cs typeface="DM Sans"/>
                <a:sym typeface="DM Sans"/>
              </a:rPr>
              <a:t>Algunas diferencias</a:t>
            </a:r>
            <a:endParaRPr sz="1350" b="0" i="0" u="none" strike="noStrike" cap="none">
              <a:solidFill>
                <a:schemeClr val="dk1"/>
              </a:solidFill>
              <a:highlight>
                <a:srgbClr val="EEFF4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Figure-level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 leyenda se coloca fuera del frame y pueden crear fácilmente figuras con múltiples subplots.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modifican más allá de los ejes en los que se dibujan y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aceptan el argumento ax que se integra con la interfaz orientada a objetos.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75381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02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Uso de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subplots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y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Facetgrid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45120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12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494078" y="1908767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Subgraficos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0894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Subgráficos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113"/>
          <p:cNvSpPr txBox="1"/>
          <p:nvPr/>
        </p:nvSpPr>
        <p:spPr>
          <a:xfrm>
            <a:off x="473350" y="1908175"/>
            <a:ext cx="4144800" cy="21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Podemos definir una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grilla de gráficos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dentro de una misma figura.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plt.subplots, especificamos: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número de filas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la grilla = nrows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número de columnas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la grilla	= ncols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ax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convierte en un array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lo tanto,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debemos usar corchetes ⚠️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84840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114"/>
          <p:cNvSpPr txBox="1"/>
          <p:nvPr/>
        </p:nvSpPr>
        <p:spPr>
          <a:xfrm>
            <a:off x="473350" y="1704050"/>
            <a:ext cx="41448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Comparemos las precipitaciones de Enero, Febrero y Marzo a lo largo de los años. ¿Cuál será el más seco? 🤔</a:t>
            </a: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Definimos un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ax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tres filas y una sola columna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eje x = los años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eje y = las precipitaciones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14"/>
          <p:cNvSpPr txBox="1"/>
          <p:nvPr/>
        </p:nvSpPr>
        <p:spPr>
          <a:xfrm>
            <a:off x="624750" y="4111938"/>
            <a:ext cx="78945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fig, ax = plt.subplots(nrows=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ncols=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figsize=(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), sharex=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sharey=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7" name="Google Shape;397;p114"/>
          <p:cNvSpPr txBox="1"/>
          <p:nvPr/>
        </p:nvSpPr>
        <p:spPr>
          <a:xfrm>
            <a:off x="5047750" y="1663225"/>
            <a:ext cx="3566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los años son los mismos para todos los gráficos, ponemos el parámetro sharex en True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88939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115"/>
          <p:cNvSpPr txBox="1"/>
          <p:nvPr/>
        </p:nvSpPr>
        <p:spPr>
          <a:xfrm>
            <a:off x="476250" y="1431175"/>
            <a:ext cx="41448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Segundo, 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cada fila, le asignamos las precipitaciones de un mes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115"/>
          <p:cNvSpPr txBox="1"/>
          <p:nvPr/>
        </p:nvSpPr>
        <p:spPr>
          <a:xfrm>
            <a:off x="1061100" y="2873425"/>
            <a:ext cx="7021800" cy="143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'Jan'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enero'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'Feb'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febrero'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'C1'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'Mar'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marzo'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'C2'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45067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0" name="Google Shape;410;p116"/>
          <p:cNvSpPr txBox="1"/>
          <p:nvPr/>
        </p:nvSpPr>
        <p:spPr>
          <a:xfrm>
            <a:off x="476250" y="1431175"/>
            <a:ext cx="41448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Tercero, 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Añadimos textos y leyendas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116"/>
          <p:cNvSpPr txBox="1"/>
          <p:nvPr/>
        </p:nvSpPr>
        <p:spPr>
          <a:xfrm>
            <a:off x="1229550" y="2679000"/>
            <a:ext cx="6684900" cy="164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].set_title(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los primeros tres meses del año'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].set_xlabel(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'Año'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].set_ylabel(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'Precipitación (mm.)'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 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  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411961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7" name="Google Shape;417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199" y="1450799"/>
            <a:ext cx="5763606" cy="32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6062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73952" y="1908767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FaceGrid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Seaborn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63803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119"/>
          <p:cNvSpPr txBox="1"/>
          <p:nvPr/>
        </p:nvSpPr>
        <p:spPr>
          <a:xfrm>
            <a:off x="597875" y="1504725"/>
            <a:ext cx="4385700" cy="10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FacetGrid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 = sns.load_dataset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"tips"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 = sns.FacetGrid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col=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"time"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row=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"sex"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</a:t>
            </a:r>
            <a:r>
              <a:rPr lang="es-419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sns.scatterplot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"total_bill"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9" name="Google Shape;429;p119"/>
          <p:cNvSpPr txBox="1"/>
          <p:nvPr/>
        </p:nvSpPr>
        <p:spPr>
          <a:xfrm>
            <a:off x="597875" y="3181925"/>
            <a:ext cx="4385700" cy="122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FacetGrid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 = sns.FacetGrid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col=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"time"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hue=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"sex"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g.map_dataframe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sns.scatterplot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"total_bill"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y=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g.add_legend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0" name="Google Shape;430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7225" y="1061748"/>
            <a:ext cx="2224925" cy="19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6675" y="3092177"/>
            <a:ext cx="3157775" cy="1403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583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73952" y="1908767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Customizaciones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sobre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graficos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83684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4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Personalizando Seaborn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066163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125"/>
          <p:cNvSpPr txBox="1"/>
          <p:nvPr/>
        </p:nvSpPr>
        <p:spPr>
          <a:xfrm>
            <a:off x="1229550" y="1543138"/>
            <a:ext cx="6684900" cy="291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style=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"darkgrid"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".6"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"grid.linestyle"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":"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"axes.titleweight"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"normal"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"axes.titlelocation"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"axes.labelsize"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"12"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"axes.labelweight"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"normal"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"axes.linewidth"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"0.5"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"purple"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"grid.linestyle"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"--"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"grid.linewidth"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"0.5"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"font.fantasy"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"Comic Sans MS"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"font.serif"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"Utopia"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06145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126"/>
          <p:cNvSpPr txBox="1"/>
          <p:nvPr/>
        </p:nvSpPr>
        <p:spPr>
          <a:xfrm>
            <a:off x="1229550" y="1616500"/>
            <a:ext cx="6684900" cy="78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penguins = sns.load_dataset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"penguins"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Axis-level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data=penguins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"flipper_length_mm"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88" name="Google Shape;488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275" y="2488125"/>
            <a:ext cx="2729432" cy="2102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494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127"/>
          <p:cNvSpPr txBox="1"/>
          <p:nvPr/>
        </p:nvSpPr>
        <p:spPr>
          <a:xfrm>
            <a:off x="473350" y="1626100"/>
            <a:ext cx="71694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1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Surfeando en Seaborn.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El profesor hará una demostración compartiendo pantalla de un ejemplo aplicado de Seaborn.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Tiempo estimado: 1</a:t>
            </a:r>
            <a:r>
              <a:rPr lang="es-419" sz="25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sz="25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95" name="Google Shape;495;p12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496" name="Google Shape;496;p12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7" name="Google Shape;497;p12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85334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3" name="Google Shape;503;p128"/>
          <p:cNvSpPr txBox="1"/>
          <p:nvPr/>
        </p:nvSpPr>
        <p:spPr>
          <a:xfrm>
            <a:off x="473350" y="1908175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valores son mediciones del pulso de 30 personas tras realizar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algún tipo de actividad por un determinado tiempo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Las columnas son: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4" name="Google Shape;504;p128"/>
          <p:cNvSpPr txBox="1"/>
          <p:nvPr/>
        </p:nvSpPr>
        <p:spPr>
          <a:xfrm>
            <a:off x="4017800" y="1528125"/>
            <a:ext cx="43065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número identificador de la persona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Diet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dieta de la persona = baja en grasas o sin grasas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duración del ejercicio = 1 min, 15 min o 30 min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Kind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tipo de ejercicio	= reposo, caminar o correr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731791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0" name="Google Shape;510;p129"/>
          <p:cNvSpPr txBox="1"/>
          <p:nvPr/>
        </p:nvSpPr>
        <p:spPr>
          <a:xfrm>
            <a:off x="473350" y="1908175"/>
            <a:ext cx="38346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Observemos la distribución de las mediciones luego de 30 minutos de realizar el ejercicio.</a:t>
            </a: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Extraigamos sólo aquellas observaciones que se corresponden con un ejercicio de 30 minutos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1" name="Google Shape;511;p129"/>
          <p:cNvSpPr txBox="1"/>
          <p:nvPr/>
        </p:nvSpPr>
        <p:spPr>
          <a:xfrm>
            <a:off x="534425" y="3868050"/>
            <a:ext cx="4657500" cy="79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df_30_min = df_ejercicio[df_ejercicio[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'time'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 == 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'30 min'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df_30_min.head()c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12" name="Google Shape;512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5150" y="2055193"/>
            <a:ext cx="2859300" cy="1937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129"/>
          <p:cNvCxnSpPr>
            <a:stCxn id="511" idx="3"/>
            <a:endCxn id="512" idx="1"/>
          </p:cNvCxnSpPr>
          <p:nvPr/>
        </p:nvCxnSpPr>
        <p:spPr>
          <a:xfrm rot="10800000" flipH="1">
            <a:off x="5191925" y="3024300"/>
            <a:ext cx="563100" cy="12408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82063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9" name="Google Shape;519;p130"/>
          <p:cNvSpPr txBox="1"/>
          <p:nvPr/>
        </p:nvSpPr>
        <p:spPr>
          <a:xfrm>
            <a:off x="473350" y="1703625"/>
            <a:ext cx="38346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Graficamos las distribuciones con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sns.displot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0" name="Google Shape;520;p130"/>
          <p:cNvSpPr txBox="1"/>
          <p:nvPr/>
        </p:nvSpPr>
        <p:spPr>
          <a:xfrm>
            <a:off x="784150" y="3492700"/>
            <a:ext cx="7519500" cy="100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plt.figure()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 = sns.displot(data=df_30_min, x=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'pulse'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kind=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'kde'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hue=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'kind'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fill=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ax.set(xlabel=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'Frecuencia Cardíaca'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ylabel=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'Densidad'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title=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'Distribución  de las pulsaciones'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1" name="Google Shape;521;p130"/>
          <p:cNvSpPr txBox="1"/>
          <p:nvPr/>
        </p:nvSpPr>
        <p:spPr>
          <a:xfrm>
            <a:off x="4497150" y="1703625"/>
            <a:ext cx="38346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Debemos especificar la columna de valores en el parámetro x, en este caso nos interesa la columna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pulse</a:t>
            </a:r>
            <a:endParaRPr sz="1350" b="0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queremos separar las distribuciones según 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 de actividad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pasamos el parámetro hue='kind'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189765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131"/>
          <p:cNvSpPr txBox="1"/>
          <p:nvPr/>
        </p:nvSpPr>
        <p:spPr>
          <a:xfrm>
            <a:off x="476250" y="193452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era de esperar, aquellas personas que corrieron terminaron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(en promedio)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una mayor frecuencia cardíaca respecto de las que no lo hicieron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8" name="Google Shape;528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0675" y="1618775"/>
            <a:ext cx="3548899" cy="2972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0126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Algunas observaciones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132"/>
          <p:cNvSpPr txBox="1"/>
          <p:nvPr/>
        </p:nvSpPr>
        <p:spPr>
          <a:xfrm>
            <a:off x="476250" y="1934525"/>
            <a:ext cx="42183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kind='kde'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Seaborn realiza una estimación de la distribución a partir de los datos del Data Frame. A grandes rasgos, se puede pensar a este tipo de gráficos como una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versión suavizada del histograma de frecuencias relativas.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kind='hist',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Seaborn graficará un histograma.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fill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añade el sombreado debajo de la distribución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69802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3"/>
          <p:cNvSpPr txBox="1"/>
          <p:nvPr/>
        </p:nvSpPr>
        <p:spPr>
          <a:xfrm>
            <a:off x="457725" y="10710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Comparando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133"/>
          <p:cNvSpPr txBox="1"/>
          <p:nvPr/>
        </p:nvSpPr>
        <p:spPr>
          <a:xfrm>
            <a:off x="457725" y="2211625"/>
            <a:ext cx="3652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comparar las distribuciones en base a las dietas, sólo hay que cambiar el parámetro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hue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133"/>
          <p:cNvSpPr txBox="1"/>
          <p:nvPr/>
        </p:nvSpPr>
        <p:spPr>
          <a:xfrm>
            <a:off x="6427740" y="2264828"/>
            <a:ext cx="149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2" name="Google Shape;542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7298" y="951850"/>
            <a:ext cx="3958375" cy="332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7899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 panose="020B0604020202020204"/>
              <a:buNone/>
            </a:pPr>
            <a:r>
              <a:rPr lang="en-US" sz="5000" b="0" i="0" u="none" strike="noStrike" cap="none">
                <a:solidFill>
                  <a:srgbClr val="E8E7E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rgbClr val="FF632B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Introducción a tipos de gráficos estadísticos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Elementos de un grafico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Características de un gráfico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7" name="Google Shape;607;p141"/>
          <p:cNvSpPr txBox="1"/>
          <p:nvPr/>
        </p:nvSpPr>
        <p:spPr>
          <a:xfrm>
            <a:off x="473350" y="1908175"/>
            <a:ext cx="3834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título entendible, claro y conciso para lograr comunicar efectivamente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Etiquetas en ejes (x,y,z) entendibles y acordes con unidades de medición si fuera el caso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nota que indique: a) fuente de datos y b) descripción adicional de ser necesaria suele ayudar a un mejor entendimiento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141"/>
          <p:cNvSpPr txBox="1"/>
          <p:nvPr/>
        </p:nvSpPr>
        <p:spPr>
          <a:xfrm>
            <a:off x="4527575" y="1908175"/>
            <a:ext cx="38346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Debe transmitir un mensaje claro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Debe resaltar puntos importantes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Buen formato de estilo (balance de colores, no recargada)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378788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Gráficos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Univariados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49016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143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619" name="Google Shape;619;p143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0" name="Google Shape;620;p143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1" name="Google Shape;621;p143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143"/>
          <p:cNvSpPr txBox="1"/>
          <p:nvPr/>
        </p:nvSpPr>
        <p:spPr>
          <a:xfrm>
            <a:off x="473350" y="1504150"/>
            <a:ext cx="7169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¿En cuál de los siguientes casos podrías usar un gráfico de barras?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3" name="Google Shape;623;p143"/>
          <p:cNvSpPr txBox="1"/>
          <p:nvPr/>
        </p:nvSpPr>
        <p:spPr>
          <a:xfrm>
            <a:off x="473350" y="3709800"/>
            <a:ext cx="716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Contesta mediante la encuesta de Zoom </a:t>
            </a:r>
            <a:endParaRPr sz="20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4" name="Google Shape;624;p143"/>
          <p:cNvSpPr txBox="1"/>
          <p:nvPr/>
        </p:nvSpPr>
        <p:spPr>
          <a:xfrm>
            <a:off x="495900" y="2555550"/>
            <a:ext cx="8152200" cy="15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5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Medición de salario mínimo/máximo en 5 países de Latinoamérica.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5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Medición de salario mínimo en 5 países de Latinoamérica, con una comparación trimestral.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4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Evolución del salario mínimo en 5 países de Latinoamérica en el último semestre.</a:t>
            </a:r>
            <a:r>
              <a:rPr lang="es-419" sz="26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5" name="Google Shape;625;p143"/>
          <p:cNvPicPr preferRelativeResize="0"/>
          <p:nvPr/>
        </p:nvPicPr>
        <p:blipFill rotWithShape="1">
          <a:blip r:embed="rId4">
            <a:alphaModFix/>
          </a:blip>
          <a:srcRect l="-28965" t="-28965"/>
          <a:stretch/>
        </p:blipFill>
        <p:spPr>
          <a:xfrm>
            <a:off x="5483513" y="4089750"/>
            <a:ext cx="657225" cy="485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endPos="30000" dist="38100" dir="5400000" fadeDir="5400012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02318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Entender las formas de los datos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lang="es-MX" sz="4000" b="1" i="0" u="none" strike="noStrike" cap="none" dirty="0" smtClean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40957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45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buscamos cuando analizamos la forma de los datos?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6" name="Google Shape;636;p145"/>
          <p:cNvSpPr txBox="1"/>
          <p:nvPr/>
        </p:nvSpPr>
        <p:spPr>
          <a:xfrm>
            <a:off x="475500" y="2503600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distribución, ¿es simétrica o asimétrica?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¿En qué parte de la distribución se ubica la mayor concentración de datos?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datos, ¿están más bien dispersos o concentrados en torno a algún valor?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¿Puede ser que existan datos demasiado alejados del resto?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7" name="Google Shape;637;p145"/>
          <p:cNvSpPr txBox="1"/>
          <p:nvPr/>
        </p:nvSpPr>
        <p:spPr>
          <a:xfrm>
            <a:off x="4522550" y="2503600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histograma da una idea acerca de la 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simetría </a:t>
            </a: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la distribución. También da una noción acerca de la 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concentración </a:t>
            </a: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los datos.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06691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Graficos</a:t>
            </a:r>
            <a:r>
              <a:rPr lang="es-MX" sz="4000" b="1" dirty="0" smtClean="0">
                <a:solidFill>
                  <a:schemeClr val="bg1"/>
                </a:solidFill>
                <a:latin typeface="Plus Jakarta Sans" panose="020B0604020202020204"/>
                <a:ea typeface="Plus Jakarta Sans" panose="020B0604020202020204"/>
                <a:cs typeface="Plus Jakarta Sans" panose="020B0604020202020204"/>
                <a:sym typeface="Plus Jakarta Sans" panose="020B0604020202020204"/>
              </a:rPr>
              <a:t> para ver mas de dos dimensiones</a:t>
            </a:r>
            <a:endParaRPr lang="es-MX" sz="4000" b="1" dirty="0">
              <a:solidFill>
                <a:schemeClr val="bg1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lang="es-MX" sz="4000" b="1" i="0" u="none" strike="noStrike" cap="none" dirty="0" smtClean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960243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147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648" name="Google Shape;648;p147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9" name="Google Shape;649;p147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0" name="Google Shape;650;p14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1" name="Google Shape;651;p147"/>
          <p:cNvSpPr txBox="1"/>
          <p:nvPr/>
        </p:nvSpPr>
        <p:spPr>
          <a:xfrm>
            <a:off x="473350" y="162610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Puede emplearse un gráfico de dispersión que contemple las variables: edad - ingreso - país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2" name="Google Shape;652;p147"/>
          <p:cNvSpPr txBox="1"/>
          <p:nvPr/>
        </p:nvSpPr>
        <p:spPr>
          <a:xfrm>
            <a:off x="473350" y="3279175"/>
            <a:ext cx="716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¿Verdadero o falso?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204596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8"/>
          <p:cNvSpPr txBox="1"/>
          <p:nvPr/>
        </p:nvSpPr>
        <p:spPr>
          <a:xfrm>
            <a:off x="457725" y="1071050"/>
            <a:ext cx="5255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pasa si tenemos datos en más dimensiones?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8" name="Google Shape;658;p148"/>
          <p:cNvSpPr txBox="1"/>
          <p:nvPr/>
        </p:nvSpPr>
        <p:spPr>
          <a:xfrm>
            <a:off x="457725" y="2943350"/>
            <a:ext cx="473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Aquí tenemos que apelar al ingenio y a las características que permiten que n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uestro cerebro “piense” en más dimensiones.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59" name="Google Shape;659;p1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2550" y="952325"/>
            <a:ext cx="2736700" cy="2736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8989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0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618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4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5" name="Google Shape;665;p149"/>
          <p:cNvSpPr txBox="1"/>
          <p:nvPr/>
        </p:nvSpPr>
        <p:spPr>
          <a:xfrm>
            <a:off x="476250" y="1046550"/>
            <a:ext cx="71694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Se han preguntado ¿cómo hacer gráficos en más de 3 dimensiones entendibles?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Utilizaremos en notebook </a:t>
            </a:r>
            <a:r>
              <a:rPr lang="es-419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Clase_5_act.ipynb </a:t>
            </a: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para entender cómo se pueden generar gráficos en 1, 2, 3 o más dimensiones.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6" name="Google Shape;666;p149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667" name="Google Shape;667;p14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8" name="Google Shape;668;p149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90645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2060057" y="2105247"/>
            <a:ext cx="8976538" cy="225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 dirty="0" smtClean="0">
                <a:solidFill>
                  <a:srgbClr val="260700"/>
                </a:solidFill>
                <a:latin typeface="Plus Jakarta Sans ExtraBold" panose="020B0704020202020204"/>
                <a:ea typeface="Plus Jakarta Sans ExtraBold" panose="020B0704020202020204"/>
                <a:cs typeface="Plus Jakarta Sans ExtraBold" panose="020B0704020202020204"/>
                <a:sym typeface="Plus Jakarta Sans ExtraBold" panose="020B0704020202020204"/>
              </a:rPr>
              <a:t>¿Preguntas?</a:t>
            </a:r>
            <a:endParaRPr sz="5400" dirty="0">
              <a:solidFill>
                <a:srgbClr val="260700"/>
              </a:solidFill>
              <a:latin typeface="Plus Jakarta Sans ExtraBold" panose="020B0704020202020204"/>
              <a:ea typeface="Plus Jakarta Sans ExtraBold" panose="020B0704020202020204"/>
              <a:cs typeface="Plus Jakarta Sans ExtraBold" panose="020B0704020202020204"/>
              <a:sym typeface="Plus Jakarta Sans ExtraBold" panose="020B0704020202020204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72128" y="4698450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51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lang="es-419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9" name="Google Shape;679;p151"/>
          <p:cNvSpPr txBox="1"/>
          <p:nvPr/>
        </p:nvSpPr>
        <p:spPr>
          <a:xfrm>
            <a:off x="2109143" y="2502363"/>
            <a:ext cx="4925700" cy="20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Visualización de datos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Bar chart. Histogramas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Series de tiempo. Dispersión. Correlación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Boxplot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 de más de dos variables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70168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305685" y="2158410"/>
            <a:ext cx="8976538" cy="225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 dirty="0" smtClean="0">
                <a:solidFill>
                  <a:srgbClr val="260700"/>
                </a:solidFill>
                <a:latin typeface="Plus Jakarta Sans ExtraBold" panose="020B0704020202020204"/>
                <a:ea typeface="Plus Jakarta Sans ExtraBold" panose="020B0704020202020204"/>
                <a:cs typeface="Plus Jakarta Sans ExtraBold" panose="020B0704020202020204"/>
                <a:sym typeface="Plus Jakarta Sans ExtraBold" panose="020B0704020202020204"/>
              </a:rPr>
              <a:t>Opina y valora esta clase</a:t>
            </a:r>
            <a:endParaRPr sz="5400" dirty="0">
              <a:solidFill>
                <a:srgbClr val="260700"/>
              </a:solidFill>
              <a:latin typeface="Plus Jakarta Sans ExtraBold" panose="020B0704020202020204"/>
              <a:ea typeface="Plus Jakarta Sans ExtraBold" panose="020B0704020202020204"/>
              <a:cs typeface="Plus Jakarta Sans ExtraBold" panose="020B0704020202020204"/>
              <a:sym typeface="Plus Jakarta Sans ExtraBold" panose="020B0704020202020204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72128" y="4698450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571500" y="2175175"/>
            <a:ext cx="64629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260700"/>
                </a:solidFill>
                <a:latin typeface="Plus Jakarta Sans ExtraBold" panose="020B0704020202020204"/>
                <a:ea typeface="Plus Jakarta Sans ExtraBold" panose="020B0704020202020204"/>
                <a:cs typeface="Plus Jakarta Sans ExtraBold" panose="020B0704020202020204"/>
                <a:sym typeface="Plus Jakarta Sans ExtraBold" panose="020B0704020202020204"/>
              </a:rPr>
              <a:t>¡Muchas</a:t>
            </a:r>
            <a:endParaRPr sz="6100">
              <a:solidFill>
                <a:srgbClr val="260700"/>
              </a:solidFill>
              <a:latin typeface="Plus Jakarta Sans ExtraBold" panose="020B0704020202020204"/>
              <a:ea typeface="Plus Jakarta Sans ExtraBold" panose="020B0704020202020204"/>
              <a:cs typeface="Plus Jakarta Sans ExtraBold" panose="020B0704020202020204"/>
              <a:sym typeface="Plus Jakarta Sans ExtraBold" panose="020B0704020202020204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260700"/>
                </a:solidFill>
                <a:latin typeface="Plus Jakarta Sans ExtraBold" panose="020B0704020202020204"/>
                <a:ea typeface="Plus Jakarta Sans ExtraBold" panose="020B0704020202020204"/>
                <a:cs typeface="Plus Jakarta Sans ExtraBold" panose="020B0704020202020204"/>
                <a:sym typeface="Plus Jakarta Sans ExtraBold" panose="020B0704020202020204"/>
              </a:rPr>
              <a:t>gracias!</a:t>
            </a:r>
            <a:endParaRPr sz="6100">
              <a:solidFill>
                <a:srgbClr val="260700"/>
              </a:solidFill>
              <a:latin typeface="Plus Jakarta Sans ExtraBold" panose="020B0704020202020204"/>
              <a:ea typeface="Plus Jakarta Sans ExtraBold" panose="020B0704020202020204"/>
              <a:cs typeface="Plus Jakarta Sans ExtraBold" panose="020B0704020202020204"/>
              <a:sym typeface="Plus Jakarta Sans ExtraBold" panose="020B0704020202020204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 panose="020B0604020202020204"/>
              <a:ea typeface="Plus Jakarta Sans" panose="020B0604020202020204"/>
              <a:cs typeface="Plus Jakarta Sans" panose="020B0604020202020204"/>
              <a:sym typeface="Plus Jakarta Sans" panose="020B0604020202020204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02950" y="4698450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2229</Words>
  <Application>Microsoft Office PowerPoint</Application>
  <PresentationFormat>Presentación en pantalla (16:9)</PresentationFormat>
  <Paragraphs>242</Paragraphs>
  <Slides>54</Slides>
  <Notes>47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54</vt:i4>
      </vt:variant>
    </vt:vector>
  </HeadingPairs>
  <TitlesOfParts>
    <vt:vector size="65" baseType="lpstr">
      <vt:lpstr>Helvetica Neue Light</vt:lpstr>
      <vt:lpstr>Arial</vt:lpstr>
      <vt:lpstr>Helvetica Neue</vt:lpstr>
      <vt:lpstr>Roboto Mono</vt:lpstr>
      <vt:lpstr>Plus Jakarta Sans</vt:lpstr>
      <vt:lpstr>Courier New</vt:lpstr>
      <vt:lpstr>Plus Jakarta Sans ExtraBold</vt:lpstr>
      <vt:lpstr>DM Sans</vt:lpstr>
      <vt:lpstr>Coder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Turi</cp:lastModifiedBy>
  <cp:revision>23</cp:revision>
  <dcterms:created xsi:type="dcterms:W3CDTF">2026-05-11T12:11:16Z</dcterms:created>
  <dcterms:modified xsi:type="dcterms:W3CDTF">2026-07-07T16:48:07Z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4CE0886B0DB1495F8909DE22A7098BCF_12</vt:lpwstr>
  </property>
  <property fmtid="{D5CDD505-2E9C-101B-9397-08002B2CF9AE}" pid="3" name="KSOProductBuildVer">
    <vt:lpwstr>1033-12.2.0.20782</vt:lpwstr>
  </property>
</Properties>
</file>