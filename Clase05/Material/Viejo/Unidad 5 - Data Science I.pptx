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4" r:id="rId1"/>
    <p:sldMasterId id="2147483745" r:id="rId2"/>
    <p:sldMasterId id="2147483746" r:id="rId3"/>
    <p:sldMasterId id="2147483747" r:id="rId4"/>
  </p:sldMasterIdLst>
  <p:notesMasterIdLst>
    <p:notesMasterId r:id="rId5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x="9144000" cy="5143500" type="screen16x9"/>
  <p:notesSz cx="6858000" cy="9144000"/>
  <p:embeddedFontLst>
    <p:embeddedFont>
      <p:font typeface="Helvetica Neue" panose="020B0604020202020204" charset="0"/>
      <p:regular r:id="rId57"/>
      <p:bold r:id="rId58"/>
      <p:italic r:id="rId59"/>
      <p:boldItalic r:id="rId60"/>
    </p:embeddedFont>
    <p:embeddedFont>
      <p:font typeface="Roboto Mono" panose="020B0604020202020204" charset="0"/>
      <p:regular r:id="rId61"/>
      <p:bold r:id="rId62"/>
      <p:italic r:id="rId63"/>
      <p:boldItalic r:id="rId64"/>
    </p:embeddedFont>
    <p:embeddedFont>
      <p:font typeface="Helvetica Neue Light" panose="020B0604020202020204" charset="0"/>
      <p:regular r:id="rId65"/>
      <p:bold r:id="rId66"/>
      <p:italic r:id="rId67"/>
      <p:boldItalic r:id="rId68"/>
    </p:embeddedFont>
    <p:embeddedFont>
      <p:font typeface="DM Sans" panose="020B060402020202020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76BF46-A899-43C0-91A7-88D12765BD1A}">
  <a:tblStyle styleId="{F476BF46-A899-43C0-91A7-88D12765BD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06769faed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g2206769faed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0dc5126c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30dc5126c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30dc5126c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30dc5126c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30dc5126c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30dc5126c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Hacer observaciones y conclusiones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30dc5126c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30dc5126c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8160edfc9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8160edfc9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8160edfc9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8160edfc9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Archivo para trabajar la actividad: </a:t>
            </a:r>
            <a:r>
              <a:rPr lang="es-419">
                <a:solidFill>
                  <a:schemeClr val="dk1"/>
                </a:solidFill>
              </a:rPr>
              <a:t>https://drive.google.com/file/d/1kL1hbjeeiX3ctCbyE7sAwPvlT6Vu743p/view?usp=drive_link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Duración: 15 min de actividad + 5 min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Código:</a:t>
            </a:r>
            <a:r>
              <a:rPr lang="es-419">
                <a:solidFill>
                  <a:schemeClr val="dk1"/>
                </a:solidFill>
              </a:rPr>
              <a:t> import seaborn as sns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 Cargar el dataset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df = pd.read_csv("URL_DEL_DATASET.csv")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# Crear el FacetGrid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g = sns.FacetGrid(df, col="Región", hue="Producto", height=4, aspect=1)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g.map(sns.scatterplot, "Mes", "Ventas")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g.add_legend()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206f3f0841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206f3f0841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30dc5126c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30dc5126c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Profe: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Estas slides son de guía, debes mostrar el paso a paso haciéndolo en vivo, junto a los estudiantes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Mostrar en vivo el paso a paso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la hora del Break, entre 5 y 10 minutos. Considerar ubicar este espacio en un momento adecuado de la clase. Al volver, generar un breve intercambio sobre el ejemplo visto anteriormente.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8160edfc9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8160edfc9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8160edfc94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8160edfc94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Archivo para trabajar la actividad: </a:t>
            </a:r>
            <a:r>
              <a:rPr lang="es-419">
                <a:solidFill>
                  <a:schemeClr val="dk1"/>
                </a:solidFill>
              </a:rPr>
              <a:t>https://drive.google.com/file/d/1kL1hbjeeiX3ctCbyE7sAwPvlT6Vu743p/view?usp=drive_link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Duración: 20 min de actividad + 10 min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Instrucciones: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Dividir a los participantes en grupos pequeños.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Cada grupo debe discutir y diseñar un plan para visualizar los datos disponibles que responda a las preguntas clave.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Pide que identifiquen al menos tres tipos de gráficos que utilizarían y expliquen por qué los eligieron.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Los grupos presentarán sus planes al resto de la clase.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Discute colectivamente las fortalezas y debilidades de cada plan, brindando retroalimentación y posibles mejoras.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8160edfc9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8160edfc9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Archivo para trabajar la actividad: </a:t>
            </a:r>
            <a:r>
              <a:rPr lang="es-419">
                <a:solidFill>
                  <a:schemeClr val="dk1"/>
                </a:solidFill>
              </a:rPr>
              <a:t>https://drive.google.com/file/d/1kL1hbjeeiX3ctCbyE7sAwPvlT6Vu743p/view?usp=drive_link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Duración: 20 min de actividad + 10 min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</a:rPr>
              <a:t>Instrucciones: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Dividir a los participantes en grupos pequeños.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Cada grupo debe discutir y diseñar un plan para visualizar los datos disponibles que responda a las preguntas clave.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Pide que identifiquen al menos tres tipos de gráficos que utilizarían y expliquen por qué los eligieron.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Los grupos presentarán sus planes al resto de la clase.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AutoNum type="arabicPeriod"/>
            </a:pPr>
            <a:r>
              <a:rPr lang="es-419">
                <a:solidFill>
                  <a:schemeClr val="dk1"/>
                </a:solidFill>
              </a:rPr>
              <a:t>Discute colectivamente las fortalezas y debilidades de cada plan, brindando retroalimentación y posibles mejoras.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20566eaff2_4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4" name="Google Shape;594;g220566eaff2_4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20566eaff2_4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20566eaff2_4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20566eaff2_4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220566eaff2_4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20566eaff2_4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1" name="Google Shape;611;g220566eaff2_4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20566eaff2_4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g220566eaff2_4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-419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-419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20566eaff2_4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g220566eaff2_4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20566eaff2_4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g220566eaff2_4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20566eaff2_4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g220566eaff2_4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20566eaff2_4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g220566eaff2_4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-419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-419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20566eaff2_4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220566eaff2_4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texto e imagen.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20566eaff2_4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2" name="Google Shape;662;g220566eaff2_4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 al archivo mencionado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20566eaff2_4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220566eaff2_4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Obligatoria. Se sugiere ubicar al finalizar la explicación de algún tema, para abrir formalmente el espacio de preguntas y ordenar la interacción.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20566eaff2_4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6" name="Google Shape;676;g220566eaff2_4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1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80" name="Google Shape;80;p25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3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1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9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4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4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4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4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4">
  <p:cSld name="SECTION_HEADER_1_1_1_1_1_1_1_1_1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3">
  <p:cSld name="SECTION_HEADER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9" name="Google Shape;149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0" name="Google Shape;150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3" name="Google Shape;153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7" name="Google Shape;157;p5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8" name="Google Shape;15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4" name="Google Shape;164;p5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5" name="Google Shape;16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8" name="Google Shape;16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2" name="Google Shape;172;p6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3" name="Google Shape;173;p6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77" name="Google Shape;17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0" name="Google Shape;180;p6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1" name="Google Shape;191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2" name="Google Shape;192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3" name="Google Shape;203;p6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4" name="Google Shape;204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0" name="Google Shape;210;p7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1" name="Google Shape;211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4" name="Google Shape;214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7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9" name="Google Shape;219;p7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0" name="Google Shape;220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23" name="Google Shape;223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6" name="Google Shape;226;p7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7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78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8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8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8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8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8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5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8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8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8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8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8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9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9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9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9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9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00200" y="4740050"/>
            <a:ext cx="1057500" cy="2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9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9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9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 1">
  <p:cSld name="SECTION_HEADER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9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10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9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0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34" Type="http://schemas.openxmlformats.org/officeDocument/2006/relationships/slideLayout" Target="../slideLayouts/slideLayout95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93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36" Type="http://schemas.openxmlformats.org/officeDocument/2006/relationships/theme" Target="../theme/theme4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92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6.xml"/><Relationship Id="rId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4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1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1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101"/>
          <p:cNvSpPr txBox="1"/>
          <p:nvPr/>
        </p:nvSpPr>
        <p:spPr>
          <a:xfrm>
            <a:off x="3655975" y="2541075"/>
            <a:ext cx="240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1" name="Google Shape;291;p101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2"/>
          <p:cNvSpPr txBox="1"/>
          <p:nvPr/>
        </p:nvSpPr>
        <p:spPr>
          <a:xfrm>
            <a:off x="1461300" y="1879050"/>
            <a:ext cx="62214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Visualizaciones Avanzadas </a:t>
            </a:r>
            <a:endParaRPr sz="40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102"/>
          <p:cNvSpPr txBox="1"/>
          <p:nvPr/>
        </p:nvSpPr>
        <p:spPr>
          <a:xfrm>
            <a:off x="1461300" y="14173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05.</a:t>
            </a:r>
            <a:r>
              <a:rPr lang="es-419" sz="18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FUNDAMENTOS DE LA CIENCIA DE DATOS</a:t>
            </a:r>
            <a:endParaRPr sz="16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9" name="Google Shape;29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3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419" sz="3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sz="3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5" name="Google Shape;305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238" y="13929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3"/>
          <p:cNvSpPr txBox="1"/>
          <p:nvPr/>
        </p:nvSpPr>
        <p:spPr>
          <a:xfrm>
            <a:off x="1260775" y="1299225"/>
            <a:ext cx="73818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 relevancia de la visualización de datos.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Identificar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cómo lograr una comunicación efectiva.  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 análisis básico, las relaciones entre elementos y la distribución.</a:t>
            </a: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 en más de dos dimensiones.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librerías más utilizadas para visualización Python.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Aprender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 graficar datos en Python.</a:t>
            </a:r>
            <a:b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35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-419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uso básico de las librerías más utilizadas: Matplotlib y Seaborn.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7" name="Google Shape;307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1808101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2228588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8613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103"/>
          <p:cNvCxnSpPr>
            <a:stCxn id="305" idx="2"/>
            <a:endCxn id="307" idx="0"/>
          </p:cNvCxnSpPr>
          <p:nvPr/>
        </p:nvCxnSpPr>
        <p:spPr>
          <a:xfrm rot="-5400000" flipH="1">
            <a:off x="942975" y="1698638"/>
            <a:ext cx="218100" cy="600"/>
          </a:xfrm>
          <a:prstGeom prst="bentConnector3">
            <a:avLst>
              <a:gd name="adj1" fmla="val 50026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103"/>
          <p:cNvCxnSpPr>
            <a:stCxn id="307" idx="2"/>
            <a:endCxn id="308" idx="0"/>
          </p:cNvCxnSpPr>
          <p:nvPr/>
        </p:nvCxnSpPr>
        <p:spPr>
          <a:xfrm rot="-5400000" flipH="1">
            <a:off x="939975" y="2116525"/>
            <a:ext cx="223500" cy="6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103"/>
          <p:cNvCxnSpPr>
            <a:stCxn id="308" idx="2"/>
            <a:endCxn id="309" idx="0"/>
          </p:cNvCxnSpPr>
          <p:nvPr/>
        </p:nvCxnSpPr>
        <p:spPr>
          <a:xfrm rot="-5400000" flipH="1">
            <a:off x="333825" y="3143163"/>
            <a:ext cx="14358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13" name="Google Shape;31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2649076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030076"/>
            <a:ext cx="196975" cy="1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38" y="3445700"/>
            <a:ext cx="196975" cy="1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4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Seaborn: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Comandos básicos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5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Diferencias entre Seaborn y Matplotlib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" name="Google Shape;330;p106"/>
          <p:cNvGraphicFramePr/>
          <p:nvPr/>
        </p:nvGraphicFramePr>
        <p:xfrm>
          <a:off x="247988" y="708750"/>
          <a:ext cx="8648000" cy="2249590"/>
        </p:xfrm>
        <a:graphic>
          <a:graphicData uri="http://schemas.openxmlformats.org/drawingml/2006/table">
            <a:tbl>
              <a:tblPr>
                <a:noFill/>
                <a:tableStyleId>{F476BF46-A899-43C0-91A7-88D12765BD1A}</a:tableStyleId>
              </a:tblPr>
              <a:tblGrid>
                <a:gridCol w="20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Características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Matplotlib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Seaborn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F41">
                        <a:alpha val="9254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Funcionalidad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Gráficos básicos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Temas fascinantes. Compila datos a gráficos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 larga y compleja e.g matplotlib.pyplot.bar(x_axis, y_axis)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Sintaxis simple y fácil de entender e.g seaborn.barplot(x_axis,y_axis)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Múltiples figuras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 pueden tener figuras múltiples simultáneamente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Puede tener más problemas de memorias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1" name="Google Shape;331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9253" y="790950"/>
            <a:ext cx="330675" cy="3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0845" y="790950"/>
            <a:ext cx="330675" cy="330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106"/>
          <p:cNvGraphicFramePr/>
          <p:nvPr/>
        </p:nvGraphicFramePr>
        <p:xfrm>
          <a:off x="248000" y="2958350"/>
          <a:ext cx="8648000" cy="1577250"/>
        </p:xfrm>
        <a:graphic>
          <a:graphicData uri="http://schemas.openxmlformats.org/drawingml/2006/table">
            <a:tbl>
              <a:tblPr>
                <a:noFill/>
                <a:tableStyleId>{F476BF46-A899-43C0-91A7-88D12765BD1A}</a:tableStyleId>
              </a:tblPr>
              <a:tblGrid>
                <a:gridCol w="20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Flexibilidad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Altamente customizable y robusto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Evita superposición de temas 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DataFrames y Arrays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Funciona eficientemente y trata a figuras y ejes como objetos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Más funcional y organizado y trata datasets como unidad simple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b="1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Casos de uso</a:t>
                      </a:r>
                      <a:endParaRPr sz="1350" b="1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Gráficas diversas usando Numpy y Pandas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419" sz="135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Versión extendida de Matplotlib con el uso de Numpy y Pandas</a:t>
                      </a:r>
                      <a:endParaRPr sz="135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EFF4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7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Tipos de funciones en Seaborn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 &amp; Figure-level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108"/>
          <p:cNvSpPr txBox="1"/>
          <p:nvPr/>
        </p:nvSpPr>
        <p:spPr>
          <a:xfrm>
            <a:off x="473350" y="1908175"/>
            <a:ext cx="3834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Axes-level: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grafican datos en un objeto matplotlib.pyplot.Axes que retorna el valor de la función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Figure-level: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interactúa con matplotlib mediante un objeto Seaborn que usualmente es </a:t>
            </a:r>
            <a:r>
              <a:rPr lang="es-419" sz="1350" b="1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FacetGrid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08"/>
          <p:cNvSpPr txBox="1"/>
          <p:nvPr/>
        </p:nvSpPr>
        <p:spPr>
          <a:xfrm>
            <a:off x="4582200" y="1551225"/>
            <a:ext cx="3834600" cy="27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EFF41"/>
                </a:highlight>
                <a:latin typeface="DM Sans"/>
                <a:ea typeface="DM Sans"/>
                <a:cs typeface="DM Sans"/>
                <a:sym typeface="DM Sans"/>
              </a:rPr>
              <a:t>Algunas diferencias</a:t>
            </a:r>
            <a:endParaRPr sz="1350" b="0" i="0" u="none" strike="noStrike" cap="none">
              <a:solidFill>
                <a:schemeClr val="dk1"/>
              </a:solidFill>
              <a:highlight>
                <a:srgbClr val="EEFF4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Figure-level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la leyenda se coloca fuera del frame y pueden crear fácilmente figuras con múltiples subplots.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Axes-level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modifican más allá de los ejes en los que se dibujan y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aceptan el argumento ax que se integra con la interfaz orientada a objetos.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9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Tipos de 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gráficos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0"/>
          <p:cNvSpPr/>
          <p:nvPr/>
        </p:nvSpPr>
        <p:spPr>
          <a:xfrm>
            <a:off x="3237750" y="735175"/>
            <a:ext cx="2727000" cy="593100"/>
          </a:xfrm>
          <a:prstGeom prst="roundRect">
            <a:avLst>
              <a:gd name="adj" fmla="val 16667"/>
            </a:avLst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110"/>
          <p:cNvCxnSpPr/>
          <p:nvPr/>
        </p:nvCxnSpPr>
        <p:spPr>
          <a:xfrm>
            <a:off x="1044150" y="2064775"/>
            <a:ext cx="7114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7" name="Google Shape;357;p110"/>
          <p:cNvCxnSpPr/>
          <p:nvPr/>
        </p:nvCxnSpPr>
        <p:spPr>
          <a:xfrm>
            <a:off x="1045063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rgbClr val="393B43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358" name="Google Shape;358;p110"/>
          <p:cNvSpPr txBox="1"/>
          <p:nvPr/>
        </p:nvSpPr>
        <p:spPr>
          <a:xfrm>
            <a:off x="4035300" y="776575"/>
            <a:ext cx="1131900" cy="5103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Gráficos 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9" name="Google Shape;359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775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110"/>
          <p:cNvCxnSpPr/>
          <p:nvPr/>
        </p:nvCxnSpPr>
        <p:spPr>
          <a:xfrm>
            <a:off x="4572000" y="1420675"/>
            <a:ext cx="0" cy="510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361" name="Google Shape;361;p110"/>
          <p:cNvCxnSpPr/>
          <p:nvPr/>
        </p:nvCxnSpPr>
        <p:spPr>
          <a:xfrm>
            <a:off x="2823550" y="2074850"/>
            <a:ext cx="0" cy="490200"/>
          </a:xfrm>
          <a:prstGeom prst="straightConnector1">
            <a:avLst/>
          </a:prstGeom>
          <a:noFill/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2" name="Google Shape;362;p110"/>
          <p:cNvCxnSpPr/>
          <p:nvPr/>
        </p:nvCxnSpPr>
        <p:spPr>
          <a:xfrm>
            <a:off x="4572000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3" name="Google Shape;363;p110"/>
          <p:cNvCxnSpPr/>
          <p:nvPr/>
        </p:nvCxnSpPr>
        <p:spPr>
          <a:xfrm>
            <a:off x="6322025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364" name="Google Shape;364;p110"/>
          <p:cNvCxnSpPr/>
          <p:nvPr/>
        </p:nvCxnSpPr>
        <p:spPr>
          <a:xfrm>
            <a:off x="8161182" y="2054775"/>
            <a:ext cx="0" cy="50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365" name="Google Shape;365;p110"/>
          <p:cNvSpPr/>
          <p:nvPr/>
        </p:nvSpPr>
        <p:spPr>
          <a:xfrm>
            <a:off x="333325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D1C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Líneas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110"/>
          <p:cNvSpPr/>
          <p:nvPr/>
        </p:nvSpPr>
        <p:spPr>
          <a:xfrm>
            <a:off x="2083363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1D1C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Puntos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7" name="Google Shape;367;p110"/>
          <p:cNvSpPr/>
          <p:nvPr/>
        </p:nvSpPr>
        <p:spPr>
          <a:xfrm>
            <a:off x="3833400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Barras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8" name="Google Shape;368;p110"/>
          <p:cNvSpPr/>
          <p:nvPr/>
        </p:nvSpPr>
        <p:spPr>
          <a:xfrm>
            <a:off x="5583425" y="26321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Histograma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9" name="Google Shape;369;p110"/>
          <p:cNvSpPr/>
          <p:nvPr/>
        </p:nvSpPr>
        <p:spPr>
          <a:xfrm>
            <a:off x="7333450" y="2607675"/>
            <a:ext cx="1477200" cy="33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Boxplot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0" name="Google Shape;370;p1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4775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950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3328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83038" y="3196225"/>
            <a:ext cx="617375" cy="6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1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Uso de Subplots y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Facetgrid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2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Subgráficos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Subgráficos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113"/>
          <p:cNvSpPr txBox="1"/>
          <p:nvPr/>
        </p:nvSpPr>
        <p:spPr>
          <a:xfrm>
            <a:off x="473350" y="1908175"/>
            <a:ext cx="4144800" cy="21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Podemos definir una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grilla de gráficos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dentro de una misma figura.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plt.subplots, especificamos: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número de filas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la grilla = nrows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número de columnas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la grilla	= ncols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ax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convierte en un array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lo tanto,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debemos usar corchetes ⚠️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114"/>
          <p:cNvSpPr txBox="1"/>
          <p:nvPr/>
        </p:nvSpPr>
        <p:spPr>
          <a:xfrm>
            <a:off x="473350" y="1704050"/>
            <a:ext cx="41448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Comparemos las precipitaciones de Enero, Febrero y Marzo a lo largo de los años. ¿Cuál será el más seco? 🤔</a:t>
            </a: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Definimos un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ax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tres filas y una sola columna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eje x = los años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el eje y = las precipitaciones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14"/>
          <p:cNvSpPr txBox="1"/>
          <p:nvPr/>
        </p:nvSpPr>
        <p:spPr>
          <a:xfrm>
            <a:off x="624750" y="4111938"/>
            <a:ext cx="78945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fig, ax = plt.subplots(nrows=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ncols=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figsize=(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), sharex=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sharey=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97" name="Google Shape;397;p114"/>
          <p:cNvSpPr txBox="1"/>
          <p:nvPr/>
        </p:nvSpPr>
        <p:spPr>
          <a:xfrm>
            <a:off x="5047750" y="1663225"/>
            <a:ext cx="35667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los años son los mismos para todos los gráficos, ponemos el parámetro sharex en True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115"/>
          <p:cNvSpPr txBox="1"/>
          <p:nvPr/>
        </p:nvSpPr>
        <p:spPr>
          <a:xfrm>
            <a:off x="476250" y="1431175"/>
            <a:ext cx="41448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Segundo, 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cada fila, le asignamos las precipitaciones de un mes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115"/>
          <p:cNvSpPr txBox="1"/>
          <p:nvPr/>
        </p:nvSpPr>
        <p:spPr>
          <a:xfrm>
            <a:off x="1061100" y="2873425"/>
            <a:ext cx="7021800" cy="143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'Jan'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enero'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'Feb'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febrero'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'C1'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].plot(df_lluvias.index, df_lluvias[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'Mar'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], 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marzo'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color=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'C2'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0" name="Google Shape;410;p116"/>
          <p:cNvSpPr txBox="1"/>
          <p:nvPr/>
        </p:nvSpPr>
        <p:spPr>
          <a:xfrm>
            <a:off x="476250" y="1431175"/>
            <a:ext cx="41448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Tercero, 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Añadimos textos y leyendas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p116"/>
          <p:cNvSpPr txBox="1"/>
          <p:nvPr/>
        </p:nvSpPr>
        <p:spPr>
          <a:xfrm>
            <a:off x="1229550" y="2679000"/>
            <a:ext cx="6684900" cy="164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].set_title(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'Precipitaciones de los primeros tres meses del año'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].set_xlabel(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'Año'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].set_ylabel(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'Precipitación (mm.)'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  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ax[</a:t>
            </a:r>
            <a:r>
              <a:rPr lang="es-419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].legend()  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7" name="Google Shape;417;p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199" y="1450799"/>
            <a:ext cx="5763606" cy="324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8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FacetGrid Seaborn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119"/>
          <p:cNvSpPr txBox="1"/>
          <p:nvPr/>
        </p:nvSpPr>
        <p:spPr>
          <a:xfrm>
            <a:off x="597875" y="1504725"/>
            <a:ext cx="4385700" cy="10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FacetGrid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 = sns.load_dataset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"tips"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 = sns.FacetGrid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col=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"time"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row=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"sex"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</a:t>
            </a:r>
            <a:r>
              <a:rPr lang="es-419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sns.scatterplot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"total_bill"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29" name="Google Shape;429;p119"/>
          <p:cNvSpPr txBox="1"/>
          <p:nvPr/>
        </p:nvSpPr>
        <p:spPr>
          <a:xfrm>
            <a:off x="597875" y="3181925"/>
            <a:ext cx="4385700" cy="1223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FacetGrid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 = sns.FacetGrid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tips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col=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"time"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hue=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"sex"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g.map_dataframe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sns.scatterplot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"total_bill"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y=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"tip"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g.add_legend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0" name="Google Shape;430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7225" y="1061748"/>
            <a:ext cx="2224925" cy="19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6675" y="3092177"/>
            <a:ext cx="3157775" cy="140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12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437" name="Google Shape;437;p1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8" name="Google Shape;438;p120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9" name="Google Shape;439;p120"/>
          <p:cNvSpPr txBox="1"/>
          <p:nvPr/>
        </p:nvSpPr>
        <p:spPr>
          <a:xfrm>
            <a:off x="1547025" y="207765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Actividad:</a:t>
            </a:r>
            <a:b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Explotando tendencias y relaciones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0" name="Google Shape;440;p120"/>
          <p:cNvSpPr txBox="1"/>
          <p:nvPr/>
        </p:nvSpPr>
        <p:spPr>
          <a:xfrm>
            <a:off x="987300" y="40777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-419" sz="1800" b="1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20 minutos</a:t>
            </a:r>
            <a:r>
              <a:rPr lang="es-419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41" name="Google Shape;441;p1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442" name="Google Shape;442;p1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43" name="Google Shape;443;p1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121"/>
          <p:cNvGrpSpPr/>
          <p:nvPr/>
        </p:nvGrpSpPr>
        <p:grpSpPr>
          <a:xfrm>
            <a:off x="475504" y="468235"/>
            <a:ext cx="431074" cy="431148"/>
            <a:chOff x="974706" y="2467173"/>
            <a:chExt cx="738900" cy="738900"/>
          </a:xfrm>
        </p:grpSpPr>
        <p:sp>
          <p:nvSpPr>
            <p:cNvPr id="449" name="Google Shape;449;p1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50" name="Google Shape;450;p121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1" name="Google Shape;451;p121"/>
          <p:cNvSpPr txBox="1"/>
          <p:nvPr/>
        </p:nvSpPr>
        <p:spPr>
          <a:xfrm>
            <a:off x="475500" y="2040750"/>
            <a:ext cx="4278900" cy="20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Consigna: 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 gráfico de dispersión utilizando </a:t>
            </a:r>
            <a:r>
              <a:rPr lang="es-419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FacetGrid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Seaborn, donde se visualicen las ventas separadas por región y tipo de producto.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s-419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los recursos complementarios encuentran el archivo “ventas_dataset_actdeclase.csv”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121"/>
          <p:cNvSpPr txBox="1"/>
          <p:nvPr/>
        </p:nvSpPr>
        <p:spPr>
          <a:xfrm>
            <a:off x="501450" y="1081750"/>
            <a:ext cx="84606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Explotando tendencias y relaciones</a:t>
            </a:r>
            <a:endParaRPr sz="3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3" name="Google Shape;453;p121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54" name="Google Shape;454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21"/>
          <p:cNvSpPr txBox="1"/>
          <p:nvPr/>
        </p:nvSpPr>
        <p:spPr>
          <a:xfrm>
            <a:off x="4990050" y="1819075"/>
            <a:ext cx="3823800" cy="3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Código base</a:t>
            </a:r>
            <a:r>
              <a:rPr lang="es-419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 seaborn as sns</a:t>
            </a:r>
            <a:b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import pandas as pd</a:t>
            </a:r>
            <a:b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# Cargar el dataset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df = pd.read_csv("URL_DEL_DATASET.csv")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# Crear el FacetGrid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 = sns.FacetGrid(df, col="Región", hue="Producto", height=4, aspect=1)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g.map(sns.scatterplot, "Mes", "Ventas")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g.add_legend()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plt.show()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2"/>
          <p:cNvSpPr/>
          <p:nvPr/>
        </p:nvSpPr>
        <p:spPr>
          <a:xfrm>
            <a:off x="4202556" y="1679973"/>
            <a:ext cx="738900" cy="73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22"/>
          <p:cNvSpPr txBox="1"/>
          <p:nvPr/>
        </p:nvSpPr>
        <p:spPr>
          <a:xfrm>
            <a:off x="1461300" y="26110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62" name="Google Shape;462;p1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463" name="Google Shape;463;p1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64" name="Google Shape;464;p1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465" name="Google Shape;465;p122" title="ícono de actividad colaborativ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638" y="1823097"/>
            <a:ext cx="452650" cy="4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3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Customizaciones 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sobre gráficos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4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Personalizando Seaborn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125"/>
          <p:cNvSpPr txBox="1"/>
          <p:nvPr/>
        </p:nvSpPr>
        <p:spPr>
          <a:xfrm>
            <a:off x="1229550" y="1543138"/>
            <a:ext cx="6684900" cy="291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style=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"darkgrid"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".6"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"grid.linestyle"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":"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"axes.titleweight"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"normal"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"axes.titlelocation"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"left"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"axes.titlecolor"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"axes.labelsize"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"12"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"axes.labelweight"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"normal"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"axes.linewidth"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"0.5"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"grid.color"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"purple"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"grid.linestyle"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"--"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"grid.linewidth"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"0.5"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"font.fantasy"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"Comic Sans MS"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9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sns.set_style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rc=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"font.serif"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9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9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"Utopia"</a:t>
            </a:r>
            <a:r>
              <a:rPr lang="es-419" sz="9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126"/>
          <p:cNvSpPr txBox="1"/>
          <p:nvPr/>
        </p:nvSpPr>
        <p:spPr>
          <a:xfrm>
            <a:off x="1229550" y="1616500"/>
            <a:ext cx="6684900" cy="78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penguins = sns.load_dataset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"penguins"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 Axis-level</a:t>
            </a:r>
            <a:endParaRPr sz="105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sns.histplot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data=penguins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x=</a:t>
            </a:r>
            <a:r>
              <a:rPr lang="es-419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"flipper_length_mm"</a:t>
            </a:r>
            <a:r>
              <a:rPr lang="es-419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88" name="Google Shape;488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275" y="2488125"/>
            <a:ext cx="2729432" cy="21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2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127"/>
          <p:cNvSpPr txBox="1"/>
          <p:nvPr/>
        </p:nvSpPr>
        <p:spPr>
          <a:xfrm>
            <a:off x="473350" y="1626100"/>
            <a:ext cx="71694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1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Surfeando en Seaborn.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El profesor hará una demostración compartiendo pantalla de un ejemplo aplicado de Seaborn.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Tiempo estimado: 1</a:t>
            </a:r>
            <a:r>
              <a:rPr lang="es-419" sz="25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sz="25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95" name="Google Shape;495;p12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496" name="Google Shape;496;p12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7" name="Google Shape;497;p12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3" name="Google Shape;503;p128"/>
          <p:cNvSpPr txBox="1"/>
          <p:nvPr/>
        </p:nvSpPr>
        <p:spPr>
          <a:xfrm>
            <a:off x="473350" y="1908175"/>
            <a:ext cx="3834600" cy="13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valores son mediciones del pulso de 30 personas tras realizar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algún tipo de actividad por un determinado tiempo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Las columnas son: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4" name="Google Shape;504;p128"/>
          <p:cNvSpPr txBox="1"/>
          <p:nvPr/>
        </p:nvSpPr>
        <p:spPr>
          <a:xfrm>
            <a:off x="4017800" y="1528125"/>
            <a:ext cx="4306500" cy="23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número identificador de la persona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Diet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dieta de la persona = baja en grasas o sin grasas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Time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duración del ejercicio = 1 min, 15 min o 30 min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Kind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tipo de ejercicio	= reposo, caminar o correr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0" name="Google Shape;510;p129"/>
          <p:cNvSpPr txBox="1"/>
          <p:nvPr/>
        </p:nvSpPr>
        <p:spPr>
          <a:xfrm>
            <a:off x="473350" y="1908175"/>
            <a:ext cx="38346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Observemos la distribución de las mediciones luego de 30 minutos de realizar el ejercicio.</a:t>
            </a:r>
            <a:endParaRPr sz="1350" b="0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Primero,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Extraigamos sólo aquellas observaciones que se corresponden con un ejercicio de 30 minutos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1" name="Google Shape;511;p129"/>
          <p:cNvSpPr txBox="1"/>
          <p:nvPr/>
        </p:nvSpPr>
        <p:spPr>
          <a:xfrm>
            <a:off x="534425" y="3868050"/>
            <a:ext cx="4657500" cy="79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df_30_min = df_ejercicio[df_ejercicio[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'time'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 == 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'30 min'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df_30_min.head()c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12" name="Google Shape;512;p1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5150" y="2055193"/>
            <a:ext cx="2859300" cy="1937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3" name="Google Shape;513;p129"/>
          <p:cNvCxnSpPr>
            <a:stCxn id="511" idx="3"/>
            <a:endCxn id="512" idx="1"/>
          </p:cNvCxnSpPr>
          <p:nvPr/>
        </p:nvCxnSpPr>
        <p:spPr>
          <a:xfrm rot="10800000" flipH="1">
            <a:off x="5191925" y="3024300"/>
            <a:ext cx="563100" cy="12408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9" name="Google Shape;519;p130"/>
          <p:cNvSpPr txBox="1"/>
          <p:nvPr/>
        </p:nvSpPr>
        <p:spPr>
          <a:xfrm>
            <a:off x="473350" y="1703625"/>
            <a:ext cx="38346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Segundo,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Graficamos las distribuciones con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sns.displot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0" name="Google Shape;520;p130"/>
          <p:cNvSpPr txBox="1"/>
          <p:nvPr/>
        </p:nvSpPr>
        <p:spPr>
          <a:xfrm>
            <a:off x="784150" y="3492700"/>
            <a:ext cx="7519500" cy="100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plt.figure()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 = sns.displot(data=df_30_min, x=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'pulse'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kind=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'kde'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hue=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'kind'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fill=</a:t>
            </a:r>
            <a:r>
              <a:rPr lang="es-419" sz="1200" b="0" i="0" u="none" strike="noStrike" cap="none">
                <a:solidFill>
                  <a:srgbClr val="FCC28C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ax.set(xlabel=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'Frecuencia Cardíaca'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ylabel=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'Densidad'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title=</a:t>
            </a:r>
            <a:r>
              <a:rPr lang="es-419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'Distribución  de las pulsaciones'</a:t>
            </a:r>
            <a:r>
              <a:rPr lang="es-419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1" name="Google Shape;521;p130"/>
          <p:cNvSpPr txBox="1"/>
          <p:nvPr/>
        </p:nvSpPr>
        <p:spPr>
          <a:xfrm>
            <a:off x="4497150" y="1703625"/>
            <a:ext cx="3834600" cy="1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Debemos especificar la columna de valores en el parámetro x, en este caso nos interesa la columna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pulse</a:t>
            </a:r>
            <a:endParaRPr sz="1350" b="0" i="1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queremos separar las distribuciones según el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tipo de actividad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pasamos el parámetro hue='kind'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131"/>
          <p:cNvSpPr txBox="1"/>
          <p:nvPr/>
        </p:nvSpPr>
        <p:spPr>
          <a:xfrm>
            <a:off x="476250" y="1934525"/>
            <a:ext cx="3834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era de esperar, aquellas personas que corrieron terminaron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(en promedio)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una mayor frecuencia cardíaca respecto de las que no lo hicieron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8" name="Google Shape;528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0675" y="1618775"/>
            <a:ext cx="3548899" cy="2972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Algunas observaciones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4" name="Google Shape;534;p132"/>
          <p:cNvSpPr txBox="1"/>
          <p:nvPr/>
        </p:nvSpPr>
        <p:spPr>
          <a:xfrm>
            <a:off x="476250" y="1934525"/>
            <a:ext cx="42183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kind='kde'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Seaborn realiza una estimación de la distribución a partir de los datos del Data Frame. A grandes rasgos, se puede pensar a este tipo de gráficos como una </a:t>
            </a:r>
            <a:r>
              <a:rPr lang="es-419" sz="1350" b="0" i="1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versión suavizada del histograma de frecuencias relativas.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kind='hist',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Seaborn graficará un histograma.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parámetro </a:t>
            </a:r>
            <a:r>
              <a:rPr lang="es-419" sz="1350" b="0" i="0" u="none" strike="noStrike" cap="none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fill </a:t>
            </a: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añade el sombreado debajo de la distribución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3"/>
          <p:cNvSpPr txBox="1"/>
          <p:nvPr/>
        </p:nvSpPr>
        <p:spPr>
          <a:xfrm>
            <a:off x="457725" y="1071050"/>
            <a:ext cx="473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Comparando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133"/>
          <p:cNvSpPr txBox="1"/>
          <p:nvPr/>
        </p:nvSpPr>
        <p:spPr>
          <a:xfrm>
            <a:off x="457725" y="2211625"/>
            <a:ext cx="36525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comparar las distribuciones en base a las dietas, sólo hay que cambiar el parámetro </a:t>
            </a:r>
            <a:r>
              <a:rPr lang="es-419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hue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133"/>
          <p:cNvSpPr txBox="1"/>
          <p:nvPr/>
        </p:nvSpPr>
        <p:spPr>
          <a:xfrm>
            <a:off x="6427740" y="2264828"/>
            <a:ext cx="149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REEMPLAZAR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POR IMAGEN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42" name="Google Shape;542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7298" y="951850"/>
            <a:ext cx="3958375" cy="33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4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8" name="Google Shape;548;p134"/>
          <p:cNvSpPr txBox="1"/>
          <p:nvPr/>
        </p:nvSpPr>
        <p:spPr>
          <a:xfrm>
            <a:off x="473350" y="1626100"/>
            <a:ext cx="71694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1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Surfeando en Seaborn.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El profesor hará una demostración, compartiendo pantalla, de un ejemplo de Categorical plots en Seaborn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Tiempo estimado: 1</a:t>
            </a:r>
            <a:r>
              <a:rPr lang="es-419" sz="25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lang="es-419" sz="25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sz="25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49" name="Google Shape;549;p134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550" name="Google Shape;550;p13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1" name="Google Shape;551;p134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5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419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7" name="Google Shape;557;p135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419" sz="2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136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563" name="Google Shape;563;p13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64" name="Google Shape;564;p136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136"/>
          <p:cNvSpPr txBox="1"/>
          <p:nvPr/>
        </p:nvSpPr>
        <p:spPr>
          <a:xfrm>
            <a:off x="1547025" y="20776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Colaborativa:</a:t>
            </a:r>
            <a:b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Análisis de un caso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6" name="Google Shape;566;p136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-419" sz="1800" b="1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30 minutos</a:t>
            </a:r>
            <a:r>
              <a:rPr lang="es-419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67" name="Google Shape;567;p13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568" name="Google Shape;568;p13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569" name="Google Shape;569;p13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137"/>
          <p:cNvGrpSpPr/>
          <p:nvPr/>
        </p:nvGrpSpPr>
        <p:grpSpPr>
          <a:xfrm>
            <a:off x="475504" y="468235"/>
            <a:ext cx="431074" cy="431148"/>
            <a:chOff x="974706" y="2467173"/>
            <a:chExt cx="738900" cy="738900"/>
          </a:xfrm>
        </p:grpSpPr>
        <p:sp>
          <p:nvSpPr>
            <p:cNvPr id="575" name="Google Shape;575;p13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76" name="Google Shape;576;p137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7" name="Google Shape;577;p137"/>
          <p:cNvSpPr txBox="1"/>
          <p:nvPr/>
        </p:nvSpPr>
        <p:spPr>
          <a:xfrm>
            <a:off x="501450" y="2536425"/>
            <a:ext cx="7395000" cy="23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Contexto: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Eres parte del equipo de análisis de datos de una compañía que se especializa en la venta de tres productos principales: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Producto A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Producto B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Producto C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La compañía opera en cuatro regiones diferentes: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Norte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Sur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Oeste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equipo directivo está interesado en comprender mejor cómo se relacionan las ventas, la satisfacción del cliente y los costos operativos en estas cuatro regiones. Con estos insights, buscan tomar decisiones informadas sobre dónde invertir más recursos, cuáles productos necesitan mayor atención y cómo mejorar la satisfacción del cliente.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8" name="Google Shape;578;p137"/>
          <p:cNvSpPr txBox="1"/>
          <p:nvPr/>
        </p:nvSpPr>
        <p:spPr>
          <a:xfrm>
            <a:off x="501450" y="1081750"/>
            <a:ext cx="81249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Análisis integral de ventas, satisfacción del cliente y costos operativos en diferentes regiones</a:t>
            </a:r>
            <a:endParaRPr sz="3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9" name="Google Shape;579;p137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COLABORATIVA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0" name="Google Shape;580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138"/>
          <p:cNvGrpSpPr/>
          <p:nvPr/>
        </p:nvGrpSpPr>
        <p:grpSpPr>
          <a:xfrm>
            <a:off x="475504" y="468235"/>
            <a:ext cx="431074" cy="431148"/>
            <a:chOff x="974706" y="2467173"/>
            <a:chExt cx="738900" cy="738900"/>
          </a:xfrm>
        </p:grpSpPr>
        <p:sp>
          <p:nvSpPr>
            <p:cNvPr id="586" name="Google Shape;586;p13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7" name="Google Shape;587;p138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8" name="Google Shape;588;p138"/>
          <p:cNvSpPr txBox="1"/>
          <p:nvPr/>
        </p:nvSpPr>
        <p:spPr>
          <a:xfrm>
            <a:off x="501450" y="2460225"/>
            <a:ext cx="7310100" cy="24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Consigna:</a:t>
            </a:r>
            <a:r>
              <a:rPr lang="es-419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Diseñar un plan de visualización que permita al equipo directivo analizar y comprender mejor los datos, enfocándose en las siguientes preguntas clave: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Ventas y Regiones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¿Cómo se comparan las ventas de los diferentes productos en las cuatro regiones a lo largo del tiempo? ¿Hay alguna región que se destaque por un rendimiento superior o inferior?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Satisfacción del Cliente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¿Existe alguna relación entre las ventas de un producto y la satisfacción del cliente? ¿Cómo varía esta relación entre las diferentes regiones?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AutoNum type="arabicPeriod"/>
            </a:pPr>
            <a:r>
              <a:rPr lang="es-419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Costos Operativos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¿Qué regiones tienen los costos operativos más altos? ¿Cómo se comparan estos costos con las ventas y la satisfacción del cliente?</a:t>
            </a: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138"/>
          <p:cNvSpPr txBox="1"/>
          <p:nvPr/>
        </p:nvSpPr>
        <p:spPr>
          <a:xfrm>
            <a:off x="501450" y="1081750"/>
            <a:ext cx="81249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Análisis integral de ventas, satisfacción del cliente y costos operativos en diferentes regiones</a:t>
            </a:r>
            <a:endParaRPr sz="3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13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COLABORATIVA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1" name="Google Shape;591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39"/>
          <p:cNvSpPr txBox="1"/>
          <p:nvPr/>
        </p:nvSpPr>
        <p:spPr>
          <a:xfrm>
            <a:off x="1461288" y="172792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Introducción a tipos de </a:t>
            </a: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gráficos estadísticos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4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Elementos de un gráfico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Características de un gráfico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7" name="Google Shape;607;p141"/>
          <p:cNvSpPr txBox="1"/>
          <p:nvPr/>
        </p:nvSpPr>
        <p:spPr>
          <a:xfrm>
            <a:off x="473350" y="1908175"/>
            <a:ext cx="3834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título entendible, claro y conciso para lograr comunicar efectivamente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Etiquetas en ejes (x,y,z) entendibles y acordes con unidades de medición si fuera el caso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nota que indique: a) fuente de datos y b) descripción adicional de ser necesaria suele ayudar a un mejor entendimiento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141"/>
          <p:cNvSpPr txBox="1"/>
          <p:nvPr/>
        </p:nvSpPr>
        <p:spPr>
          <a:xfrm>
            <a:off x="4527575" y="1908175"/>
            <a:ext cx="38346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Debe transmitir un mensaje claro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Debe resaltar puntos importantes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Buen formato de estilo (balance de colores, no recargada)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42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univariados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143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619" name="Google Shape;619;p143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0" name="Google Shape;620;p143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1" name="Google Shape;621;p143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143"/>
          <p:cNvSpPr txBox="1"/>
          <p:nvPr/>
        </p:nvSpPr>
        <p:spPr>
          <a:xfrm>
            <a:off x="473350" y="1504150"/>
            <a:ext cx="7169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¿En cuál de los siguientes casos podrías usar un gráfico de barras?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3" name="Google Shape;623;p143"/>
          <p:cNvSpPr txBox="1"/>
          <p:nvPr/>
        </p:nvSpPr>
        <p:spPr>
          <a:xfrm>
            <a:off x="473350" y="3709800"/>
            <a:ext cx="716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Contesta mediante la encuesta de Zoom </a:t>
            </a:r>
            <a:endParaRPr sz="20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4" name="Google Shape;624;p143"/>
          <p:cNvSpPr txBox="1"/>
          <p:nvPr/>
        </p:nvSpPr>
        <p:spPr>
          <a:xfrm>
            <a:off x="495900" y="2555550"/>
            <a:ext cx="8152200" cy="15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5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Medición de salario mínimo/máximo en 5 países de Latinoamérica.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5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Medición de salario mínimo en 5 países de Latinoamérica, con una comparación trimestral.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400"/>
              <a:buFont typeface="DM Sans"/>
              <a:buChar char="✔"/>
            </a:pPr>
            <a:r>
              <a:rPr lang="es-419" sz="1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Evolución del salario mínimo en 5 países de Latinoamérica en el último semestre.</a:t>
            </a:r>
            <a:r>
              <a:rPr lang="es-419" sz="26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5" name="Google Shape;625;p143"/>
          <p:cNvPicPr preferRelativeResize="0"/>
          <p:nvPr/>
        </p:nvPicPr>
        <p:blipFill rotWithShape="1">
          <a:blip r:embed="rId4">
            <a:alphaModFix/>
          </a:blip>
          <a:srcRect l="-28965" t="-28965"/>
          <a:stretch/>
        </p:blipFill>
        <p:spPr>
          <a:xfrm>
            <a:off x="5483513" y="4089750"/>
            <a:ext cx="657225" cy="485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  <a:reflection endPos="30000" dist="38100" dir="5400000" fadeDir="5400012" sy="-100000" algn="bl" rotWithShape="0"/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4"/>
          <p:cNvSpPr txBox="1"/>
          <p:nvPr/>
        </p:nvSpPr>
        <p:spPr>
          <a:xfrm>
            <a:off x="1404863" y="194137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la forma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de los datos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45"/>
          <p:cNvSpPr txBox="1"/>
          <p:nvPr/>
        </p:nvSpPr>
        <p:spPr>
          <a:xfrm>
            <a:off x="473350" y="619525"/>
            <a:ext cx="814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buscamos cuando analizamos la forma de los datos?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6" name="Google Shape;636;p145"/>
          <p:cNvSpPr txBox="1"/>
          <p:nvPr/>
        </p:nvSpPr>
        <p:spPr>
          <a:xfrm>
            <a:off x="475500" y="2503600"/>
            <a:ext cx="3834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distribución, ¿es simétrica o asimétrica?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¿En qué parte de la distribución se ubica la mayor concentración de datos?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datos, ¿están más bien dispersos o concentrados en torno a algún valor?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¿Puede ser que existan datos demasiado alejados del resto?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7" name="Google Shape;637;p145"/>
          <p:cNvSpPr txBox="1"/>
          <p:nvPr/>
        </p:nvSpPr>
        <p:spPr>
          <a:xfrm>
            <a:off x="4522550" y="2503600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histograma da una idea acerca de la 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simetría </a:t>
            </a: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la distribución. También da una noción acerca de la 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concentración </a:t>
            </a: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los datos.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46"/>
          <p:cNvSpPr txBox="1"/>
          <p:nvPr/>
        </p:nvSpPr>
        <p:spPr>
          <a:xfrm>
            <a:off x="1404863" y="1941375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 para ver más </a:t>
            </a: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de dos dimensiones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" name="Google Shape;647;p147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648" name="Google Shape;648;p147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9" name="Google Shape;649;p147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0" name="Google Shape;650;p14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1" name="Google Shape;651;p147"/>
          <p:cNvSpPr txBox="1"/>
          <p:nvPr/>
        </p:nvSpPr>
        <p:spPr>
          <a:xfrm>
            <a:off x="473350" y="162610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Puede emplearse un gráfico de dispersión que contemple las variables: edad - ingreso - país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2" name="Google Shape;652;p147"/>
          <p:cNvSpPr txBox="1"/>
          <p:nvPr/>
        </p:nvSpPr>
        <p:spPr>
          <a:xfrm>
            <a:off x="473350" y="3279175"/>
            <a:ext cx="7169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¿Verdadero o falso?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000" b="0" i="0" u="none" strike="noStrike" cap="none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48"/>
          <p:cNvSpPr txBox="1"/>
          <p:nvPr/>
        </p:nvSpPr>
        <p:spPr>
          <a:xfrm>
            <a:off x="457725" y="1071050"/>
            <a:ext cx="5255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pasa si tenemos datos en más dimensiones?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8" name="Google Shape;658;p148"/>
          <p:cNvSpPr txBox="1"/>
          <p:nvPr/>
        </p:nvSpPr>
        <p:spPr>
          <a:xfrm>
            <a:off x="457725" y="2943350"/>
            <a:ext cx="473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-419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Aquí tenemos que apelar al ingenio y a las características que permiten que n</a:t>
            </a:r>
            <a:r>
              <a:rPr lang="es-419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uestro cerebro “piense” en más dimensiones.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59" name="Google Shape;659;p1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2550" y="952325"/>
            <a:ext cx="2736700" cy="27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4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419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5" name="Google Shape;665;p149"/>
          <p:cNvSpPr txBox="1"/>
          <p:nvPr/>
        </p:nvSpPr>
        <p:spPr>
          <a:xfrm>
            <a:off x="476250" y="1046550"/>
            <a:ext cx="7169400" cy="4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Se han preguntado ¿cómo hacer gráficos en más de 3 dimensiones entendibles?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Utilizaremos en notebook </a:t>
            </a:r>
            <a:r>
              <a:rPr lang="es-419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Clase_5_act.ipynb </a:t>
            </a:r>
            <a:r>
              <a:rPr lang="es-419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para entender cómo se pueden generar gráficos en 1, 2, 3 o más dimensiones.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-419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66" name="Google Shape;666;p149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667" name="Google Shape;667;p14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8" name="Google Shape;668;p149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5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51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lang="es-419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-419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9" name="Google Shape;679;p151"/>
          <p:cNvSpPr txBox="1"/>
          <p:nvPr/>
        </p:nvSpPr>
        <p:spPr>
          <a:xfrm>
            <a:off x="2109143" y="2502363"/>
            <a:ext cx="4925700" cy="20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Visualización de datos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Bar chart. Histogramas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Series de tiempo. Dispersión. Correlación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Boxplot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-419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Gráficos de más de dos variables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3207</Words>
  <Application>Microsoft Office PowerPoint</Application>
  <PresentationFormat>Presentación en pantalla (16:9)</PresentationFormat>
  <Paragraphs>319</Paragraphs>
  <Slides>51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51</vt:i4>
      </vt:variant>
    </vt:vector>
  </HeadingPairs>
  <TitlesOfParts>
    <vt:vector size="61" baseType="lpstr">
      <vt:lpstr>Helvetica Neue</vt:lpstr>
      <vt:lpstr>Arial</vt:lpstr>
      <vt:lpstr>Roboto Mono</vt:lpstr>
      <vt:lpstr>Courier New</vt:lpstr>
      <vt:lpstr>Helvetica Neue Light</vt:lpstr>
      <vt:lpstr>DM Sans</vt:lpstr>
      <vt:lpstr>Simple Light</vt:lpstr>
      <vt:lpstr>Coder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</cp:revision>
  <dcterms:modified xsi:type="dcterms:W3CDTF">2026-05-16T13:52:05Z</dcterms:modified>
</cp:coreProperties>
</file>